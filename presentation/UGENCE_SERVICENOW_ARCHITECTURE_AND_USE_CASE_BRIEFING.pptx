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single question the deck answers: when an AI agent takes a consequential action, how can the enterprise PROVE that this exact action was authorized, stayed safe at execution time, and produced only the intended effect. Emphasize the framing is complementary to ServiceNow, not competitive. State plainly up front: every integration shown is PROPOSED (no connector ships), and every scenario is illustrative, not a Ugence customer deployment. This is a technical-fit conversation aiming at one bounded pilot, not a partnership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every major scenario is explained twice — a plain-language pass, then a technical architecture pass. Tell the audience they can stay at Level 1 and still follow the whole story. Architects get the data-journey detail in Level 2. Emphasize we describe guarantees, not internal mechanics — no code, schemas, algorithms, or cryptographic detail are disclosed. Read the “How to use this briefing” box aloud so the representative knows they are not expected to review every slide during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navigation slide. Set the meeting path: executive framing (I), the UC-5 lead walkthrough (IV), the pilot proposal (IX), and discovery / next step (X) are the spine; II, III and V–VIII are supporting reference the representative can read after the meeting. Note that every content slide is numbered so anyone can say “let us go to slide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 — Executive framing. Transition slide: orient the audience to this section in a sentence (The problem, the discovery questions, what ServiceNow provides, and the partnership boundary), then continue. Keep the honest posture: ServiceNow strengths acknowledged, all integrations PROPOSED, scenarios illustrative.Section I establishes the problem and the honest partnership posture before any Ugence module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question verbatim — it frames the entire deck. Walk the three risks in plain language before any module name appears. Use the checkout example (return to it in UC-5 and again in Governed Value) so the audience carries one concrete thread through the deck. Do not mention Ugence packages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every one of these as a constructive discovery question. Say explicitly: "these are questions we would work through with your architects, not claims about gaps." This slide sets up the honest posture that recurs throughout — unverified differentiation is always a hypothesis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here. Acknowledging ServiceNow’s strength accurately is what earns credibility for the narrow proposal that follows. Read the capabilities as facts. Explicitly avoid the banned phrases (lacks / cannot / above / replacement / only inventories) and do not claim Ugence uniquely enforces across runtimes — OpenShell already enforces at the kernel level. Position everything as complementary.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for the representative. Say it out loud: ServiceNow remains the system of record, system of action and platform enforcement; Ugence contributes an independent, verifiable authority-and-evidence layer that composes WITH it. Avoid any hierarchy language. Mark the Ugence column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 — Understanding the data journey. Transition slide: orient the audience to this section in a sentence (Four kinds of data, and the same journey told first in plain language, then technically),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backbone. Stress the principle in the dark bar: modules emit NEW, separate artifacts alongside the business record — they do not quietly edit the business truth. When the record is updated, it receives a reference, status or receipt via the proposed integration. Architects should leave able to repeat the four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top to bottom. Keep it business-plain: an event, a proposal, an approval, an exact permission, a safety check, execution, a confirmation of the real effect, and an auditable result back in ServiceNow. Point at the right-hand column to show the kind of information added at each step. Say the example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canonical spine. Emphasize: distinct verbs per layer, fail-closed at every boundary (uncertainty never becomes permission), and that we only draw the modules a given scenario actually uses. Point out the STOP column and the return path to ServiceNow — both recur in every scenario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III — Module responsibilities. Transition slide: orient the audience to this section in a sentence (A business-readable glossary, and the repository-verified architecture facts),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corrected, verified facts (catalog v1.2). Two matter most for the diagrams: Agent Runtime INVOKES Cloud Scaling Operations and receives its result — Cloud Scaling Operations is not a preceding gate; and CER belongs to Decision Authority, so we never write “Agent Runtime (CER).” Also stress RA-8 never retro-authorizes, and everything fails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down the “Does not do” column — that is where the guarantees live. PWC is compile-time only and decides nothing. RA-5 makes a stale or self-asserted “pass” inert. Decision Authority owns the binding decision and the CER, and structurally bars AI as principal. Risk Authority is the sole issuer of the signed, scoped, time-limited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Authority is a per-REQUEST binding decision with fallback and expiry, not a static allowlist. ActionGate binds to the exact action/target and never promotes uncertainty to AUTHORIZED. StoryGraph is advisory across a sequence. Action Clearance is the independent, subtractive live-safety veto — it can only preserve, narrow, hold or block, never widen.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glossary on the execution and assurance modules. Agent Runtime coordinates and invokes; Cloud Scaling Operations is the domain executor it invokes (dry-run by default, needs external execution authorization) and returns its result to the runtime. RA-6 keeps authority current; RA-7 watches in-flight; RA-8 reconciles after the fact and never retro-authorizes.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IV — Lead scenario — autonomous change execution. Transition slide: orient the audience to this section in a sentence (UC-5: the full two-level walkthrough, end to end),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UC-5 as the lead scenario and the pilot candidate. Read the illustrative banner verbatim — this is not a customer deployment. Keep this slide entirely in business language; the modules come next. The key tension to land: a valid approval is necessary but not sufficient, because targets and live conditions can change, and the real effect must be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reinforce the four-kinds-of-data distinction with concrete rows. Rows 1–2 are original business data owned by ServiceNow; row 3 is observed operational data; row 4 is approved policy. Nothing here is a Ugence artifact yet — those are produced by the modules on the next slides and kept separate from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checkout story as a sequence anyone can follow. The one decision point is “is it safe right now?” — if not, the change is held, escalated or blocked, and even that outcome returns an auditable result to the change record. Keep module names out of this slide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architecturally critical slide. Trace it: Decision Authority → ActionGate → Action Clearance → Agent Runtime. Agent Runtime then INVOKES Cloud Scaling Operations (the two arrows show invocation and result-return — not a linear stage), Cloud Scaling Operations actuates the cluster, its result returns to Agent Runtime, and the runtime carries the execution receipt to RA-8. RA-8 reconciles and returns to the change record. Point out the STOP column and that even mismatch/uncertain returns an auditable result. Cloud Scaling Operations is dry-run by default and needs an external execution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fail-closed principle vivid. Each of these is a distinct guard, and in every case the workflow stops and returns an auditable reason to the change record rather than proceeding on uncertainty. This is the heart of the safety story: the system prefers a safe stop over an unsafe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authorization half. Decision Authority proves delegation (and bars AI as principal). ActionGate binds to the exact cluster/action and refuses to promote uncertainty. Action Clearance is the independent live-safety veto. In every row, missing information produces a safe stop, not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execution half and reinforce the corrected architecture: Agent Runtime coordinates and INVOKES Cloud Scaling Operations, which returns its result to the runtime; the runtime carries the receipt to RA-8. Cloud Scaling Operations is dry-run by default and needs an external execution authorization. RA-8 reconciles intent, evidence and effect — and never retro-authorizes.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UC-5 on value and honesty. Make the maturity distinction explicit: the CORE controller is IMPLEMENTED; production validation is PILOT PENDING; additional agentic-AI capabilities are UNDER DEVELOPMENT; the ServiceNow integration is PROPOSED. Do NOT let the four collapse into one label. Governed value is developing and cross-cutting, and AICT already measures ROI — our proposed addition is attribution, not a new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 — Additional enterprise scenarios. Transition slide: orient the audience to this section in a sentence (UC-11 · UC-6 · UC-3 · UC-4 — each at both levels),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UC-11 as a security scenario where blast radius and timing are everything. Emphasize the two distinctive controls the next slide shows: per-stage live clearance, and mid-rollout revocation. Acknowledge ServiceNow Vulnerability Response already creates and links remediation tasks — Ugence adds exact-CI binding, independent clearance, revocation and reconciliation.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spine as UC-5 but note two differences: the rollout is staged (per-stage CLEAR), and RA-6 can revoke authority mid-rollout — the dashed amber arrow into Action Clearance. Revocation is bounded-latency: it stops the NEXT stage, not one already running. Agent Runtime coordinates the staged rollout and carries receipts to RA-8.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UC-11 on control and measurement. The boundary slide is where a security leader confirms nothing consequential happens without delegated authority, and that revocation gives a hard stop mid-rollout. Pilot metrics are concrete and security-relevant. Keep governed value labelled developing.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UC-6 is a fraud-prevention story. The decisive control is the SoD conflict check at clearance time. Keep the left side plain-language, the right side a simple journey. Acknowledge ServiceNow + Veza identity controls; Ugence adds exact-entitlement binding and an independent SoD veto.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teaching point: even a perfectly valid authorization is blocked when Action Clearance detects an SoD conflict — authorization and clearance are independent. On a clean request, Agent Runtime provisions in the ERP, the result returns, and RA-8 confirms ONLY the authorized entitlement was granted.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UC-6 for a risk/compliance owner: nothing is granted that breaks SoD, the AI never self-grants, and a blocked request produces a clean “no change” with an SoD reason. Metrics are audit-relevant. Governed value stays developing.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leave “high-risk” abstract — anchor it to privileged production access. The point is evidence freshness: an approved policy is not enough if the control evidence is stale. ServiceNow AICT/AIRC remain the systems of record; Ugence proposes a signed, evidence-linked, action-level authority. Frame anything unverified as a discovery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evidence-first path: compiled policy + RA-5 trusted evidence → a re-checked control result (a stale “pass” is inert) → Decision Authority → Risk Authority mints a signed, scoped, time-limited authorization → ActionGate enforces the exact action → execution → RA-8. Three stop conditions all route to NOT PERMITTED. Position Risk Authority as the sole issuer of the signed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discipline matters most. Credit AICT/AIRC generously. State the Ugence proposal narrowly — a signed, evidence-fresh, action-level artifact — and immediately flag that whether ServiceNow already does this is a question for their architects. Metrics are audit-centric.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overlap zone and a partnership-native one (Anthropic is ServiceNow’s design partner). Be explicit: ServiceNow already governs and enforces these actions, including at the kernel level via OpenShell. Ugence claims neither a gap nor unique cross-runtime enforcement — only the artifact properties. Read the green ownership box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it carefully to preserve ownership: the external agent goes through Action Fabric; Ugence’s Agent Runtime is an independent decision seam; Model Authority and ActionGate bind the exact payload; StoryGraph flags sequence risk; Action Clearance clears; then Action Fabric DISPATCHES and OpenShell ENFORCES at runtime; RA-7 observes the trajectory and returns assurance evidence to the ServiceNow audit context. The dispatch and enforcement boxes are ServiceNow / NVIDIA (green / grey); the Ugence boxes are authority, advisory and assurance only. Anthropic is ServiceNow’s Action Fabric design partner — partnership-native.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UC-4 by reinforcing ownership and the partnership framing (Anthropic design partner). The differentiation is confined to artifact properties. Metrics center on unauthorized payloads and sequence escalations. Keep governed value developing.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VI — The full use-case portfolio. Transition slide: orient the audience to this section in a sentence (All 12 scenarios — grounded in ServiceNow products, with proposed Ugence governance extensions),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A are the most pilot-ready. UC-5 is the recommended first pilot. All three are available-now ServiceNow anchors with PROPOSED Ugence integration. Emphasize the catalog framing in the footnote — grounded ServiceNow products, proposed extensions, not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B are practical but need tighter autonomy limits — money movement and hiring. In UC-10 the binding decision stays human by design (AI barred as principal), which is a compliance strength. All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C are strategic governance plays that extend AI Control Tower into per-request and per-action enforcement. Keep the honest overlap posture (next section) in mind — position as extension of an approved governance state, framed as discovery where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D are emerging. UC-1 is explicitly ANNOUNCED/FUTURE — the Tier 2 SOC AI Specialist is expected December 2026 and has not shipped; present it as “where this goes,” never as available. UC-9 is a composition play that grants no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VII — Honest overlap &amp; differentiation. Transition slide: orient the audience to this section in a sentence (Name the overlaps first — then the narrow, artifact-level differentiation),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every overlap zone yourself, before the reviewer does — it is the fastest way to earn trust. The OpenShell row is the one to get exactly right: ServiceNow already enforces at runtime across form factors, so we explicitly do not claim unique cross-runtime enforcement. Where the Ugence edge is unconfirmed, say “discovery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in nine properties. Deliver it as “the differentiation is the artifact, not where enforcement runs.” If asked how each property is produced, answer at the guarantee level only — no mechanism, keys, or algorithms. Frame any property ServiceNow may already provide as a discovery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VIII — Enterprise Governed Value. Transition slide: orient the audience to this section in a sentence (A developing, cross-cutting capability — evidence-backed outcome attribution),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governed value as developing and cross-cutting. Credit AICT for already measuring adoption/impact/value/ROI. The Ugence addition is attribution: tying a specific governed action to a specific outcome without trading away constraints — using the evidence the pipelines already emit. Walk the UC-5 example left to right. Do not present it as an authorization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IX — Pilot proposal. Transition slide: orient the audience to this section in a sentence (One bounded technical pilot around UC-5 — no broad production autonomy),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ten steps as a confidence-building ladder: nothing consequential runs live until offline replay, dry-run/shadow, exception-path testing and receipt verification all pass. This directly answers the “are you going to let AI loose in production?” objection — no, autonomy is earned in bounded steps with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boundary tight and reversible; that is what makes a pilot approvable. Lead the measurements with safety/fidelity metrics — exact-target binding, mismatch blocks, effect-match — before efficiency metrics. Attributable governed value is labelled developing.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X — Discovery &amp; next step. Transition slide: orient the audience to this section in a sentence (Constructive questions, and a request for one joint technical session),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we want to leave with the representative. They establish authoritative inputs, integration points, and what stays human-binding — the raw material for scoping a pilot. Ask which they can answer now and which need an architect.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a modest, concrete ask: one joint technical discovery session to scope a bounded pilot — not a partnership demand. Restate the guardrails one last time: everything is proposed, everything illustrative, and Ugence composes with ServiceNow. Invite the discovery-question answers as the starting agenda. Presenter: Rakesh Mohan, Founder, Ugence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reference for every badge in the deck. The key discipline: do not apply one maturity label to a whole workflow — individual modules differ (e.g., Cloud Scaling core IMPLEMENTED, integration PROPOSED). Re-read the standing disclaimers.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source hierarchy plainly: ServiceNow Docs first, then release notes, Newsroom, Community; NVIDIA docs for OpenShell; third-party press only to corroborate. Note the OpenShell technical correction (seccomp + Landlock + network namespaces, not eBPF). No internal repository paths are shown in this external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Shape 1"/>
          <p:cNvSpPr/>
          <p:nvPr/>
        </p:nvSpPr>
        <p:spPr>
          <a:xfrm>
            <a:off x="0" y="5989320"/>
            <a:ext cx="12188952" cy="868680"/>
          </a:xfrm>
          <a:prstGeom prst="rect">
            <a:avLst/>
          </a:prstGeom>
          <a:solidFill>
            <a:srgbClr val="1E1B4A"/>
          </a:solidFill>
          <a:ln w="12700">
            <a:solidFill>
              <a:srgbClr val="333333"/>
            </a:solidFill>
            <a:prstDash val="solid"/>
          </a:ln>
        </p:spPr>
      </p:sp>
      <p:sp>
        <p:nvSpPr>
          <p:cNvPr id="4" name="Text 2"/>
          <p:cNvSpPr/>
          <p:nvPr/>
        </p:nvSpPr>
        <p:spPr>
          <a:xfrm>
            <a:off x="822960" y="1051560"/>
            <a:ext cx="10515600" cy="274320"/>
          </a:xfrm>
          <a:prstGeom prst="rect">
            <a:avLst/>
          </a:prstGeom>
          <a:noFill/>
          <a:ln/>
        </p:spPr>
        <p:txBody>
          <a:bodyPr wrap="square" rtlCol="0" anchor="ctr"/>
          <a:lstStyle/>
          <a:p>
            <a:pPr indent="0" marL="0">
              <a:buNone/>
            </a:pPr>
            <a:r>
              <a:rPr lang="en-US" sz="1200" b="1" spc="200" kern="0" dirty="0">
                <a:solidFill>
                  <a:srgbClr val="9AA2D8"/>
                </a:solidFill>
                <a:latin typeface="Calibri" pitchFamily="34" charset="0"/>
                <a:ea typeface="Calibri" pitchFamily="34" charset="-122"/>
                <a:cs typeface="Calibri" pitchFamily="34" charset="-120"/>
              </a:rPr>
              <a:t>PARTNER ARCHITECTURE BRIEFING  ·  PROPOSED INTEGRATION</a:t>
            </a:r>
            <a:endParaRPr lang="en-US" sz="1200" dirty="0"/>
          </a:p>
        </p:txBody>
      </p:sp>
      <p:sp>
        <p:nvSpPr>
          <p:cNvPr id="5" name="Text 3"/>
          <p:cNvSpPr/>
          <p:nvPr/>
        </p:nvSpPr>
        <p:spPr>
          <a:xfrm>
            <a:off x="786384" y="1554480"/>
            <a:ext cx="10607040" cy="8686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Ugence + ServiceNow</a:t>
            </a:r>
            <a:endParaRPr lang="en-US" sz="4600" dirty="0"/>
          </a:p>
        </p:txBody>
      </p:sp>
      <p:sp>
        <p:nvSpPr>
          <p:cNvPr id="6" name="Text 4"/>
          <p:cNvSpPr/>
          <p:nvPr/>
        </p:nvSpPr>
        <p:spPr>
          <a:xfrm>
            <a:off x="804672" y="2450592"/>
            <a:ext cx="10515600" cy="868680"/>
          </a:xfrm>
          <a:prstGeom prst="rect">
            <a:avLst/>
          </a:prstGeom>
          <a:noFill/>
          <a:ln/>
        </p:spPr>
        <p:txBody>
          <a:bodyPr wrap="square" rtlCol="0" anchor="ctr"/>
          <a:lstStyle/>
          <a:p>
            <a:pPr indent="0" marL="0">
              <a:buNone/>
            </a:pPr>
            <a:r>
              <a:rPr lang="en-US" sz="2600" b="1" dirty="0">
                <a:solidFill>
                  <a:srgbClr val="ECEAFB"/>
                </a:solidFill>
                <a:latin typeface="Cambria" pitchFamily="34" charset="0"/>
                <a:ea typeface="Cambria" pitchFamily="34" charset="-122"/>
                <a:cs typeface="Cambria" pitchFamily="34" charset="-120"/>
              </a:rPr>
              <a:t>Independent Action-Level Authority for Governed Agentic Workflows</a:t>
            </a:r>
            <a:endParaRPr lang="en-US" sz="2600" dirty="0"/>
          </a:p>
        </p:txBody>
      </p:sp>
      <p:sp>
        <p:nvSpPr>
          <p:cNvPr id="7" name="Text 5"/>
          <p:cNvSpPr/>
          <p:nvPr/>
        </p:nvSpPr>
        <p:spPr>
          <a:xfrm>
            <a:off x="822960" y="3520440"/>
            <a:ext cx="10058400" cy="822960"/>
          </a:xfrm>
          <a:prstGeom prst="rect">
            <a:avLst/>
          </a:prstGeom>
          <a:noFill/>
          <a:ln/>
        </p:spPr>
        <p:txBody>
          <a:bodyPr wrap="square" rtlCol="0" anchor="ctr"/>
          <a:lstStyle/>
          <a:p>
            <a:pPr indent="0" marL="0">
              <a:lnSpc>
                <a:spcPct val="115000"/>
              </a:lnSpc>
              <a:buNone/>
            </a:pPr>
            <a:r>
              <a:rPr lang="en-US" sz="1500" dirty="0">
                <a:solidFill>
                  <a:srgbClr val="C9CFEA"/>
                </a:solidFill>
                <a:latin typeface="Calibri" pitchFamily="34" charset="0"/>
                <a:ea typeface="Calibri" pitchFamily="34" charset="-122"/>
                <a:cs typeface="Calibri" pitchFamily="34" charset="-120"/>
              </a:rPr>
              <a:t>Extending ServiceNow-governed workflows with independently verifiable authorization, operational clearance, execution reconciliation, and governed-value evidence.</a:t>
            </a:r>
            <a:endParaRPr lang="en-US" sz="1500" dirty="0"/>
          </a:p>
        </p:txBody>
      </p:sp>
      <p:sp>
        <p:nvSpPr>
          <p:cNvPr id="8" name="Shape 6"/>
          <p:cNvSpPr/>
          <p:nvPr/>
        </p:nvSpPr>
        <p:spPr>
          <a:xfrm>
            <a:off x="822960" y="4636008"/>
            <a:ext cx="219456" cy="164592"/>
          </a:xfrm>
          <a:prstGeom prst="roundRect">
            <a:avLst>
              <a:gd name="adj" fmla="val 16667"/>
            </a:avLst>
          </a:prstGeom>
          <a:solidFill>
            <a:srgbClr val="2E7D5B"/>
          </a:solidFill>
          <a:ln w="12700">
            <a:solidFill>
              <a:srgbClr val="333333"/>
            </a:solidFill>
            <a:prstDash val="solid"/>
          </a:ln>
        </p:spPr>
      </p:sp>
      <p:sp>
        <p:nvSpPr>
          <p:cNvPr id="9" name="Text 7"/>
          <p:cNvSpPr/>
          <p:nvPr/>
        </p:nvSpPr>
        <p:spPr>
          <a:xfrm>
            <a:off x="1115568" y="4581144"/>
            <a:ext cx="2743200" cy="256032"/>
          </a:xfrm>
          <a:prstGeom prst="rect">
            <a:avLst/>
          </a:prstGeom>
          <a:noFill/>
          <a:ln/>
        </p:spPr>
        <p:txBody>
          <a:bodyPr wrap="square" lIns="0" tIns="0" rIns="0" bIns="0" rtlCol="0" anchor="ctr"/>
          <a:lstStyle/>
          <a:p>
            <a:pPr algn="l" indent="0" marL="0">
              <a:buNone/>
            </a:pPr>
            <a:r>
              <a:rPr lang="en-US" sz="1050" dirty="0">
                <a:solidFill>
                  <a:srgbClr val="E7EAF7"/>
                </a:solidFill>
                <a:latin typeface="Calibri" pitchFamily="34" charset="0"/>
                <a:ea typeface="Calibri" pitchFamily="34" charset="-122"/>
                <a:cs typeface="Calibri" pitchFamily="34" charset="-120"/>
              </a:rPr>
              <a:t>ServiceNow</a:t>
            </a:r>
            <a:endParaRPr lang="en-US" sz="1050" dirty="0"/>
          </a:p>
        </p:txBody>
      </p:sp>
      <p:sp>
        <p:nvSpPr>
          <p:cNvPr id="10" name="Shape 8"/>
          <p:cNvSpPr/>
          <p:nvPr/>
        </p:nvSpPr>
        <p:spPr>
          <a:xfrm>
            <a:off x="3904488" y="4636008"/>
            <a:ext cx="219456" cy="164592"/>
          </a:xfrm>
          <a:prstGeom prst="roundRect">
            <a:avLst>
              <a:gd name="adj" fmla="val 16667"/>
            </a:avLst>
          </a:prstGeom>
          <a:solidFill>
            <a:srgbClr val="5145C7"/>
          </a:solidFill>
          <a:ln w="12700">
            <a:solidFill>
              <a:srgbClr val="333333"/>
            </a:solidFill>
            <a:prstDash val="solid"/>
          </a:ln>
        </p:spPr>
      </p:sp>
      <p:sp>
        <p:nvSpPr>
          <p:cNvPr id="11" name="Text 9"/>
          <p:cNvSpPr/>
          <p:nvPr/>
        </p:nvSpPr>
        <p:spPr>
          <a:xfrm>
            <a:off x="4197096" y="4581144"/>
            <a:ext cx="2743200" cy="256032"/>
          </a:xfrm>
          <a:prstGeom prst="rect">
            <a:avLst/>
          </a:prstGeom>
          <a:noFill/>
          <a:ln/>
        </p:spPr>
        <p:txBody>
          <a:bodyPr wrap="square" lIns="0" tIns="0" rIns="0" bIns="0" rtlCol="0" anchor="ctr"/>
          <a:lstStyle/>
          <a:p>
            <a:pPr algn="l" indent="0" marL="0">
              <a:buNone/>
            </a:pPr>
            <a:r>
              <a:rPr lang="en-US" sz="1050" dirty="0">
                <a:solidFill>
                  <a:srgbClr val="E7EAF7"/>
                </a:solidFill>
                <a:latin typeface="Calibri" pitchFamily="34" charset="0"/>
                <a:ea typeface="Calibri" pitchFamily="34" charset="-122"/>
                <a:cs typeface="Calibri" pitchFamily="34" charset="-120"/>
              </a:rPr>
              <a:t>Ugence decision / authority</a:t>
            </a:r>
            <a:endParaRPr lang="en-US" sz="1050" dirty="0"/>
          </a:p>
        </p:txBody>
      </p:sp>
      <p:sp>
        <p:nvSpPr>
          <p:cNvPr id="12" name="Shape 10"/>
          <p:cNvSpPr/>
          <p:nvPr/>
        </p:nvSpPr>
        <p:spPr>
          <a:xfrm>
            <a:off x="6986016" y="4636008"/>
            <a:ext cx="219456" cy="164592"/>
          </a:xfrm>
          <a:prstGeom prst="roundRect">
            <a:avLst>
              <a:gd name="adj" fmla="val 16667"/>
            </a:avLst>
          </a:prstGeom>
          <a:solidFill>
            <a:srgbClr val="2B6CB0"/>
          </a:solidFill>
          <a:ln w="12700">
            <a:solidFill>
              <a:srgbClr val="333333"/>
            </a:solidFill>
            <a:prstDash val="solid"/>
          </a:ln>
        </p:spPr>
      </p:sp>
      <p:sp>
        <p:nvSpPr>
          <p:cNvPr id="13" name="Text 11"/>
          <p:cNvSpPr/>
          <p:nvPr/>
        </p:nvSpPr>
        <p:spPr>
          <a:xfrm>
            <a:off x="7278624" y="4581144"/>
            <a:ext cx="2743200" cy="256032"/>
          </a:xfrm>
          <a:prstGeom prst="rect">
            <a:avLst/>
          </a:prstGeom>
          <a:noFill/>
          <a:ln/>
        </p:spPr>
        <p:txBody>
          <a:bodyPr wrap="square" lIns="0" tIns="0" rIns="0" bIns="0" rtlCol="0" anchor="ctr"/>
          <a:lstStyle/>
          <a:p>
            <a:pPr algn="l" indent="0" marL="0">
              <a:buNone/>
            </a:pPr>
            <a:r>
              <a:rPr lang="en-US" sz="1050" dirty="0">
                <a:solidFill>
                  <a:srgbClr val="E7EAF7"/>
                </a:solidFill>
                <a:latin typeface="Calibri" pitchFamily="34" charset="0"/>
                <a:ea typeface="Calibri" pitchFamily="34" charset="-122"/>
                <a:cs typeface="Calibri" pitchFamily="34" charset="-120"/>
              </a:rPr>
              <a:t>Ugence execution / assurance</a:t>
            </a:r>
            <a:endParaRPr lang="en-US" sz="1050" dirty="0"/>
          </a:p>
        </p:txBody>
      </p:sp>
      <p:sp>
        <p:nvSpPr>
          <p:cNvPr id="14" name="Shape 12"/>
          <p:cNvSpPr/>
          <p:nvPr/>
        </p:nvSpPr>
        <p:spPr>
          <a:xfrm>
            <a:off x="822960" y="5020056"/>
            <a:ext cx="219456" cy="164592"/>
          </a:xfrm>
          <a:prstGeom prst="roundRect">
            <a:avLst>
              <a:gd name="adj" fmla="val 16667"/>
            </a:avLst>
          </a:prstGeom>
          <a:solidFill>
            <a:srgbClr val="6B7280"/>
          </a:solidFill>
          <a:ln w="12700">
            <a:solidFill>
              <a:srgbClr val="333333"/>
            </a:solidFill>
            <a:prstDash val="solid"/>
          </a:ln>
        </p:spPr>
      </p:sp>
      <p:sp>
        <p:nvSpPr>
          <p:cNvPr id="15" name="Text 13"/>
          <p:cNvSpPr/>
          <p:nvPr/>
        </p:nvSpPr>
        <p:spPr>
          <a:xfrm>
            <a:off x="1115568" y="4965192"/>
            <a:ext cx="2743200" cy="256032"/>
          </a:xfrm>
          <a:prstGeom prst="rect">
            <a:avLst/>
          </a:prstGeom>
          <a:noFill/>
          <a:ln/>
        </p:spPr>
        <p:txBody>
          <a:bodyPr wrap="square" lIns="0" tIns="0" rIns="0" bIns="0" rtlCol="0" anchor="ctr"/>
          <a:lstStyle/>
          <a:p>
            <a:pPr algn="l" indent="0" marL="0">
              <a:buNone/>
            </a:pPr>
            <a:r>
              <a:rPr lang="en-US" sz="1050" dirty="0">
                <a:solidFill>
                  <a:srgbClr val="E7EAF7"/>
                </a:solidFill>
                <a:latin typeface="Calibri" pitchFamily="34" charset="0"/>
                <a:ea typeface="Calibri" pitchFamily="34" charset="-122"/>
                <a:cs typeface="Calibri" pitchFamily="34" charset="-120"/>
              </a:rPr>
              <a:t>External target</a:t>
            </a:r>
            <a:endParaRPr lang="en-US" sz="1050" dirty="0"/>
          </a:p>
        </p:txBody>
      </p:sp>
      <p:sp>
        <p:nvSpPr>
          <p:cNvPr id="16" name="Shape 14"/>
          <p:cNvSpPr/>
          <p:nvPr/>
        </p:nvSpPr>
        <p:spPr>
          <a:xfrm>
            <a:off x="3904488" y="5020056"/>
            <a:ext cx="219456" cy="164592"/>
          </a:xfrm>
          <a:prstGeom prst="roundRect">
            <a:avLst>
              <a:gd name="adj" fmla="val 16667"/>
            </a:avLst>
          </a:prstGeom>
          <a:solidFill>
            <a:srgbClr val="B7791F"/>
          </a:solidFill>
          <a:ln w="12700">
            <a:solidFill>
              <a:srgbClr val="333333"/>
            </a:solidFill>
            <a:prstDash val="solid"/>
          </a:ln>
        </p:spPr>
      </p:sp>
      <p:sp>
        <p:nvSpPr>
          <p:cNvPr id="17" name="Text 15"/>
          <p:cNvSpPr/>
          <p:nvPr/>
        </p:nvSpPr>
        <p:spPr>
          <a:xfrm>
            <a:off x="4197096" y="4965192"/>
            <a:ext cx="2743200" cy="256032"/>
          </a:xfrm>
          <a:prstGeom prst="rect">
            <a:avLst/>
          </a:prstGeom>
          <a:noFill/>
          <a:ln/>
        </p:spPr>
        <p:txBody>
          <a:bodyPr wrap="square" lIns="0" tIns="0" rIns="0" bIns="0" rtlCol="0" anchor="ctr"/>
          <a:lstStyle/>
          <a:p>
            <a:pPr algn="l" indent="0" marL="0">
              <a:buNone/>
            </a:pPr>
            <a:r>
              <a:rPr lang="en-US" sz="1050" dirty="0">
                <a:solidFill>
                  <a:srgbClr val="E7EAF7"/>
                </a:solidFill>
                <a:latin typeface="Calibri" pitchFamily="34" charset="0"/>
                <a:ea typeface="Calibri" pitchFamily="34" charset="-122"/>
                <a:cs typeface="Calibri" pitchFamily="34" charset="-120"/>
              </a:rPr>
              <a:t>Human review</a:t>
            </a:r>
            <a:endParaRPr lang="en-US" sz="1050" dirty="0"/>
          </a:p>
        </p:txBody>
      </p:sp>
      <p:sp>
        <p:nvSpPr>
          <p:cNvPr id="18" name="Shape 16"/>
          <p:cNvSpPr/>
          <p:nvPr/>
        </p:nvSpPr>
        <p:spPr>
          <a:xfrm>
            <a:off x="6986016" y="5020056"/>
            <a:ext cx="219456" cy="164592"/>
          </a:xfrm>
          <a:prstGeom prst="roundRect">
            <a:avLst>
              <a:gd name="adj" fmla="val 16667"/>
            </a:avLst>
          </a:prstGeom>
          <a:solidFill>
            <a:srgbClr val="C0392B"/>
          </a:solidFill>
          <a:ln w="12700">
            <a:solidFill>
              <a:srgbClr val="333333"/>
            </a:solidFill>
            <a:prstDash val="solid"/>
          </a:ln>
        </p:spPr>
      </p:sp>
      <p:sp>
        <p:nvSpPr>
          <p:cNvPr id="19" name="Text 17"/>
          <p:cNvSpPr/>
          <p:nvPr/>
        </p:nvSpPr>
        <p:spPr>
          <a:xfrm>
            <a:off x="7278624" y="4965192"/>
            <a:ext cx="2743200" cy="256032"/>
          </a:xfrm>
          <a:prstGeom prst="rect">
            <a:avLst/>
          </a:prstGeom>
          <a:noFill/>
          <a:ln/>
        </p:spPr>
        <p:txBody>
          <a:bodyPr wrap="square" lIns="0" tIns="0" rIns="0" bIns="0" rtlCol="0" anchor="ctr"/>
          <a:lstStyle/>
          <a:p>
            <a:pPr algn="l" indent="0" marL="0">
              <a:buNone/>
            </a:pPr>
            <a:r>
              <a:rPr lang="en-US" sz="1050" dirty="0">
                <a:solidFill>
                  <a:srgbClr val="E7EAF7"/>
                </a:solidFill>
                <a:latin typeface="Calibri" pitchFamily="34" charset="0"/>
                <a:ea typeface="Calibri" pitchFamily="34" charset="-122"/>
                <a:cs typeface="Calibri" pitchFamily="34" charset="-120"/>
              </a:rPr>
              <a:t>Hold / Block / Escalate</a:t>
            </a:r>
            <a:endParaRPr lang="en-US" sz="1050" dirty="0"/>
          </a:p>
        </p:txBody>
      </p:sp>
      <p:sp>
        <p:nvSpPr>
          <p:cNvPr id="20" name="Text 18"/>
          <p:cNvSpPr/>
          <p:nvPr/>
        </p:nvSpPr>
        <p:spPr>
          <a:xfrm>
            <a:off x="822960" y="5596128"/>
            <a:ext cx="10515600" cy="310896"/>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Rakesh Mohan</a:t>
            </a:r>
            <a:pPr algn="l" indent="0" marL="0">
              <a:buNone/>
            </a:pPr>
            <a:r>
              <a:rPr lang="en-US" sz="1300" dirty="0">
                <a:solidFill>
                  <a:srgbClr val="C9CFEA"/>
                </a:solidFill>
                <a:latin typeface="Calibri" pitchFamily="34" charset="0"/>
                <a:ea typeface="Calibri" pitchFamily="34" charset="-122"/>
                <a:cs typeface="Calibri" pitchFamily="34" charset="-120"/>
              </a:rPr>
              <a:t>    ·    Founder, Ugence Labs    ·    ugence.ai    ·    August 2026</a:t>
            </a:r>
            <a:endParaRPr lang="en-US" sz="1300" dirty="0"/>
          </a:p>
        </p:txBody>
      </p:sp>
      <p:sp>
        <p:nvSpPr>
          <p:cNvPr id="21" name="Text 19"/>
          <p:cNvSpPr/>
          <p:nvPr/>
        </p:nvSpPr>
        <p:spPr>
          <a:xfrm>
            <a:off x="822960" y="6108192"/>
            <a:ext cx="10515600" cy="365760"/>
          </a:xfrm>
          <a:prstGeom prst="rect">
            <a:avLst/>
          </a:prstGeom>
          <a:noFill/>
          <a:ln/>
        </p:spPr>
        <p:txBody>
          <a:bodyPr wrap="square" rtlCol="0" anchor="ctr"/>
          <a:lstStyle/>
          <a:p>
            <a:pPr indent="0" marL="0">
              <a:buNone/>
            </a:pPr>
            <a:r>
              <a:rPr lang="en-US" sz="1100" i="1" dirty="0">
                <a:solidFill>
                  <a:srgbClr val="AEB6E0"/>
                </a:solidFill>
                <a:latin typeface="Calibri" pitchFamily="34" charset="0"/>
                <a:ea typeface="Calibri" pitchFamily="34" charset="-122"/>
                <a:cs typeface="Calibri" pitchFamily="34" charset="-120"/>
              </a:rPr>
              <a:t>All ServiceNow integrations are PROPOSED — no connector ships today. All scenarios are illustrative, not customer deployments.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HOW TO READ THIS DECK</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Two levels for two audiences — on every major scenario</a:t>
            </a:r>
            <a:endParaRPr lang="en-US" sz="2600" dirty="0"/>
          </a:p>
        </p:txBody>
      </p:sp>
      <p:sp>
        <p:nvSpPr>
          <p:cNvPr id="4" name="Shape 2"/>
          <p:cNvSpPr/>
          <p:nvPr/>
        </p:nvSpPr>
        <p:spPr>
          <a:xfrm>
            <a:off x="548640" y="1298448"/>
            <a:ext cx="5486400" cy="3703320"/>
          </a:xfrm>
          <a:prstGeom prst="roundRect">
            <a:avLst>
              <a:gd name="adj" fmla="val 1481"/>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713232" y="1408176"/>
            <a:ext cx="5157216" cy="310896"/>
          </a:xfrm>
          <a:prstGeom prst="rect">
            <a:avLst/>
          </a:prstGeom>
          <a:noFill/>
          <a:ln/>
        </p:spPr>
        <p:txBody>
          <a:bodyPr wrap="square" lIns="0" tIns="0" rIns="0" bIns="0" rtlCol="0" anchor="ctr"/>
          <a:lstStyle/>
          <a:p>
            <a:pPr algn="l" indent="0" marL="0">
              <a:buNone/>
            </a:pPr>
            <a:r>
              <a:rPr lang="en-US" sz="1250" b="1" dirty="0">
                <a:solidFill>
                  <a:srgbClr val="2A2170"/>
                </a:solidFill>
                <a:latin typeface="Calibri" pitchFamily="34" charset="0"/>
                <a:ea typeface="Calibri" pitchFamily="34" charset="-122"/>
                <a:cs typeface="Calibri" pitchFamily="34" charset="-120"/>
              </a:rPr>
              <a:t>Level 1 — Layman view</a:t>
            </a:r>
            <a:endParaRPr lang="en-US" sz="1250" dirty="0"/>
          </a:p>
        </p:txBody>
      </p:sp>
      <p:sp>
        <p:nvSpPr>
          <p:cNvPr id="6" name="Text 4"/>
          <p:cNvSpPr/>
          <p:nvPr/>
        </p:nvSpPr>
        <p:spPr>
          <a:xfrm>
            <a:off x="713232" y="1755648"/>
            <a:ext cx="5157216" cy="3136392"/>
          </a:xfrm>
          <a:prstGeom prst="rect">
            <a:avLst/>
          </a:prstGeom>
          <a:noFill/>
          <a:ln/>
        </p:spPr>
        <p:txBody>
          <a:bodyPr wrap="square" lIns="0" tIns="0" rIns="0" bIns="0" rtlCol="0" anchor="t"/>
          <a:lstStyle/>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For business, operations and partnership stakeholders. Each scenario first answers, in plain language:</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The enterprise problem and why it matters</a:t>
            </a: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What could go wrong when an AI agent acts</a:t>
            </a: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What the AI agent wants to do</a:t>
            </a: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Where control is required</a:t>
            </a: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What ServiceNow already provides</a:t>
            </a: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What Ugence proposes to contribute</a:t>
            </a: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What the enterprise receives at the end</a:t>
            </a:r>
            <a:endParaRPr lang="en-US" sz="1100" dirty="0"/>
          </a:p>
        </p:txBody>
      </p:sp>
      <p:sp>
        <p:nvSpPr>
          <p:cNvPr id="7" name="Shape 5"/>
          <p:cNvSpPr/>
          <p:nvPr/>
        </p:nvSpPr>
        <p:spPr>
          <a:xfrm>
            <a:off x="6172200" y="1298448"/>
            <a:ext cx="5486400" cy="3703320"/>
          </a:xfrm>
          <a:prstGeom prst="roundRect">
            <a:avLst>
              <a:gd name="adj" fmla="val 1481"/>
            </a:avLst>
          </a:prstGeom>
          <a:solidFill>
            <a:srgbClr val="E4EFF7"/>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8" name="Text 6"/>
          <p:cNvSpPr/>
          <p:nvPr/>
        </p:nvSpPr>
        <p:spPr>
          <a:xfrm>
            <a:off x="6336792" y="1408176"/>
            <a:ext cx="5157216" cy="310896"/>
          </a:xfrm>
          <a:prstGeom prst="rect">
            <a:avLst/>
          </a:prstGeom>
          <a:noFill/>
          <a:ln/>
        </p:spPr>
        <p:txBody>
          <a:bodyPr wrap="square" lIns="0" tIns="0" rIns="0" bIns="0" rtlCol="0" anchor="ctr"/>
          <a:lstStyle/>
          <a:p>
            <a:pPr algn="l" indent="0" marL="0">
              <a:buNone/>
            </a:pPr>
            <a:r>
              <a:rPr lang="en-US" sz="1250" b="1" dirty="0">
                <a:solidFill>
                  <a:srgbClr val="173A5A"/>
                </a:solidFill>
                <a:latin typeface="Calibri" pitchFamily="34" charset="0"/>
                <a:ea typeface="Calibri" pitchFamily="34" charset="-122"/>
                <a:cs typeface="Calibri" pitchFamily="34" charset="-120"/>
              </a:rPr>
              <a:t>Level 2 — Technical architecture view</a:t>
            </a:r>
            <a:endParaRPr lang="en-US" sz="1250" dirty="0"/>
          </a:p>
        </p:txBody>
      </p:sp>
      <p:sp>
        <p:nvSpPr>
          <p:cNvPr id="9" name="Text 7"/>
          <p:cNvSpPr/>
          <p:nvPr/>
        </p:nvSpPr>
        <p:spPr>
          <a:xfrm>
            <a:off x="6336792" y="1755648"/>
            <a:ext cx="5157216" cy="3136392"/>
          </a:xfrm>
          <a:prstGeom prst="rect">
            <a:avLst/>
          </a:prstGeom>
          <a:noFill/>
          <a:ln/>
        </p:spPr>
        <p:txBody>
          <a:bodyPr wrap="square" lIns="0" tIns="0" rIns="0" bIns="0" rtlCol="0" anchor="t"/>
          <a:lstStyle/>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For solution architects. Each scenario then shows:</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What business data enters, and where it originates</a:t>
            </a: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What each module receives or references</a:t>
            </a: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What it checks or decides</a:t>
            </a: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The separate governance artifact it emits</a:t>
            </a: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What information passes over every arrow</a:t>
            </a: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What executes the action</a:t>
            </a: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What operational evidence returns</a:t>
            </a: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How the observed effect is reconciled</a:t>
            </a: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What is recorded or referenced in ServiceNow</a:t>
            </a:r>
            <a:endParaRPr lang="en-US" sz="1100" dirty="0"/>
          </a:p>
        </p:txBody>
      </p:sp>
      <p:sp>
        <p:nvSpPr>
          <p:cNvPr id="10" name="Shape 8"/>
          <p:cNvSpPr/>
          <p:nvPr/>
        </p:nvSpPr>
        <p:spPr>
          <a:xfrm>
            <a:off x="548640" y="5138928"/>
            <a:ext cx="11109960" cy="1170432"/>
          </a:xfrm>
          <a:prstGeom prst="roundRect">
            <a:avLst>
              <a:gd name="adj" fmla="val 4688"/>
            </a:avLst>
          </a:prstGeom>
          <a:solidFill>
            <a:srgbClr val="F1F4FA"/>
          </a:solidFill>
          <a:ln w="12700">
            <a:solidFill>
              <a:srgbClr val="5145C7"/>
            </a:solidFill>
            <a:prstDash val="solid"/>
          </a:ln>
        </p:spPr>
      </p:sp>
      <p:sp>
        <p:nvSpPr>
          <p:cNvPr id="11" name="Text 9"/>
          <p:cNvSpPr/>
          <p:nvPr/>
        </p:nvSpPr>
        <p:spPr>
          <a:xfrm>
            <a:off x="731520" y="5230368"/>
            <a:ext cx="10698480" cy="274320"/>
          </a:xfrm>
          <a:prstGeom prst="rect">
            <a:avLst/>
          </a:prstGeom>
          <a:noFill/>
          <a:ln/>
        </p:spPr>
        <p:txBody>
          <a:bodyPr wrap="square" lIns="0" tIns="0" rIns="0" bIns="0" rtlCol="0" anchor="ctr"/>
          <a:lstStyle/>
          <a:p>
            <a:pPr indent="0" marL="0">
              <a:buNone/>
            </a:pPr>
            <a:r>
              <a:rPr lang="en-US" sz="1250" b="1" dirty="0">
                <a:solidFill>
                  <a:srgbClr val="2A2170"/>
                </a:solidFill>
                <a:latin typeface="Calibri" pitchFamily="34" charset="0"/>
                <a:ea typeface="Calibri" pitchFamily="34" charset="-122"/>
                <a:cs typeface="Calibri" pitchFamily="34" charset="-120"/>
              </a:rPr>
              <a:t>How to use this briefing</a:t>
            </a:r>
            <a:endParaRPr lang="en-US" sz="1250" dirty="0"/>
          </a:p>
        </p:txBody>
      </p:sp>
      <p:sp>
        <p:nvSpPr>
          <p:cNvPr id="12" name="Text 10"/>
          <p:cNvSpPr/>
          <p:nvPr/>
        </p:nvSpPr>
        <p:spPr>
          <a:xfrm>
            <a:off x="731520" y="5522976"/>
            <a:ext cx="10744200" cy="731520"/>
          </a:xfrm>
          <a:prstGeom prst="rect">
            <a:avLst/>
          </a:prstGeom>
          <a:noFill/>
          <a:ln/>
        </p:spPr>
        <p:txBody>
          <a:bodyPr wrap="square" lIns="0" tIns="0" rIns="0" bIns="0" rtlCol="0" anchor="ctr"/>
          <a:lstStyle/>
          <a:p>
            <a:pPr indent="0" marL="0">
              <a:lnSpc>
                <a:spcPct val="108000"/>
              </a:lnSpc>
              <a:buNone/>
            </a:pPr>
            <a:r>
              <a:rPr lang="en-US" sz="1100" dirty="0">
                <a:solidFill>
                  <a:srgbClr val="1E2340"/>
                </a:solidFill>
                <a:latin typeface="Calibri" pitchFamily="34" charset="0"/>
                <a:ea typeface="Calibri" pitchFamily="34" charset="-122"/>
                <a:cs typeface="Calibri" pitchFamily="34" charset="-120"/>
              </a:rPr>
              <a:t>This is a detailed landscape presentation designed for screen-based discussion and technical reference. The meeting walkthrough can focus on the executive framing, UC-5 autonomous change execution, the pilot proposal, and the discovery questions; the remaining sections provide supporting architecture and use-case detail.</a:t>
            </a:r>
            <a:endParaRPr lang="en-US" sz="1100" dirty="0"/>
          </a:p>
        </p:txBody>
      </p:sp>
      <p:sp>
        <p:nvSpPr>
          <p:cNvPr id="14" name="Text 11"/>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How this briefing is organized — navigate by slide number</a:t>
            </a:r>
            <a:endParaRPr lang="en-US" sz="2600" dirty="0"/>
          </a:p>
        </p:txBody>
      </p:sp>
      <p:sp>
        <p:nvSpPr>
          <p:cNvPr id="4" name="Shape 2"/>
          <p:cNvSpPr/>
          <p:nvPr/>
        </p:nvSpPr>
        <p:spPr>
          <a:xfrm>
            <a:off x="640080" y="1554480"/>
            <a:ext cx="5349240" cy="768096"/>
          </a:xfrm>
          <a:prstGeom prst="roundRect">
            <a:avLst>
              <a:gd name="adj" fmla="val 7143"/>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Shape 3"/>
          <p:cNvSpPr/>
          <p:nvPr/>
        </p:nvSpPr>
        <p:spPr>
          <a:xfrm>
            <a:off x="804672" y="1709928"/>
            <a:ext cx="457200" cy="457200"/>
          </a:xfrm>
          <a:prstGeom prst="ellipse">
            <a:avLst/>
          </a:prstGeom>
          <a:solidFill>
            <a:srgbClr val="5145C7"/>
          </a:solidFill>
          <a:ln w="12700">
            <a:solidFill>
              <a:srgbClr val="333333"/>
            </a:solidFill>
            <a:prstDash val="solid"/>
          </a:ln>
        </p:spPr>
      </p:sp>
      <p:sp>
        <p:nvSpPr>
          <p:cNvPr id="6" name="Text 4"/>
          <p:cNvSpPr/>
          <p:nvPr/>
        </p:nvSpPr>
        <p:spPr>
          <a:xfrm>
            <a:off x="804672" y="17099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a:t>
            </a:r>
            <a:endParaRPr lang="en-US" sz="1500" dirty="0"/>
          </a:p>
        </p:txBody>
      </p:sp>
      <p:sp>
        <p:nvSpPr>
          <p:cNvPr id="7" name="Text 5"/>
          <p:cNvSpPr/>
          <p:nvPr/>
        </p:nvSpPr>
        <p:spPr>
          <a:xfrm>
            <a:off x="1408176" y="1554480"/>
            <a:ext cx="4434840" cy="768096"/>
          </a:xfrm>
          <a:prstGeom prst="rect">
            <a:avLst/>
          </a:prstGeom>
          <a:noFill/>
          <a:ln/>
        </p:spPr>
        <p:txBody>
          <a:bodyPr wrap="square" lIns="0" tIns="0" rIns="0" bIns="0" rtlCol="0" anchor="ctr"/>
          <a:lstStyle/>
          <a:p>
            <a:pPr indent="0" marL="0">
              <a:buNone/>
            </a:pPr>
            <a:r>
              <a:rPr lang="en-US" sz="1350" b="1" dirty="0">
                <a:solidFill>
                  <a:srgbClr val="1E2340"/>
                </a:solidFill>
                <a:latin typeface="Calibri" pitchFamily="34" charset="0"/>
                <a:ea typeface="Calibri" pitchFamily="34" charset="-122"/>
                <a:cs typeface="Calibri" pitchFamily="34" charset="-120"/>
              </a:rPr>
              <a:t>Executive framing</a:t>
            </a:r>
            <a:endParaRPr lang="en-US" sz="1350" dirty="0"/>
          </a:p>
        </p:txBody>
      </p:sp>
      <p:sp>
        <p:nvSpPr>
          <p:cNvPr id="8" name="Shape 6"/>
          <p:cNvSpPr/>
          <p:nvPr/>
        </p:nvSpPr>
        <p:spPr>
          <a:xfrm>
            <a:off x="640080" y="2487168"/>
            <a:ext cx="5349240" cy="768096"/>
          </a:xfrm>
          <a:prstGeom prst="roundRect">
            <a:avLst>
              <a:gd name="adj" fmla="val 7143"/>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9" name="Shape 7"/>
          <p:cNvSpPr/>
          <p:nvPr/>
        </p:nvSpPr>
        <p:spPr>
          <a:xfrm>
            <a:off x="804672" y="2642616"/>
            <a:ext cx="457200" cy="457200"/>
          </a:xfrm>
          <a:prstGeom prst="ellipse">
            <a:avLst/>
          </a:prstGeom>
          <a:solidFill>
            <a:srgbClr val="5145C7"/>
          </a:solidFill>
          <a:ln w="12700">
            <a:solidFill>
              <a:srgbClr val="333333"/>
            </a:solidFill>
            <a:prstDash val="solid"/>
          </a:ln>
        </p:spPr>
      </p:sp>
      <p:sp>
        <p:nvSpPr>
          <p:cNvPr id="10" name="Text 8"/>
          <p:cNvSpPr/>
          <p:nvPr/>
        </p:nvSpPr>
        <p:spPr>
          <a:xfrm>
            <a:off x="804672" y="26426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II</a:t>
            </a:r>
            <a:endParaRPr lang="en-US" sz="1500" dirty="0"/>
          </a:p>
        </p:txBody>
      </p:sp>
      <p:sp>
        <p:nvSpPr>
          <p:cNvPr id="11" name="Text 9"/>
          <p:cNvSpPr/>
          <p:nvPr/>
        </p:nvSpPr>
        <p:spPr>
          <a:xfrm>
            <a:off x="1408176" y="2487168"/>
            <a:ext cx="4434840" cy="768096"/>
          </a:xfrm>
          <a:prstGeom prst="rect">
            <a:avLst/>
          </a:prstGeom>
          <a:noFill/>
          <a:ln/>
        </p:spPr>
        <p:txBody>
          <a:bodyPr wrap="square" lIns="0" tIns="0" rIns="0" bIns="0" rtlCol="0" anchor="ctr"/>
          <a:lstStyle/>
          <a:p>
            <a:pPr indent="0" marL="0">
              <a:buNone/>
            </a:pPr>
            <a:r>
              <a:rPr lang="en-US" sz="1350" b="1" dirty="0">
                <a:solidFill>
                  <a:srgbClr val="1E2340"/>
                </a:solidFill>
                <a:latin typeface="Calibri" pitchFamily="34" charset="0"/>
                <a:ea typeface="Calibri" pitchFamily="34" charset="-122"/>
                <a:cs typeface="Calibri" pitchFamily="34" charset="-120"/>
              </a:rPr>
              <a:t>Data journey</a:t>
            </a:r>
            <a:endParaRPr lang="en-US" sz="1350" dirty="0"/>
          </a:p>
        </p:txBody>
      </p:sp>
      <p:sp>
        <p:nvSpPr>
          <p:cNvPr id="12" name="Shape 10"/>
          <p:cNvSpPr/>
          <p:nvPr/>
        </p:nvSpPr>
        <p:spPr>
          <a:xfrm>
            <a:off x="640080" y="3419856"/>
            <a:ext cx="5349240" cy="768096"/>
          </a:xfrm>
          <a:prstGeom prst="roundRect">
            <a:avLst>
              <a:gd name="adj" fmla="val 7143"/>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13" name="Shape 11"/>
          <p:cNvSpPr/>
          <p:nvPr/>
        </p:nvSpPr>
        <p:spPr>
          <a:xfrm>
            <a:off x="804672" y="3575304"/>
            <a:ext cx="457200" cy="457200"/>
          </a:xfrm>
          <a:prstGeom prst="ellipse">
            <a:avLst/>
          </a:prstGeom>
          <a:solidFill>
            <a:srgbClr val="5145C7"/>
          </a:solidFill>
          <a:ln w="12700">
            <a:solidFill>
              <a:srgbClr val="333333"/>
            </a:solidFill>
            <a:prstDash val="solid"/>
          </a:ln>
        </p:spPr>
      </p:sp>
      <p:sp>
        <p:nvSpPr>
          <p:cNvPr id="14" name="Text 12"/>
          <p:cNvSpPr/>
          <p:nvPr/>
        </p:nvSpPr>
        <p:spPr>
          <a:xfrm>
            <a:off x="804672" y="35753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III</a:t>
            </a:r>
            <a:endParaRPr lang="en-US" sz="1500" dirty="0"/>
          </a:p>
        </p:txBody>
      </p:sp>
      <p:sp>
        <p:nvSpPr>
          <p:cNvPr id="15" name="Text 13"/>
          <p:cNvSpPr/>
          <p:nvPr/>
        </p:nvSpPr>
        <p:spPr>
          <a:xfrm>
            <a:off x="1408176" y="3419856"/>
            <a:ext cx="4434840" cy="768096"/>
          </a:xfrm>
          <a:prstGeom prst="rect">
            <a:avLst/>
          </a:prstGeom>
          <a:noFill/>
          <a:ln/>
        </p:spPr>
        <p:txBody>
          <a:bodyPr wrap="square" lIns="0" tIns="0" rIns="0" bIns="0" rtlCol="0" anchor="ctr"/>
          <a:lstStyle/>
          <a:p>
            <a:pPr indent="0" marL="0">
              <a:buNone/>
            </a:pPr>
            <a:r>
              <a:rPr lang="en-US" sz="1350" b="1" dirty="0">
                <a:solidFill>
                  <a:srgbClr val="1E2340"/>
                </a:solidFill>
                <a:latin typeface="Calibri" pitchFamily="34" charset="0"/>
                <a:ea typeface="Calibri" pitchFamily="34" charset="-122"/>
                <a:cs typeface="Calibri" pitchFamily="34" charset="-120"/>
              </a:rPr>
              <a:t>Module responsibilities</a:t>
            </a:r>
            <a:endParaRPr lang="en-US" sz="1350" dirty="0"/>
          </a:p>
        </p:txBody>
      </p:sp>
      <p:sp>
        <p:nvSpPr>
          <p:cNvPr id="16" name="Shape 14"/>
          <p:cNvSpPr/>
          <p:nvPr/>
        </p:nvSpPr>
        <p:spPr>
          <a:xfrm>
            <a:off x="640080" y="4352544"/>
            <a:ext cx="5349240" cy="768096"/>
          </a:xfrm>
          <a:prstGeom prst="roundRect">
            <a:avLst>
              <a:gd name="adj" fmla="val 7143"/>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17" name="Shape 15"/>
          <p:cNvSpPr/>
          <p:nvPr/>
        </p:nvSpPr>
        <p:spPr>
          <a:xfrm>
            <a:off x="804672" y="4507992"/>
            <a:ext cx="457200" cy="457200"/>
          </a:xfrm>
          <a:prstGeom prst="ellipse">
            <a:avLst/>
          </a:prstGeom>
          <a:solidFill>
            <a:srgbClr val="5145C7"/>
          </a:solidFill>
          <a:ln w="12700">
            <a:solidFill>
              <a:srgbClr val="333333"/>
            </a:solidFill>
            <a:prstDash val="solid"/>
          </a:ln>
        </p:spPr>
      </p:sp>
      <p:sp>
        <p:nvSpPr>
          <p:cNvPr id="18" name="Text 16"/>
          <p:cNvSpPr/>
          <p:nvPr/>
        </p:nvSpPr>
        <p:spPr>
          <a:xfrm>
            <a:off x="804672"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IV</a:t>
            </a:r>
            <a:endParaRPr lang="en-US" sz="1500" dirty="0"/>
          </a:p>
        </p:txBody>
      </p:sp>
      <p:sp>
        <p:nvSpPr>
          <p:cNvPr id="19" name="Text 17"/>
          <p:cNvSpPr/>
          <p:nvPr/>
        </p:nvSpPr>
        <p:spPr>
          <a:xfrm>
            <a:off x="1408176" y="4352544"/>
            <a:ext cx="4434840" cy="768096"/>
          </a:xfrm>
          <a:prstGeom prst="rect">
            <a:avLst/>
          </a:prstGeom>
          <a:noFill/>
          <a:ln/>
        </p:spPr>
        <p:txBody>
          <a:bodyPr wrap="square" lIns="0" tIns="0" rIns="0" bIns="0" rtlCol="0" anchor="ctr"/>
          <a:lstStyle/>
          <a:p>
            <a:pPr indent="0" marL="0">
              <a:buNone/>
            </a:pPr>
            <a:r>
              <a:rPr lang="en-US" sz="1350" b="1" dirty="0">
                <a:solidFill>
                  <a:srgbClr val="1E2340"/>
                </a:solidFill>
                <a:latin typeface="Calibri" pitchFamily="34" charset="0"/>
                <a:ea typeface="Calibri" pitchFamily="34" charset="-122"/>
                <a:cs typeface="Calibri" pitchFamily="34" charset="-120"/>
              </a:rPr>
              <a:t>Lead UC-5 walkthrough</a:t>
            </a:r>
            <a:endParaRPr lang="en-US" sz="1350" dirty="0"/>
          </a:p>
        </p:txBody>
      </p:sp>
      <p:sp>
        <p:nvSpPr>
          <p:cNvPr id="20" name="Shape 18"/>
          <p:cNvSpPr/>
          <p:nvPr/>
        </p:nvSpPr>
        <p:spPr>
          <a:xfrm>
            <a:off x="640080" y="5285232"/>
            <a:ext cx="5349240" cy="768096"/>
          </a:xfrm>
          <a:prstGeom prst="roundRect">
            <a:avLst>
              <a:gd name="adj" fmla="val 7143"/>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21" name="Shape 19"/>
          <p:cNvSpPr/>
          <p:nvPr/>
        </p:nvSpPr>
        <p:spPr>
          <a:xfrm>
            <a:off x="804672" y="5440680"/>
            <a:ext cx="457200" cy="457200"/>
          </a:xfrm>
          <a:prstGeom prst="ellipse">
            <a:avLst/>
          </a:prstGeom>
          <a:solidFill>
            <a:srgbClr val="5145C7"/>
          </a:solidFill>
          <a:ln w="12700">
            <a:solidFill>
              <a:srgbClr val="333333"/>
            </a:solidFill>
            <a:prstDash val="solid"/>
          </a:ln>
        </p:spPr>
      </p:sp>
      <p:sp>
        <p:nvSpPr>
          <p:cNvPr id="22" name="Text 20"/>
          <p:cNvSpPr/>
          <p:nvPr/>
        </p:nvSpPr>
        <p:spPr>
          <a:xfrm>
            <a:off x="804672" y="5440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V</a:t>
            </a:r>
            <a:endParaRPr lang="en-US" sz="1500" dirty="0"/>
          </a:p>
        </p:txBody>
      </p:sp>
      <p:sp>
        <p:nvSpPr>
          <p:cNvPr id="23" name="Text 21"/>
          <p:cNvSpPr/>
          <p:nvPr/>
        </p:nvSpPr>
        <p:spPr>
          <a:xfrm>
            <a:off x="1408176" y="5285232"/>
            <a:ext cx="4434840" cy="768096"/>
          </a:xfrm>
          <a:prstGeom prst="rect">
            <a:avLst/>
          </a:prstGeom>
          <a:noFill/>
          <a:ln/>
        </p:spPr>
        <p:txBody>
          <a:bodyPr wrap="square" lIns="0" tIns="0" rIns="0" bIns="0" rtlCol="0" anchor="ctr"/>
          <a:lstStyle/>
          <a:p>
            <a:pPr indent="0" marL="0">
              <a:buNone/>
            </a:pPr>
            <a:r>
              <a:rPr lang="en-US" sz="1350" b="1" dirty="0">
                <a:solidFill>
                  <a:srgbClr val="1E2340"/>
                </a:solidFill>
                <a:latin typeface="Calibri" pitchFamily="34" charset="0"/>
                <a:ea typeface="Calibri" pitchFamily="34" charset="-122"/>
                <a:cs typeface="Calibri" pitchFamily="34" charset="-120"/>
              </a:rPr>
              <a:t>Additional scenarios</a:t>
            </a:r>
            <a:endParaRPr lang="en-US" sz="1350" dirty="0"/>
          </a:p>
        </p:txBody>
      </p:sp>
      <p:sp>
        <p:nvSpPr>
          <p:cNvPr id="24" name="Shape 22"/>
          <p:cNvSpPr/>
          <p:nvPr/>
        </p:nvSpPr>
        <p:spPr>
          <a:xfrm>
            <a:off x="6309360" y="1554480"/>
            <a:ext cx="5349240" cy="768096"/>
          </a:xfrm>
          <a:prstGeom prst="roundRect">
            <a:avLst>
              <a:gd name="adj" fmla="val 7143"/>
            </a:avLst>
          </a:prstGeom>
          <a:solidFill>
            <a:srgbClr val="E4EFF7"/>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25" name="Shape 23"/>
          <p:cNvSpPr/>
          <p:nvPr/>
        </p:nvSpPr>
        <p:spPr>
          <a:xfrm>
            <a:off x="6473952" y="1709928"/>
            <a:ext cx="457200" cy="457200"/>
          </a:xfrm>
          <a:prstGeom prst="ellipse">
            <a:avLst/>
          </a:prstGeom>
          <a:solidFill>
            <a:srgbClr val="2B6CB0"/>
          </a:solidFill>
          <a:ln w="12700">
            <a:solidFill>
              <a:srgbClr val="333333"/>
            </a:solidFill>
            <a:prstDash val="solid"/>
          </a:ln>
        </p:spPr>
      </p:sp>
      <p:sp>
        <p:nvSpPr>
          <p:cNvPr id="26" name="Text 24"/>
          <p:cNvSpPr/>
          <p:nvPr/>
        </p:nvSpPr>
        <p:spPr>
          <a:xfrm>
            <a:off x="6473952" y="17099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VI</a:t>
            </a:r>
            <a:endParaRPr lang="en-US" sz="1500" dirty="0"/>
          </a:p>
        </p:txBody>
      </p:sp>
      <p:sp>
        <p:nvSpPr>
          <p:cNvPr id="27" name="Text 25"/>
          <p:cNvSpPr/>
          <p:nvPr/>
        </p:nvSpPr>
        <p:spPr>
          <a:xfrm>
            <a:off x="7077456" y="1554480"/>
            <a:ext cx="4434840" cy="768096"/>
          </a:xfrm>
          <a:prstGeom prst="rect">
            <a:avLst/>
          </a:prstGeom>
          <a:noFill/>
          <a:ln/>
        </p:spPr>
        <p:txBody>
          <a:bodyPr wrap="square" lIns="0" tIns="0" rIns="0" bIns="0" rtlCol="0" anchor="ctr"/>
          <a:lstStyle/>
          <a:p>
            <a:pPr indent="0" marL="0">
              <a:buNone/>
            </a:pPr>
            <a:r>
              <a:rPr lang="en-US" sz="1350" b="1" dirty="0">
                <a:solidFill>
                  <a:srgbClr val="1E2340"/>
                </a:solidFill>
                <a:latin typeface="Calibri" pitchFamily="34" charset="0"/>
                <a:ea typeface="Calibri" pitchFamily="34" charset="-122"/>
                <a:cs typeface="Calibri" pitchFamily="34" charset="-120"/>
              </a:rPr>
              <a:t>Full use-case portfolio</a:t>
            </a:r>
            <a:endParaRPr lang="en-US" sz="1350" dirty="0"/>
          </a:p>
        </p:txBody>
      </p:sp>
      <p:sp>
        <p:nvSpPr>
          <p:cNvPr id="28" name="Shape 26"/>
          <p:cNvSpPr/>
          <p:nvPr/>
        </p:nvSpPr>
        <p:spPr>
          <a:xfrm>
            <a:off x="6309360" y="2487168"/>
            <a:ext cx="5349240" cy="768096"/>
          </a:xfrm>
          <a:prstGeom prst="roundRect">
            <a:avLst>
              <a:gd name="adj" fmla="val 7143"/>
            </a:avLst>
          </a:prstGeom>
          <a:solidFill>
            <a:srgbClr val="E4EFF7"/>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29" name="Shape 27"/>
          <p:cNvSpPr/>
          <p:nvPr/>
        </p:nvSpPr>
        <p:spPr>
          <a:xfrm>
            <a:off x="6473952" y="2642616"/>
            <a:ext cx="457200" cy="457200"/>
          </a:xfrm>
          <a:prstGeom prst="ellipse">
            <a:avLst/>
          </a:prstGeom>
          <a:solidFill>
            <a:srgbClr val="2B6CB0"/>
          </a:solidFill>
          <a:ln w="12700">
            <a:solidFill>
              <a:srgbClr val="333333"/>
            </a:solidFill>
            <a:prstDash val="solid"/>
          </a:ln>
        </p:spPr>
      </p:sp>
      <p:sp>
        <p:nvSpPr>
          <p:cNvPr id="30" name="Text 28"/>
          <p:cNvSpPr/>
          <p:nvPr/>
        </p:nvSpPr>
        <p:spPr>
          <a:xfrm>
            <a:off x="6473952" y="26426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VII</a:t>
            </a:r>
            <a:endParaRPr lang="en-US" sz="1500" dirty="0"/>
          </a:p>
        </p:txBody>
      </p:sp>
      <p:sp>
        <p:nvSpPr>
          <p:cNvPr id="31" name="Text 29"/>
          <p:cNvSpPr/>
          <p:nvPr/>
        </p:nvSpPr>
        <p:spPr>
          <a:xfrm>
            <a:off x="7077456" y="2487168"/>
            <a:ext cx="4434840" cy="768096"/>
          </a:xfrm>
          <a:prstGeom prst="rect">
            <a:avLst/>
          </a:prstGeom>
          <a:noFill/>
          <a:ln/>
        </p:spPr>
        <p:txBody>
          <a:bodyPr wrap="square" lIns="0" tIns="0" rIns="0" bIns="0" rtlCol="0" anchor="ctr"/>
          <a:lstStyle/>
          <a:p>
            <a:pPr indent="0" marL="0">
              <a:buNone/>
            </a:pPr>
            <a:r>
              <a:rPr lang="en-US" sz="1350" b="1" dirty="0">
                <a:solidFill>
                  <a:srgbClr val="1E2340"/>
                </a:solidFill>
                <a:latin typeface="Calibri" pitchFamily="34" charset="0"/>
                <a:ea typeface="Calibri" pitchFamily="34" charset="-122"/>
                <a:cs typeface="Calibri" pitchFamily="34" charset="-120"/>
              </a:rPr>
              <a:t>Honest overlap &amp; differentiation</a:t>
            </a:r>
            <a:endParaRPr lang="en-US" sz="1350" dirty="0"/>
          </a:p>
        </p:txBody>
      </p:sp>
      <p:sp>
        <p:nvSpPr>
          <p:cNvPr id="32" name="Shape 30"/>
          <p:cNvSpPr/>
          <p:nvPr/>
        </p:nvSpPr>
        <p:spPr>
          <a:xfrm>
            <a:off x="6309360" y="3419856"/>
            <a:ext cx="5349240" cy="768096"/>
          </a:xfrm>
          <a:prstGeom prst="roundRect">
            <a:avLst>
              <a:gd name="adj" fmla="val 7143"/>
            </a:avLst>
          </a:prstGeom>
          <a:solidFill>
            <a:srgbClr val="E4EFF7"/>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33" name="Shape 31"/>
          <p:cNvSpPr/>
          <p:nvPr/>
        </p:nvSpPr>
        <p:spPr>
          <a:xfrm>
            <a:off x="6473952" y="3575304"/>
            <a:ext cx="457200" cy="457200"/>
          </a:xfrm>
          <a:prstGeom prst="ellipse">
            <a:avLst/>
          </a:prstGeom>
          <a:solidFill>
            <a:srgbClr val="2B6CB0"/>
          </a:solidFill>
          <a:ln w="12700">
            <a:solidFill>
              <a:srgbClr val="333333"/>
            </a:solidFill>
            <a:prstDash val="solid"/>
          </a:ln>
        </p:spPr>
      </p:sp>
      <p:sp>
        <p:nvSpPr>
          <p:cNvPr id="34" name="Text 32"/>
          <p:cNvSpPr/>
          <p:nvPr/>
        </p:nvSpPr>
        <p:spPr>
          <a:xfrm>
            <a:off x="6473952" y="35753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VIII</a:t>
            </a:r>
            <a:endParaRPr lang="en-US" sz="1500" dirty="0"/>
          </a:p>
        </p:txBody>
      </p:sp>
      <p:sp>
        <p:nvSpPr>
          <p:cNvPr id="35" name="Text 33"/>
          <p:cNvSpPr/>
          <p:nvPr/>
        </p:nvSpPr>
        <p:spPr>
          <a:xfrm>
            <a:off x="7077456" y="3419856"/>
            <a:ext cx="4434840" cy="768096"/>
          </a:xfrm>
          <a:prstGeom prst="rect">
            <a:avLst/>
          </a:prstGeom>
          <a:noFill/>
          <a:ln/>
        </p:spPr>
        <p:txBody>
          <a:bodyPr wrap="square" lIns="0" tIns="0" rIns="0" bIns="0" rtlCol="0" anchor="ctr"/>
          <a:lstStyle/>
          <a:p>
            <a:pPr indent="0" marL="0">
              <a:buNone/>
            </a:pPr>
            <a:r>
              <a:rPr lang="en-US" sz="1350" b="1" dirty="0">
                <a:solidFill>
                  <a:srgbClr val="1E2340"/>
                </a:solidFill>
                <a:latin typeface="Calibri" pitchFamily="34" charset="0"/>
                <a:ea typeface="Calibri" pitchFamily="34" charset="-122"/>
                <a:cs typeface="Calibri" pitchFamily="34" charset="-120"/>
              </a:rPr>
              <a:t>Enterprise Governed Value</a:t>
            </a:r>
            <a:endParaRPr lang="en-US" sz="1350" dirty="0"/>
          </a:p>
        </p:txBody>
      </p:sp>
      <p:sp>
        <p:nvSpPr>
          <p:cNvPr id="36" name="Shape 34"/>
          <p:cNvSpPr/>
          <p:nvPr/>
        </p:nvSpPr>
        <p:spPr>
          <a:xfrm>
            <a:off x="6309360" y="4352544"/>
            <a:ext cx="5349240" cy="768096"/>
          </a:xfrm>
          <a:prstGeom prst="roundRect">
            <a:avLst>
              <a:gd name="adj" fmla="val 7143"/>
            </a:avLst>
          </a:prstGeom>
          <a:solidFill>
            <a:srgbClr val="E4EFF7"/>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37" name="Shape 35"/>
          <p:cNvSpPr/>
          <p:nvPr/>
        </p:nvSpPr>
        <p:spPr>
          <a:xfrm>
            <a:off x="6473952" y="4507992"/>
            <a:ext cx="457200" cy="457200"/>
          </a:xfrm>
          <a:prstGeom prst="ellipse">
            <a:avLst/>
          </a:prstGeom>
          <a:solidFill>
            <a:srgbClr val="2B6CB0"/>
          </a:solidFill>
          <a:ln w="12700">
            <a:solidFill>
              <a:srgbClr val="333333"/>
            </a:solidFill>
            <a:prstDash val="solid"/>
          </a:ln>
        </p:spPr>
      </p:sp>
      <p:sp>
        <p:nvSpPr>
          <p:cNvPr id="38" name="Text 36"/>
          <p:cNvSpPr/>
          <p:nvPr/>
        </p:nvSpPr>
        <p:spPr>
          <a:xfrm>
            <a:off x="6473952"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IX</a:t>
            </a:r>
            <a:endParaRPr lang="en-US" sz="1500" dirty="0"/>
          </a:p>
        </p:txBody>
      </p:sp>
      <p:sp>
        <p:nvSpPr>
          <p:cNvPr id="39" name="Text 37"/>
          <p:cNvSpPr/>
          <p:nvPr/>
        </p:nvSpPr>
        <p:spPr>
          <a:xfrm>
            <a:off x="7077456" y="4352544"/>
            <a:ext cx="4434840" cy="768096"/>
          </a:xfrm>
          <a:prstGeom prst="rect">
            <a:avLst/>
          </a:prstGeom>
          <a:noFill/>
          <a:ln/>
        </p:spPr>
        <p:txBody>
          <a:bodyPr wrap="square" lIns="0" tIns="0" rIns="0" bIns="0" rtlCol="0" anchor="ctr"/>
          <a:lstStyle/>
          <a:p>
            <a:pPr indent="0" marL="0">
              <a:buNone/>
            </a:pPr>
            <a:r>
              <a:rPr lang="en-US" sz="1350" b="1" dirty="0">
                <a:solidFill>
                  <a:srgbClr val="1E2340"/>
                </a:solidFill>
                <a:latin typeface="Calibri" pitchFamily="34" charset="0"/>
                <a:ea typeface="Calibri" pitchFamily="34" charset="-122"/>
                <a:cs typeface="Calibri" pitchFamily="34" charset="-120"/>
              </a:rPr>
              <a:t>Pilot proposal</a:t>
            </a:r>
            <a:endParaRPr lang="en-US" sz="1350" dirty="0"/>
          </a:p>
        </p:txBody>
      </p:sp>
      <p:sp>
        <p:nvSpPr>
          <p:cNvPr id="40" name="Shape 38"/>
          <p:cNvSpPr/>
          <p:nvPr/>
        </p:nvSpPr>
        <p:spPr>
          <a:xfrm>
            <a:off x="6309360" y="5285232"/>
            <a:ext cx="5349240" cy="768096"/>
          </a:xfrm>
          <a:prstGeom prst="roundRect">
            <a:avLst>
              <a:gd name="adj" fmla="val 7143"/>
            </a:avLst>
          </a:prstGeom>
          <a:solidFill>
            <a:srgbClr val="E4EFF7"/>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41" name="Shape 39"/>
          <p:cNvSpPr/>
          <p:nvPr/>
        </p:nvSpPr>
        <p:spPr>
          <a:xfrm>
            <a:off x="6473952" y="5440680"/>
            <a:ext cx="457200" cy="457200"/>
          </a:xfrm>
          <a:prstGeom prst="ellipse">
            <a:avLst/>
          </a:prstGeom>
          <a:solidFill>
            <a:srgbClr val="2B6CB0"/>
          </a:solidFill>
          <a:ln w="12700">
            <a:solidFill>
              <a:srgbClr val="333333"/>
            </a:solidFill>
            <a:prstDash val="solid"/>
          </a:ln>
        </p:spPr>
      </p:sp>
      <p:sp>
        <p:nvSpPr>
          <p:cNvPr id="42" name="Text 40"/>
          <p:cNvSpPr/>
          <p:nvPr/>
        </p:nvSpPr>
        <p:spPr>
          <a:xfrm>
            <a:off x="6473952" y="5440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X</a:t>
            </a:r>
            <a:endParaRPr lang="en-US" sz="1500" dirty="0"/>
          </a:p>
        </p:txBody>
      </p:sp>
      <p:sp>
        <p:nvSpPr>
          <p:cNvPr id="43" name="Text 41"/>
          <p:cNvSpPr/>
          <p:nvPr/>
        </p:nvSpPr>
        <p:spPr>
          <a:xfrm>
            <a:off x="7077456" y="5285232"/>
            <a:ext cx="4434840" cy="768096"/>
          </a:xfrm>
          <a:prstGeom prst="rect">
            <a:avLst/>
          </a:prstGeom>
          <a:noFill/>
          <a:ln/>
        </p:spPr>
        <p:txBody>
          <a:bodyPr wrap="square" lIns="0" tIns="0" rIns="0" bIns="0" rtlCol="0" anchor="ctr"/>
          <a:lstStyle/>
          <a:p>
            <a:pPr indent="0" marL="0">
              <a:buNone/>
            </a:pPr>
            <a:r>
              <a:rPr lang="en-US" sz="1350" b="1" dirty="0">
                <a:solidFill>
                  <a:srgbClr val="1E2340"/>
                </a:solidFill>
                <a:latin typeface="Calibri" pitchFamily="34" charset="0"/>
                <a:ea typeface="Calibri" pitchFamily="34" charset="-122"/>
                <a:cs typeface="Calibri" pitchFamily="34" charset="-120"/>
              </a:rPr>
              <a:t>Discovery &amp; next step</a:t>
            </a:r>
            <a:endParaRPr lang="en-US" sz="1350" dirty="0"/>
          </a:p>
        </p:txBody>
      </p:sp>
      <p:sp>
        <p:nvSpPr>
          <p:cNvPr id="44" name="Text 42"/>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Meeting spine: sections I, IV, IX and X. Sections II, III and V–VIII are supporting architecture and use-case reference. Every content slide is numbered for direct navigation.</a:t>
            </a:r>
            <a:endParaRPr lang="en-US" sz="850" dirty="0"/>
          </a:p>
        </p:txBody>
      </p:sp>
      <p:sp>
        <p:nvSpPr>
          <p:cNvPr id="46" name="Text 43"/>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I</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Executive framing</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The problem, the discovery questions, what ServiceNow provides, and the partnership boundary</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THE ENTERPRISE PROBLEM</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When an AI agent acts, can you prove it stayed in bounds?</a:t>
            </a:r>
            <a:endParaRPr lang="en-US" sz="2600" dirty="0"/>
          </a:p>
        </p:txBody>
      </p:sp>
      <p:sp>
        <p:nvSpPr>
          <p:cNvPr id="4" name="Shape 2"/>
          <p:cNvSpPr/>
          <p:nvPr/>
        </p:nvSpPr>
        <p:spPr>
          <a:xfrm>
            <a:off x="548640" y="1325880"/>
            <a:ext cx="11064240" cy="1051560"/>
          </a:xfrm>
          <a:prstGeom prst="roundRect">
            <a:avLst>
              <a:gd name="adj" fmla="val 6957"/>
            </a:avLst>
          </a:prstGeom>
          <a:solidFill>
            <a:srgbClr val="ECEAFB"/>
          </a:solidFill>
          <a:ln w="15875">
            <a:solidFill>
              <a:srgbClr val="5145C7"/>
            </a:solidFill>
            <a:prstDash val="solid"/>
          </a:ln>
        </p:spPr>
      </p:sp>
      <p:sp>
        <p:nvSpPr>
          <p:cNvPr id="5" name="Text 3"/>
          <p:cNvSpPr/>
          <p:nvPr/>
        </p:nvSpPr>
        <p:spPr>
          <a:xfrm>
            <a:off x="822960" y="1371600"/>
            <a:ext cx="10515600" cy="960120"/>
          </a:xfrm>
          <a:prstGeom prst="rect">
            <a:avLst/>
          </a:prstGeom>
          <a:noFill/>
          <a:ln/>
        </p:spPr>
        <p:txBody>
          <a:bodyPr wrap="square" rtlCol="0" anchor="ctr"/>
          <a:lstStyle/>
          <a:p>
            <a:pPr indent="0" marL="0">
              <a:lnSpc>
                <a:spcPct val="105000"/>
              </a:lnSpc>
              <a:buNone/>
            </a:pPr>
            <a:r>
              <a:rPr lang="en-US" sz="1650" b="1" i="1" dirty="0">
                <a:solidFill>
                  <a:srgbClr val="2A2170"/>
                </a:solidFill>
                <a:latin typeface="Cambria" pitchFamily="34" charset="0"/>
                <a:ea typeface="Cambria" pitchFamily="34" charset="-122"/>
                <a:cs typeface="Cambria" pitchFamily="34" charset="-120"/>
              </a:rPr>
              <a:t>“When an AI agent takes a consequential action, how can the enterprise prove that this exact action was authorized, remained safe at execution time, and produced only the intended effect?”</a:t>
            </a:r>
            <a:endParaRPr lang="en-US" sz="1650" dirty="0"/>
          </a:p>
        </p:txBody>
      </p:sp>
      <p:sp>
        <p:nvSpPr>
          <p:cNvPr id="6" name="Shape 4"/>
          <p:cNvSpPr/>
          <p:nvPr/>
        </p:nvSpPr>
        <p:spPr>
          <a:xfrm>
            <a:off x="548640" y="2697480"/>
            <a:ext cx="3474720" cy="1874520"/>
          </a:xfrm>
          <a:prstGeom prst="roundRect">
            <a:avLst>
              <a:gd name="adj" fmla="val 2927"/>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7" name="Text 5"/>
          <p:cNvSpPr/>
          <p:nvPr/>
        </p:nvSpPr>
        <p:spPr>
          <a:xfrm>
            <a:off x="713232" y="2807208"/>
            <a:ext cx="3145536" cy="310896"/>
          </a:xfrm>
          <a:prstGeom prst="rect">
            <a:avLst/>
          </a:prstGeom>
          <a:noFill/>
          <a:ln/>
        </p:spPr>
        <p:txBody>
          <a:bodyPr wrap="square" lIns="0" tIns="0" rIns="0" bIns="0" rtlCol="0" anchor="ctr"/>
          <a:lstStyle/>
          <a:p>
            <a:pPr algn="l" indent="0" marL="0">
              <a:buNone/>
            </a:pPr>
            <a:r>
              <a:rPr lang="en-US" sz="1250" b="1" dirty="0">
                <a:solidFill>
                  <a:srgbClr val="7A2016"/>
                </a:solidFill>
                <a:latin typeface="Calibri" pitchFamily="34" charset="0"/>
                <a:ea typeface="Calibri" pitchFamily="34" charset="-122"/>
                <a:cs typeface="Calibri" pitchFamily="34" charset="-120"/>
              </a:rPr>
              <a:t>1.  Wrong target</a:t>
            </a:r>
            <a:endParaRPr lang="en-US" sz="1250" dirty="0"/>
          </a:p>
        </p:txBody>
      </p:sp>
      <p:sp>
        <p:nvSpPr>
          <p:cNvPr id="8" name="Text 6"/>
          <p:cNvSpPr/>
          <p:nvPr/>
        </p:nvSpPr>
        <p:spPr>
          <a:xfrm>
            <a:off x="713232" y="3154680"/>
            <a:ext cx="3145536" cy="1307592"/>
          </a:xfrm>
          <a:prstGeom prst="rect">
            <a:avLst/>
          </a:prstGeom>
          <a:noFill/>
          <a:ln/>
        </p:spPr>
        <p:txBody>
          <a:bodyPr wrap="square" lIns="0" tIns="0" rIns="0" bIns="0" rtlCol="0" anchor="t"/>
          <a:lstStyle/>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The agent acts on the wrong system, resource, or record — a valid-looking action pointed at the wrong place.</a:t>
            </a:r>
            <a:endParaRPr lang="en-US" sz="1100" dirty="0"/>
          </a:p>
        </p:txBody>
      </p:sp>
      <p:sp>
        <p:nvSpPr>
          <p:cNvPr id="9" name="Shape 7"/>
          <p:cNvSpPr/>
          <p:nvPr/>
        </p:nvSpPr>
        <p:spPr>
          <a:xfrm>
            <a:off x="4270248" y="2697480"/>
            <a:ext cx="3474720" cy="1874520"/>
          </a:xfrm>
          <a:prstGeom prst="roundRect">
            <a:avLst>
              <a:gd name="adj" fmla="val 2927"/>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0" name="Text 8"/>
          <p:cNvSpPr/>
          <p:nvPr/>
        </p:nvSpPr>
        <p:spPr>
          <a:xfrm>
            <a:off x="4434840" y="2807208"/>
            <a:ext cx="3145536" cy="310896"/>
          </a:xfrm>
          <a:prstGeom prst="rect">
            <a:avLst/>
          </a:prstGeom>
          <a:noFill/>
          <a:ln/>
        </p:spPr>
        <p:txBody>
          <a:bodyPr wrap="square" lIns="0" tIns="0" rIns="0" bIns="0" rtlCol="0" anchor="ctr"/>
          <a:lstStyle/>
          <a:p>
            <a:pPr algn="l" indent="0" marL="0">
              <a:buNone/>
            </a:pPr>
            <a:r>
              <a:rPr lang="en-US" sz="1250" b="1" dirty="0">
                <a:solidFill>
                  <a:srgbClr val="7A2016"/>
                </a:solidFill>
                <a:latin typeface="Calibri" pitchFamily="34" charset="0"/>
                <a:ea typeface="Calibri" pitchFamily="34" charset="-122"/>
                <a:cs typeface="Calibri" pitchFamily="34" charset="-120"/>
              </a:rPr>
              <a:t>2.  Conditions change</a:t>
            </a:r>
            <a:endParaRPr lang="en-US" sz="1250" dirty="0"/>
          </a:p>
        </p:txBody>
      </p:sp>
      <p:sp>
        <p:nvSpPr>
          <p:cNvPr id="11" name="Text 9"/>
          <p:cNvSpPr/>
          <p:nvPr/>
        </p:nvSpPr>
        <p:spPr>
          <a:xfrm>
            <a:off x="4434840" y="3154680"/>
            <a:ext cx="3145536" cy="1307592"/>
          </a:xfrm>
          <a:prstGeom prst="rect">
            <a:avLst/>
          </a:prstGeom>
          <a:noFill/>
          <a:ln/>
        </p:spPr>
        <p:txBody>
          <a:bodyPr wrap="square" lIns="0" tIns="0" rIns="0" bIns="0" rtlCol="0" anchor="t"/>
          <a:lstStyle/>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Time passes between approval and execution; a freeze begins, a dependency degrades, cost limits shift.</a:t>
            </a:r>
            <a:endParaRPr lang="en-US" sz="1100" dirty="0"/>
          </a:p>
        </p:txBody>
      </p:sp>
      <p:sp>
        <p:nvSpPr>
          <p:cNvPr id="12" name="Shape 10"/>
          <p:cNvSpPr/>
          <p:nvPr/>
        </p:nvSpPr>
        <p:spPr>
          <a:xfrm>
            <a:off x="7991856" y="2697480"/>
            <a:ext cx="3474720" cy="1874520"/>
          </a:xfrm>
          <a:prstGeom prst="roundRect">
            <a:avLst>
              <a:gd name="adj" fmla="val 2927"/>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3" name="Text 11"/>
          <p:cNvSpPr/>
          <p:nvPr/>
        </p:nvSpPr>
        <p:spPr>
          <a:xfrm>
            <a:off x="8156448" y="2807208"/>
            <a:ext cx="3145536" cy="310896"/>
          </a:xfrm>
          <a:prstGeom prst="rect">
            <a:avLst/>
          </a:prstGeom>
          <a:noFill/>
          <a:ln/>
        </p:spPr>
        <p:txBody>
          <a:bodyPr wrap="square" lIns="0" tIns="0" rIns="0" bIns="0" rtlCol="0" anchor="ctr"/>
          <a:lstStyle/>
          <a:p>
            <a:pPr algn="l" indent="0" marL="0">
              <a:buNone/>
            </a:pPr>
            <a:r>
              <a:rPr lang="en-US" sz="1250" b="1" dirty="0">
                <a:solidFill>
                  <a:srgbClr val="7A2016"/>
                </a:solidFill>
                <a:latin typeface="Calibri" pitchFamily="34" charset="0"/>
                <a:ea typeface="Calibri" pitchFamily="34" charset="-122"/>
                <a:cs typeface="Calibri" pitchFamily="34" charset="-120"/>
              </a:rPr>
              <a:t>3.  Effect ≠ record</a:t>
            </a:r>
            <a:endParaRPr lang="en-US" sz="1250" dirty="0"/>
          </a:p>
        </p:txBody>
      </p:sp>
      <p:sp>
        <p:nvSpPr>
          <p:cNvPr id="14" name="Text 12"/>
          <p:cNvSpPr/>
          <p:nvPr/>
        </p:nvSpPr>
        <p:spPr>
          <a:xfrm>
            <a:off x="8156448" y="3154680"/>
            <a:ext cx="3145536" cy="1307592"/>
          </a:xfrm>
          <a:prstGeom prst="rect">
            <a:avLst/>
          </a:prstGeom>
          <a:noFill/>
          <a:ln/>
        </p:spPr>
        <p:txBody>
          <a:bodyPr wrap="square" lIns="0" tIns="0" rIns="0" bIns="0" rtlCol="0" anchor="t"/>
          <a:lstStyle/>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What actually happened in the environment does not match what the record says was authorized.</a:t>
            </a:r>
            <a:endParaRPr lang="en-US" sz="1100" dirty="0"/>
          </a:p>
        </p:txBody>
      </p:sp>
      <p:sp>
        <p:nvSpPr>
          <p:cNvPr id="15" name="Shape 13"/>
          <p:cNvSpPr/>
          <p:nvPr/>
        </p:nvSpPr>
        <p:spPr>
          <a:xfrm>
            <a:off x="548640" y="4892040"/>
            <a:ext cx="11064240" cy="1280160"/>
          </a:xfrm>
          <a:prstGeom prst="roundRect">
            <a:avLst>
              <a:gd name="adj" fmla="val 5714"/>
            </a:avLst>
          </a:prstGeom>
          <a:solidFill>
            <a:srgbClr val="EEF1F4"/>
          </a:solidFill>
          <a:ln w="12700">
            <a:solidFill>
              <a:srgbClr val="D8DEE9"/>
            </a:solidFill>
            <a:prstDash val="solid"/>
          </a:ln>
        </p:spPr>
      </p:sp>
      <p:sp>
        <p:nvSpPr>
          <p:cNvPr id="16" name="Text 14"/>
          <p:cNvSpPr/>
          <p:nvPr/>
        </p:nvSpPr>
        <p:spPr>
          <a:xfrm>
            <a:off x="822960" y="4983480"/>
            <a:ext cx="10515600" cy="1097280"/>
          </a:xfrm>
          <a:prstGeom prst="rect">
            <a:avLst/>
          </a:prstGeom>
          <a:noFill/>
          <a:ln/>
        </p:spPr>
        <p:txBody>
          <a:bodyPr wrap="square" rtlCol="0" anchor="ctr"/>
          <a:lstStyle/>
          <a:p>
            <a:pPr indent="0" marL="0">
              <a:lnSpc>
                <a:spcPct val="108000"/>
              </a:lnSpc>
              <a:buNone/>
            </a:pPr>
            <a:r>
              <a:rPr lang="en-US" sz="1200" b="1" dirty="0">
                <a:solidFill>
                  <a:srgbClr val="1E2340"/>
                </a:solidFill>
                <a:latin typeface="Calibri" pitchFamily="34" charset="0"/>
                <a:ea typeface="Calibri" pitchFamily="34" charset="-122"/>
                <a:cs typeface="Calibri" pitchFamily="34" charset="-120"/>
              </a:rPr>
              <a:t>A simple business example.  </a:t>
            </a:r>
            <a:pPr indent="0" marL="0">
              <a:lnSpc>
                <a:spcPct val="108000"/>
              </a:lnSpc>
              <a:buNone/>
            </a:pPr>
            <a:r>
              <a:rPr lang="en-US" sz="1200" dirty="0">
                <a:solidFill>
                  <a:srgbClr val="1E2340"/>
                </a:solidFill>
                <a:latin typeface="Calibri" pitchFamily="34" charset="0"/>
                <a:ea typeface="Calibri" pitchFamily="34" charset="-122"/>
                <a:cs typeface="Calibri" pitchFamily="34" charset="-120"/>
              </a:rPr>
              <a:t>An AI operations agent believes the online-checkout service needs more capacity. Scaling may prevent an outage — but scaling the wrong cluster, on stale information, during a change freeze, or past the approved cost ceiling could raise cost or disrupt another service. The enterprise wants the speed of autonomy AND proof that the change that ran is the one that was approved, for the target approved, at a moment that was safe.</a:t>
            </a:r>
            <a:endParaRPr lang="en-US" sz="1200" dirty="0"/>
          </a:p>
        </p:txBody>
      </p:sp>
      <p:sp>
        <p:nvSpPr>
          <p:cNvPr id="18" name="Text 15"/>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EXECUTIVE FRAMING</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Why an ordinary approval may not be enough — as questions, not claims</a:t>
            </a:r>
            <a:endParaRPr lang="en-US" sz="2600" dirty="0"/>
          </a:p>
        </p:txBody>
      </p:sp>
      <p:sp>
        <p:nvSpPr>
          <p:cNvPr id="4" name="Shape 2"/>
          <p:cNvSpPr/>
          <p:nvPr/>
        </p:nvSpPr>
        <p:spPr>
          <a:xfrm>
            <a:off x="548640" y="1417320"/>
            <a:ext cx="5440680" cy="1280160"/>
          </a:xfrm>
          <a:prstGeom prst="roundRect">
            <a:avLst>
              <a:gd name="adj" fmla="val 4286"/>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Shape 3"/>
          <p:cNvSpPr/>
          <p:nvPr/>
        </p:nvSpPr>
        <p:spPr>
          <a:xfrm>
            <a:off x="731520" y="1600200"/>
            <a:ext cx="457200" cy="457200"/>
          </a:xfrm>
          <a:prstGeom prst="ellipse">
            <a:avLst/>
          </a:prstGeom>
          <a:solidFill>
            <a:srgbClr val="5145C7"/>
          </a:solidFill>
          <a:ln w="12700">
            <a:solidFill>
              <a:srgbClr val="333333"/>
            </a:solidFill>
            <a:prstDash val="solid"/>
          </a:ln>
        </p:spPr>
      </p:sp>
      <p:sp>
        <p:nvSpPr>
          <p:cNvPr id="6" name="Text 4"/>
          <p:cNvSpPr/>
          <p:nvPr/>
        </p:nvSpPr>
        <p:spPr>
          <a:xfrm>
            <a:off x="731520" y="1600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1325880" y="1527048"/>
            <a:ext cx="4526280" cy="1060704"/>
          </a:xfrm>
          <a:prstGeom prst="rect">
            <a:avLst/>
          </a:prstGeom>
          <a:noFill/>
          <a:ln/>
        </p:spPr>
        <p:txBody>
          <a:bodyPr wrap="square" lIns="0" tIns="0" rIns="0" bIns="0" rtlCol="0" anchor="ctr"/>
          <a:lstStyle/>
          <a:p>
            <a:pPr indent="0" marL="0">
              <a:lnSpc>
                <a:spcPct val="105000"/>
              </a:lnSpc>
              <a:buNone/>
            </a:pPr>
            <a:r>
              <a:rPr lang="en-US" sz="1250" dirty="0">
                <a:solidFill>
                  <a:srgbClr val="1E2340"/>
                </a:solidFill>
                <a:latin typeface="Calibri" pitchFamily="34" charset="0"/>
                <a:ea typeface="Calibri" pitchFamily="34" charset="-122"/>
                <a:cs typeface="Calibri" pitchFamily="34" charset="-120"/>
              </a:rPr>
              <a:t>Was the approval for this exact target and payload — or for a class of action?</a:t>
            </a:r>
            <a:endParaRPr lang="en-US" sz="1250" dirty="0"/>
          </a:p>
        </p:txBody>
      </p:sp>
      <p:sp>
        <p:nvSpPr>
          <p:cNvPr id="8" name="Shape 6"/>
          <p:cNvSpPr/>
          <p:nvPr/>
        </p:nvSpPr>
        <p:spPr>
          <a:xfrm>
            <a:off x="6172200" y="1417320"/>
            <a:ext cx="5440680" cy="1280160"/>
          </a:xfrm>
          <a:prstGeom prst="roundRect">
            <a:avLst>
              <a:gd name="adj" fmla="val 4286"/>
            </a:avLst>
          </a:prstGeom>
          <a:solidFill>
            <a:srgbClr val="E4EFF7"/>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9" name="Shape 7"/>
          <p:cNvSpPr/>
          <p:nvPr/>
        </p:nvSpPr>
        <p:spPr>
          <a:xfrm>
            <a:off x="6355080" y="1600200"/>
            <a:ext cx="457200" cy="457200"/>
          </a:xfrm>
          <a:prstGeom prst="ellipse">
            <a:avLst/>
          </a:prstGeom>
          <a:solidFill>
            <a:srgbClr val="2B6CB0"/>
          </a:solidFill>
          <a:ln w="12700">
            <a:solidFill>
              <a:srgbClr val="333333"/>
            </a:solidFill>
            <a:prstDash val="solid"/>
          </a:ln>
        </p:spPr>
      </p:sp>
      <p:sp>
        <p:nvSpPr>
          <p:cNvPr id="10" name="Text 8"/>
          <p:cNvSpPr/>
          <p:nvPr/>
        </p:nvSpPr>
        <p:spPr>
          <a:xfrm>
            <a:off x="6355080" y="1600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1" name="Text 9"/>
          <p:cNvSpPr/>
          <p:nvPr/>
        </p:nvSpPr>
        <p:spPr>
          <a:xfrm>
            <a:off x="6949440" y="1527048"/>
            <a:ext cx="4526280" cy="1060704"/>
          </a:xfrm>
          <a:prstGeom prst="rect">
            <a:avLst/>
          </a:prstGeom>
          <a:noFill/>
          <a:ln/>
        </p:spPr>
        <p:txBody>
          <a:bodyPr wrap="square" lIns="0" tIns="0" rIns="0" bIns="0" rtlCol="0" anchor="ctr"/>
          <a:lstStyle/>
          <a:p>
            <a:pPr indent="0" marL="0">
              <a:lnSpc>
                <a:spcPct val="105000"/>
              </a:lnSpc>
              <a:buNone/>
            </a:pPr>
            <a:r>
              <a:rPr lang="en-US" sz="1250" dirty="0">
                <a:solidFill>
                  <a:srgbClr val="1E2340"/>
                </a:solidFill>
                <a:latin typeface="Calibri" pitchFamily="34" charset="0"/>
                <a:ea typeface="Calibri" pitchFamily="34" charset="-122"/>
                <a:cs typeface="Calibri" pitchFamily="34" charset="-120"/>
              </a:rPr>
              <a:t>Is the approval still valid at the moment of execution?</a:t>
            </a:r>
            <a:endParaRPr lang="en-US" sz="1250" dirty="0"/>
          </a:p>
        </p:txBody>
      </p:sp>
      <p:sp>
        <p:nvSpPr>
          <p:cNvPr id="12" name="Shape 10"/>
          <p:cNvSpPr/>
          <p:nvPr/>
        </p:nvSpPr>
        <p:spPr>
          <a:xfrm>
            <a:off x="548640" y="2898648"/>
            <a:ext cx="5440680" cy="1280160"/>
          </a:xfrm>
          <a:prstGeom prst="roundRect">
            <a:avLst>
              <a:gd name="adj" fmla="val 4286"/>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13" name="Shape 11"/>
          <p:cNvSpPr/>
          <p:nvPr/>
        </p:nvSpPr>
        <p:spPr>
          <a:xfrm>
            <a:off x="731520" y="3081528"/>
            <a:ext cx="457200" cy="457200"/>
          </a:xfrm>
          <a:prstGeom prst="ellipse">
            <a:avLst/>
          </a:prstGeom>
          <a:solidFill>
            <a:srgbClr val="5145C7"/>
          </a:solidFill>
          <a:ln w="12700">
            <a:solidFill>
              <a:srgbClr val="333333"/>
            </a:solidFill>
            <a:prstDash val="solid"/>
          </a:ln>
        </p:spPr>
      </p:sp>
      <p:sp>
        <p:nvSpPr>
          <p:cNvPr id="14" name="Text 12"/>
          <p:cNvSpPr/>
          <p:nvPr/>
        </p:nvSpPr>
        <p:spPr>
          <a:xfrm>
            <a:off x="731520" y="30815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5" name="Text 13"/>
          <p:cNvSpPr/>
          <p:nvPr/>
        </p:nvSpPr>
        <p:spPr>
          <a:xfrm>
            <a:off x="1325880" y="3008376"/>
            <a:ext cx="4526280" cy="1060704"/>
          </a:xfrm>
          <a:prstGeom prst="rect">
            <a:avLst/>
          </a:prstGeom>
          <a:noFill/>
          <a:ln/>
        </p:spPr>
        <p:txBody>
          <a:bodyPr wrap="square" lIns="0" tIns="0" rIns="0" bIns="0" rtlCol="0" anchor="ctr"/>
          <a:lstStyle/>
          <a:p>
            <a:pPr indent="0" marL="0">
              <a:lnSpc>
                <a:spcPct val="105000"/>
              </a:lnSpc>
              <a:buNone/>
            </a:pPr>
            <a:r>
              <a:rPr lang="en-US" sz="1250" dirty="0">
                <a:solidFill>
                  <a:srgbClr val="1E2340"/>
                </a:solidFill>
                <a:latin typeface="Calibri" pitchFamily="34" charset="0"/>
                <a:ea typeface="Calibri" pitchFamily="34" charset="-122"/>
                <a:cs typeface="Calibri" pitchFamily="34" charset="-120"/>
              </a:rPr>
              <a:t>Did the proposed action or payload change after approval?</a:t>
            </a:r>
            <a:endParaRPr lang="en-US" sz="1250" dirty="0"/>
          </a:p>
        </p:txBody>
      </p:sp>
      <p:sp>
        <p:nvSpPr>
          <p:cNvPr id="16" name="Shape 14"/>
          <p:cNvSpPr/>
          <p:nvPr/>
        </p:nvSpPr>
        <p:spPr>
          <a:xfrm>
            <a:off x="6172200" y="2898648"/>
            <a:ext cx="5440680" cy="1280160"/>
          </a:xfrm>
          <a:prstGeom prst="roundRect">
            <a:avLst>
              <a:gd name="adj" fmla="val 4286"/>
            </a:avLst>
          </a:prstGeom>
          <a:solidFill>
            <a:srgbClr val="E4EFF7"/>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17" name="Shape 15"/>
          <p:cNvSpPr/>
          <p:nvPr/>
        </p:nvSpPr>
        <p:spPr>
          <a:xfrm>
            <a:off x="6355080" y="3081528"/>
            <a:ext cx="457200" cy="457200"/>
          </a:xfrm>
          <a:prstGeom prst="ellipse">
            <a:avLst/>
          </a:prstGeom>
          <a:solidFill>
            <a:srgbClr val="2B6CB0"/>
          </a:solidFill>
          <a:ln w="12700">
            <a:solidFill>
              <a:srgbClr val="333333"/>
            </a:solidFill>
            <a:prstDash val="solid"/>
          </a:ln>
        </p:spPr>
      </p:sp>
      <p:sp>
        <p:nvSpPr>
          <p:cNvPr id="18" name="Text 16"/>
          <p:cNvSpPr/>
          <p:nvPr/>
        </p:nvSpPr>
        <p:spPr>
          <a:xfrm>
            <a:off x="6355080" y="30815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9" name="Text 17"/>
          <p:cNvSpPr/>
          <p:nvPr/>
        </p:nvSpPr>
        <p:spPr>
          <a:xfrm>
            <a:off x="6949440" y="3008376"/>
            <a:ext cx="4526280" cy="1060704"/>
          </a:xfrm>
          <a:prstGeom prst="rect">
            <a:avLst/>
          </a:prstGeom>
          <a:noFill/>
          <a:ln/>
        </p:spPr>
        <p:txBody>
          <a:bodyPr wrap="square" lIns="0" tIns="0" rIns="0" bIns="0" rtlCol="0" anchor="ctr"/>
          <a:lstStyle/>
          <a:p>
            <a:pPr indent="0" marL="0">
              <a:lnSpc>
                <a:spcPct val="105000"/>
              </a:lnSpc>
              <a:buNone/>
            </a:pPr>
            <a:r>
              <a:rPr lang="en-US" sz="1250" dirty="0">
                <a:solidFill>
                  <a:srgbClr val="1E2340"/>
                </a:solidFill>
                <a:latin typeface="Calibri" pitchFamily="34" charset="0"/>
                <a:ea typeface="Calibri" pitchFamily="34" charset="-122"/>
                <a:cs typeface="Calibri" pitchFamily="34" charset="-120"/>
              </a:rPr>
              <a:t>Are live operational conditions still safe right now?</a:t>
            </a:r>
            <a:endParaRPr lang="en-US" sz="1250" dirty="0"/>
          </a:p>
        </p:txBody>
      </p:sp>
      <p:sp>
        <p:nvSpPr>
          <p:cNvPr id="20" name="Shape 18"/>
          <p:cNvSpPr/>
          <p:nvPr/>
        </p:nvSpPr>
        <p:spPr>
          <a:xfrm>
            <a:off x="548640" y="4379976"/>
            <a:ext cx="5440680" cy="1280160"/>
          </a:xfrm>
          <a:prstGeom prst="roundRect">
            <a:avLst>
              <a:gd name="adj" fmla="val 4286"/>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21" name="Shape 19"/>
          <p:cNvSpPr/>
          <p:nvPr/>
        </p:nvSpPr>
        <p:spPr>
          <a:xfrm>
            <a:off x="731520" y="4562856"/>
            <a:ext cx="457200" cy="457200"/>
          </a:xfrm>
          <a:prstGeom prst="ellipse">
            <a:avLst/>
          </a:prstGeom>
          <a:solidFill>
            <a:srgbClr val="5145C7"/>
          </a:solidFill>
          <a:ln w="12700">
            <a:solidFill>
              <a:srgbClr val="333333"/>
            </a:solidFill>
            <a:prstDash val="solid"/>
          </a:ln>
        </p:spPr>
      </p:sp>
      <p:sp>
        <p:nvSpPr>
          <p:cNvPr id="22" name="Text 20"/>
          <p:cNvSpPr/>
          <p:nvPr/>
        </p:nvSpPr>
        <p:spPr>
          <a:xfrm>
            <a:off x="731520" y="456285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3" name="Text 21"/>
          <p:cNvSpPr/>
          <p:nvPr/>
        </p:nvSpPr>
        <p:spPr>
          <a:xfrm>
            <a:off x="1325880" y="4489704"/>
            <a:ext cx="4526280" cy="1060704"/>
          </a:xfrm>
          <a:prstGeom prst="rect">
            <a:avLst/>
          </a:prstGeom>
          <a:noFill/>
          <a:ln/>
        </p:spPr>
        <p:txBody>
          <a:bodyPr wrap="square" lIns="0" tIns="0" rIns="0" bIns="0" rtlCol="0" anchor="ctr"/>
          <a:lstStyle/>
          <a:p>
            <a:pPr indent="0" marL="0">
              <a:lnSpc>
                <a:spcPct val="105000"/>
              </a:lnSpc>
              <a:buNone/>
            </a:pPr>
            <a:r>
              <a:rPr lang="en-US" sz="1250" dirty="0">
                <a:solidFill>
                  <a:srgbClr val="1E2340"/>
                </a:solidFill>
                <a:latin typeface="Calibri" pitchFamily="34" charset="0"/>
                <a:ea typeface="Calibri" pitchFamily="34" charset="-122"/>
                <a:cs typeface="Calibri" pitchFamily="34" charset="-120"/>
              </a:rPr>
              <a:t>Did execution affect only the intended resource?</a:t>
            </a:r>
            <a:endParaRPr lang="en-US" sz="1250" dirty="0"/>
          </a:p>
        </p:txBody>
      </p:sp>
      <p:sp>
        <p:nvSpPr>
          <p:cNvPr id="24" name="Shape 22"/>
          <p:cNvSpPr/>
          <p:nvPr/>
        </p:nvSpPr>
        <p:spPr>
          <a:xfrm>
            <a:off x="6172200" y="4379976"/>
            <a:ext cx="5440680" cy="1280160"/>
          </a:xfrm>
          <a:prstGeom prst="roundRect">
            <a:avLst>
              <a:gd name="adj" fmla="val 4286"/>
            </a:avLst>
          </a:prstGeom>
          <a:solidFill>
            <a:srgbClr val="E4EFF7"/>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25" name="Shape 23"/>
          <p:cNvSpPr/>
          <p:nvPr/>
        </p:nvSpPr>
        <p:spPr>
          <a:xfrm>
            <a:off x="6355080" y="4562856"/>
            <a:ext cx="457200" cy="457200"/>
          </a:xfrm>
          <a:prstGeom prst="ellipse">
            <a:avLst/>
          </a:prstGeom>
          <a:solidFill>
            <a:srgbClr val="2B6CB0"/>
          </a:solidFill>
          <a:ln w="12700">
            <a:solidFill>
              <a:srgbClr val="333333"/>
            </a:solidFill>
            <a:prstDash val="solid"/>
          </a:ln>
        </p:spPr>
      </p:sp>
      <p:sp>
        <p:nvSpPr>
          <p:cNvPr id="26" name="Text 24"/>
          <p:cNvSpPr/>
          <p:nvPr/>
        </p:nvSpPr>
        <p:spPr>
          <a:xfrm>
            <a:off x="6355080" y="456285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7" name="Text 25"/>
          <p:cNvSpPr/>
          <p:nvPr/>
        </p:nvSpPr>
        <p:spPr>
          <a:xfrm>
            <a:off x="6949440" y="4489704"/>
            <a:ext cx="4526280" cy="1060704"/>
          </a:xfrm>
          <a:prstGeom prst="rect">
            <a:avLst/>
          </a:prstGeom>
          <a:noFill/>
          <a:ln/>
        </p:spPr>
        <p:txBody>
          <a:bodyPr wrap="square" lIns="0" tIns="0" rIns="0" bIns="0" rtlCol="0" anchor="ctr"/>
          <a:lstStyle/>
          <a:p>
            <a:pPr indent="0" marL="0">
              <a:lnSpc>
                <a:spcPct val="105000"/>
              </a:lnSpc>
              <a:buNone/>
            </a:pPr>
            <a:r>
              <a:rPr lang="en-US" sz="1250" dirty="0">
                <a:solidFill>
                  <a:srgbClr val="1E2340"/>
                </a:solidFill>
                <a:latin typeface="Calibri" pitchFamily="34" charset="0"/>
                <a:ea typeface="Calibri" pitchFamily="34" charset="-122"/>
                <a:cs typeface="Calibri" pitchFamily="34" charset="-120"/>
              </a:rPr>
              <a:t>Can the enterprise prove the complete chain afterward?</a:t>
            </a:r>
            <a:endParaRPr lang="en-US" sz="1250" dirty="0"/>
          </a:p>
        </p:txBody>
      </p:sp>
      <p:sp>
        <p:nvSpPr>
          <p:cNvPr id="28" name="Text 26"/>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These are enterprise discovery questions to explore with ServiceNow architects — not assertions that ServiceNow lacks controls.</a:t>
            </a:r>
            <a:endParaRPr lang="en-US" sz="850" dirty="0"/>
          </a:p>
        </p:txBody>
      </p:sp>
      <p:sp>
        <p:nvSpPr>
          <p:cNvPr id="30" name="Text 27"/>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EXECUTIVE FRAMING</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What ServiceNow already provides — the proposal is complementary</a:t>
            </a:r>
            <a:endParaRPr lang="en-US" sz="2600" dirty="0"/>
          </a:p>
        </p:txBody>
      </p:sp>
      <p:sp>
        <p:nvSpPr>
          <p:cNvPr id="4" name="Shape 2"/>
          <p:cNvSpPr/>
          <p:nvPr/>
        </p:nvSpPr>
        <p:spPr>
          <a:xfrm>
            <a:off x="548640" y="1371600"/>
            <a:ext cx="5440680" cy="1024128"/>
          </a:xfrm>
          <a:prstGeom prst="roundRect">
            <a:avLst>
              <a:gd name="adj" fmla="val 5357"/>
            </a:avLst>
          </a:prstGeom>
          <a:solidFill>
            <a:srgbClr val="E7F3EC"/>
          </a:solidFill>
          <a:ln w="12700">
            <a:solidFill>
              <a:srgbClr val="2E7D5B"/>
            </a:solidFill>
            <a:prstDash val="solid"/>
          </a:ln>
        </p:spPr>
      </p:sp>
      <p:sp>
        <p:nvSpPr>
          <p:cNvPr id="5" name="Text 3"/>
          <p:cNvSpPr/>
          <p:nvPr/>
        </p:nvSpPr>
        <p:spPr>
          <a:xfrm>
            <a:off x="731520" y="1463040"/>
            <a:ext cx="5074920" cy="274320"/>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AI Control Tower</a:t>
            </a:r>
            <a:endParaRPr lang="en-US" sz="1200" dirty="0"/>
          </a:p>
        </p:txBody>
      </p:sp>
      <p:sp>
        <p:nvSpPr>
          <p:cNvPr id="6" name="Text 4"/>
          <p:cNvSpPr/>
          <p:nvPr/>
        </p:nvSpPr>
        <p:spPr>
          <a:xfrm>
            <a:off x="731520" y="1755648"/>
            <a:ext cx="5074920" cy="566928"/>
          </a:xfrm>
          <a:prstGeom prst="rect">
            <a:avLst/>
          </a:prstGeom>
          <a:noFill/>
          <a:ln/>
        </p:spPr>
        <p:txBody>
          <a:bodyPr wrap="square" lIns="0" tIns="0" rIns="0" bIns="0" rtlCol="0" anchor="ctr"/>
          <a:lstStyle/>
          <a:p>
            <a:pPr indent="0" marL="0">
              <a:lnSpc>
                <a:spcPct val="100000"/>
              </a:lnSpc>
              <a:buNone/>
            </a:pPr>
            <a:r>
              <a:rPr lang="en-US" sz="1000" dirty="0">
                <a:solidFill>
                  <a:srgbClr val="1E2340"/>
                </a:solidFill>
                <a:latin typeface="Calibri" pitchFamily="34" charset="0"/>
                <a:ea typeface="Calibri" pitchFamily="34" charset="-122"/>
                <a:cs typeface="Calibri" pitchFamily="34" charset="-120"/>
              </a:rPr>
              <a:t>Discovers, governs, secures and measures AI across the enterprise; real-time enforcement.</a:t>
            </a:r>
            <a:endParaRPr lang="en-US" sz="1000" dirty="0"/>
          </a:p>
        </p:txBody>
      </p:sp>
      <p:sp>
        <p:nvSpPr>
          <p:cNvPr id="7" name="Shape 5"/>
          <p:cNvSpPr/>
          <p:nvPr/>
        </p:nvSpPr>
        <p:spPr>
          <a:xfrm>
            <a:off x="6172200" y="1371600"/>
            <a:ext cx="5440680" cy="1024128"/>
          </a:xfrm>
          <a:prstGeom prst="roundRect">
            <a:avLst>
              <a:gd name="adj" fmla="val 5357"/>
            </a:avLst>
          </a:prstGeom>
          <a:solidFill>
            <a:srgbClr val="E7F3EC"/>
          </a:solidFill>
          <a:ln w="12700">
            <a:solidFill>
              <a:srgbClr val="2E7D5B"/>
            </a:solidFill>
            <a:prstDash val="solid"/>
          </a:ln>
        </p:spPr>
      </p:sp>
      <p:sp>
        <p:nvSpPr>
          <p:cNvPr id="8" name="Text 6"/>
          <p:cNvSpPr/>
          <p:nvPr/>
        </p:nvSpPr>
        <p:spPr>
          <a:xfrm>
            <a:off x="6355080" y="1463040"/>
            <a:ext cx="5074920" cy="274320"/>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Action Fabric</a:t>
            </a:r>
            <a:endParaRPr lang="en-US" sz="1200" dirty="0"/>
          </a:p>
        </p:txBody>
      </p:sp>
      <p:sp>
        <p:nvSpPr>
          <p:cNvPr id="9" name="Text 7"/>
          <p:cNvSpPr/>
          <p:nvPr/>
        </p:nvSpPr>
        <p:spPr>
          <a:xfrm>
            <a:off x="6355080" y="1755648"/>
            <a:ext cx="5074920" cy="566928"/>
          </a:xfrm>
          <a:prstGeom prst="rect">
            <a:avLst/>
          </a:prstGeom>
          <a:noFill/>
          <a:ln/>
        </p:spPr>
        <p:txBody>
          <a:bodyPr wrap="square" lIns="0" tIns="0" rIns="0" bIns="0" rtlCol="0" anchor="ctr"/>
          <a:lstStyle/>
          <a:p>
            <a:pPr indent="0" marL="0">
              <a:lnSpc>
                <a:spcPct val="100000"/>
              </a:lnSpc>
              <a:buNone/>
            </a:pPr>
            <a:r>
              <a:rPr lang="en-US" sz="1000" dirty="0">
                <a:solidFill>
                  <a:srgbClr val="1E2340"/>
                </a:solidFill>
                <a:latin typeface="Calibri" pitchFamily="34" charset="0"/>
                <a:ea typeface="Calibri" pitchFamily="34" charset="-122"/>
                <a:cs typeface="Calibri" pitchFamily="34" charset="-120"/>
              </a:rPr>
              <a:t>A governed system of action (MCP / A2A) — every action identity-verified, permission-scoped, auditable.</a:t>
            </a:r>
            <a:endParaRPr lang="en-US" sz="1000" dirty="0"/>
          </a:p>
        </p:txBody>
      </p:sp>
      <p:sp>
        <p:nvSpPr>
          <p:cNvPr id="10" name="Shape 8"/>
          <p:cNvSpPr/>
          <p:nvPr/>
        </p:nvSpPr>
        <p:spPr>
          <a:xfrm>
            <a:off x="548640" y="2542032"/>
            <a:ext cx="5440680" cy="1024128"/>
          </a:xfrm>
          <a:prstGeom prst="roundRect">
            <a:avLst>
              <a:gd name="adj" fmla="val 5357"/>
            </a:avLst>
          </a:prstGeom>
          <a:solidFill>
            <a:srgbClr val="E7F3EC"/>
          </a:solidFill>
          <a:ln w="12700">
            <a:solidFill>
              <a:srgbClr val="2E7D5B"/>
            </a:solidFill>
            <a:prstDash val="solid"/>
          </a:ln>
        </p:spPr>
      </p:sp>
      <p:sp>
        <p:nvSpPr>
          <p:cNvPr id="11" name="Text 9"/>
          <p:cNvSpPr/>
          <p:nvPr/>
        </p:nvSpPr>
        <p:spPr>
          <a:xfrm>
            <a:off x="731520" y="2633472"/>
            <a:ext cx="5074920" cy="274320"/>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Agent Deviation Detection</a:t>
            </a:r>
            <a:endParaRPr lang="en-US" sz="1200" dirty="0"/>
          </a:p>
        </p:txBody>
      </p:sp>
      <p:sp>
        <p:nvSpPr>
          <p:cNvPr id="12" name="Text 10"/>
          <p:cNvSpPr/>
          <p:nvPr/>
        </p:nvSpPr>
        <p:spPr>
          <a:xfrm>
            <a:off x="731520" y="2926080"/>
            <a:ext cx="5074920" cy="566928"/>
          </a:xfrm>
          <a:prstGeom prst="rect">
            <a:avLst/>
          </a:prstGeom>
          <a:noFill/>
          <a:ln/>
        </p:spPr>
        <p:txBody>
          <a:bodyPr wrap="square" lIns="0" tIns="0" rIns="0" bIns="0" rtlCol="0" anchor="ctr"/>
          <a:lstStyle/>
          <a:p>
            <a:pPr indent="0" marL="0">
              <a:lnSpc>
                <a:spcPct val="100000"/>
              </a:lnSpc>
              <a:buNone/>
            </a:pPr>
            <a:r>
              <a:rPr lang="en-US" sz="1000" dirty="0">
                <a:solidFill>
                  <a:srgbClr val="1E2340"/>
                </a:solidFill>
                <a:latin typeface="Calibri" pitchFamily="34" charset="0"/>
                <a:ea typeface="Calibri" pitchFamily="34" charset="-122"/>
                <a:cs typeface="Calibri" pitchFamily="34" charset="-120"/>
              </a:rPr>
              <a:t>Flags when an agent strays from its authorized role at runtime.</a:t>
            </a:r>
            <a:endParaRPr lang="en-US" sz="1000" dirty="0"/>
          </a:p>
        </p:txBody>
      </p:sp>
      <p:sp>
        <p:nvSpPr>
          <p:cNvPr id="13" name="Shape 11"/>
          <p:cNvSpPr/>
          <p:nvPr/>
        </p:nvSpPr>
        <p:spPr>
          <a:xfrm>
            <a:off x="6172200" y="2542032"/>
            <a:ext cx="5440680" cy="1024128"/>
          </a:xfrm>
          <a:prstGeom prst="roundRect">
            <a:avLst>
              <a:gd name="adj" fmla="val 5357"/>
            </a:avLst>
          </a:prstGeom>
          <a:solidFill>
            <a:srgbClr val="E7F3EC"/>
          </a:solidFill>
          <a:ln w="12700">
            <a:solidFill>
              <a:srgbClr val="2E7D5B"/>
            </a:solidFill>
            <a:prstDash val="solid"/>
          </a:ln>
        </p:spPr>
      </p:sp>
      <p:sp>
        <p:nvSpPr>
          <p:cNvPr id="14" name="Text 12"/>
          <p:cNvSpPr/>
          <p:nvPr/>
        </p:nvSpPr>
        <p:spPr>
          <a:xfrm>
            <a:off x="6355080" y="2633472"/>
            <a:ext cx="5074920" cy="274320"/>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AI Risk &amp; Compliance</a:t>
            </a:r>
            <a:endParaRPr lang="en-US" sz="1200" dirty="0"/>
          </a:p>
        </p:txBody>
      </p:sp>
      <p:sp>
        <p:nvSpPr>
          <p:cNvPr id="15" name="Text 13"/>
          <p:cNvSpPr/>
          <p:nvPr/>
        </p:nvSpPr>
        <p:spPr>
          <a:xfrm>
            <a:off x="6355080" y="2926080"/>
            <a:ext cx="5074920" cy="566928"/>
          </a:xfrm>
          <a:prstGeom prst="rect">
            <a:avLst/>
          </a:prstGeom>
          <a:noFill/>
          <a:ln/>
        </p:spPr>
        <p:txBody>
          <a:bodyPr wrap="square" lIns="0" tIns="0" rIns="0" bIns="0" rtlCol="0" anchor="ctr"/>
          <a:lstStyle/>
          <a:p>
            <a:pPr indent="0" marL="0">
              <a:lnSpc>
                <a:spcPct val="100000"/>
              </a:lnSpc>
              <a:buNone/>
            </a:pPr>
            <a:r>
              <a:rPr lang="en-US" sz="1000" dirty="0">
                <a:solidFill>
                  <a:srgbClr val="1E2340"/>
                </a:solidFill>
                <a:latin typeface="Calibri" pitchFamily="34" charset="0"/>
                <a:ea typeface="Calibri" pitchFamily="34" charset="-122"/>
                <a:cs typeface="Calibri" pitchFamily="34" charset="-120"/>
              </a:rPr>
              <a:t>Multi-framework control mapping (EU AI Act, NIST AI RMF and others).</a:t>
            </a:r>
            <a:endParaRPr lang="en-US" sz="1000" dirty="0"/>
          </a:p>
        </p:txBody>
      </p:sp>
      <p:sp>
        <p:nvSpPr>
          <p:cNvPr id="16" name="Shape 14"/>
          <p:cNvSpPr/>
          <p:nvPr/>
        </p:nvSpPr>
        <p:spPr>
          <a:xfrm>
            <a:off x="548640" y="3712464"/>
            <a:ext cx="5440680" cy="1024128"/>
          </a:xfrm>
          <a:prstGeom prst="roundRect">
            <a:avLst>
              <a:gd name="adj" fmla="val 5357"/>
            </a:avLst>
          </a:prstGeom>
          <a:solidFill>
            <a:srgbClr val="E7F3EC"/>
          </a:solidFill>
          <a:ln w="12700">
            <a:solidFill>
              <a:srgbClr val="2E7D5B"/>
            </a:solidFill>
            <a:prstDash val="solid"/>
          </a:ln>
        </p:spPr>
      </p:sp>
      <p:sp>
        <p:nvSpPr>
          <p:cNvPr id="17" name="Text 15"/>
          <p:cNvSpPr/>
          <p:nvPr/>
        </p:nvSpPr>
        <p:spPr>
          <a:xfrm>
            <a:off x="731520" y="3803904"/>
            <a:ext cx="5074920" cy="274320"/>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Change Management + CMDB</a:t>
            </a:r>
            <a:endParaRPr lang="en-US" sz="1200" dirty="0"/>
          </a:p>
        </p:txBody>
      </p:sp>
      <p:sp>
        <p:nvSpPr>
          <p:cNvPr id="18" name="Text 16"/>
          <p:cNvSpPr/>
          <p:nvPr/>
        </p:nvSpPr>
        <p:spPr>
          <a:xfrm>
            <a:off x="731520" y="4096512"/>
            <a:ext cx="5074920" cy="566928"/>
          </a:xfrm>
          <a:prstGeom prst="rect">
            <a:avLst/>
          </a:prstGeom>
          <a:noFill/>
          <a:ln/>
        </p:spPr>
        <p:txBody>
          <a:bodyPr wrap="square" lIns="0" tIns="0" rIns="0" bIns="0" rtlCol="0" anchor="ctr"/>
          <a:lstStyle/>
          <a:p>
            <a:pPr indent="0" marL="0">
              <a:lnSpc>
                <a:spcPct val="100000"/>
              </a:lnSpc>
              <a:buNone/>
            </a:pPr>
            <a:r>
              <a:rPr lang="en-US" sz="1000" dirty="0">
                <a:solidFill>
                  <a:srgbClr val="1E2340"/>
                </a:solidFill>
                <a:latin typeface="Calibri" pitchFamily="34" charset="0"/>
                <a:ea typeface="Calibri" pitchFamily="34" charset="-122"/>
                <a:cs typeface="Calibri" pitchFamily="34" charset="-120"/>
              </a:rPr>
              <a:t>Approvals, change/blackout windows, conflict detection, business context.</a:t>
            </a:r>
            <a:endParaRPr lang="en-US" sz="1000" dirty="0"/>
          </a:p>
        </p:txBody>
      </p:sp>
      <p:sp>
        <p:nvSpPr>
          <p:cNvPr id="19" name="Shape 17"/>
          <p:cNvSpPr/>
          <p:nvPr/>
        </p:nvSpPr>
        <p:spPr>
          <a:xfrm>
            <a:off x="6172200" y="3712464"/>
            <a:ext cx="5440680" cy="1024128"/>
          </a:xfrm>
          <a:prstGeom prst="roundRect">
            <a:avLst>
              <a:gd name="adj" fmla="val 5357"/>
            </a:avLst>
          </a:prstGeom>
          <a:solidFill>
            <a:srgbClr val="E7F3EC"/>
          </a:solidFill>
          <a:ln w="12700">
            <a:solidFill>
              <a:srgbClr val="2E7D5B"/>
            </a:solidFill>
            <a:prstDash val="solid"/>
          </a:ln>
        </p:spPr>
      </p:sp>
      <p:sp>
        <p:nvSpPr>
          <p:cNvPr id="20" name="Text 18"/>
          <p:cNvSpPr/>
          <p:nvPr/>
        </p:nvSpPr>
        <p:spPr>
          <a:xfrm>
            <a:off x="6355080" y="3803904"/>
            <a:ext cx="5074920" cy="274320"/>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NVIDIA OpenShell</a:t>
            </a:r>
            <a:endParaRPr lang="en-US" sz="1200" dirty="0"/>
          </a:p>
        </p:txBody>
      </p:sp>
      <p:sp>
        <p:nvSpPr>
          <p:cNvPr id="21" name="Text 19"/>
          <p:cNvSpPr/>
          <p:nvPr/>
        </p:nvSpPr>
        <p:spPr>
          <a:xfrm>
            <a:off x="6355080" y="4096512"/>
            <a:ext cx="5074920" cy="566928"/>
          </a:xfrm>
          <a:prstGeom prst="rect">
            <a:avLst/>
          </a:prstGeom>
          <a:noFill/>
          <a:ln/>
        </p:spPr>
        <p:txBody>
          <a:bodyPr wrap="square" lIns="0" tIns="0" rIns="0" bIns="0" rtlCol="0" anchor="ctr"/>
          <a:lstStyle/>
          <a:p>
            <a:pPr indent="0" marL="0">
              <a:lnSpc>
                <a:spcPct val="100000"/>
              </a:lnSpc>
              <a:buNone/>
            </a:pPr>
            <a:r>
              <a:rPr lang="en-US" sz="1000" dirty="0">
                <a:solidFill>
                  <a:srgbClr val="1E2340"/>
                </a:solidFill>
                <a:latin typeface="Calibri" pitchFamily="34" charset="0"/>
                <a:ea typeface="Calibri" pitchFamily="34" charset="-122"/>
                <a:cs typeface="Calibri" pitchFamily="34" charset="-120"/>
              </a:rPr>
              <a:t>Central AICT policy enforced at runtime on file, command and network access.</a:t>
            </a:r>
            <a:endParaRPr lang="en-US" sz="1000" dirty="0"/>
          </a:p>
        </p:txBody>
      </p:sp>
      <p:sp>
        <p:nvSpPr>
          <p:cNvPr id="22" name="Shape 20"/>
          <p:cNvSpPr/>
          <p:nvPr/>
        </p:nvSpPr>
        <p:spPr>
          <a:xfrm>
            <a:off x="548640" y="4882896"/>
            <a:ext cx="5440680" cy="1024128"/>
          </a:xfrm>
          <a:prstGeom prst="roundRect">
            <a:avLst>
              <a:gd name="adj" fmla="val 5357"/>
            </a:avLst>
          </a:prstGeom>
          <a:solidFill>
            <a:srgbClr val="E7F3EC"/>
          </a:solidFill>
          <a:ln w="12700">
            <a:solidFill>
              <a:srgbClr val="2E7D5B"/>
            </a:solidFill>
            <a:prstDash val="solid"/>
          </a:ln>
        </p:spPr>
      </p:sp>
      <p:sp>
        <p:nvSpPr>
          <p:cNvPr id="23" name="Text 21"/>
          <p:cNvSpPr/>
          <p:nvPr/>
        </p:nvSpPr>
        <p:spPr>
          <a:xfrm>
            <a:off x="731520" y="4974336"/>
            <a:ext cx="5074920" cy="274320"/>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Adoption, impact &amp; ROI</a:t>
            </a:r>
            <a:endParaRPr lang="en-US" sz="1200" dirty="0"/>
          </a:p>
        </p:txBody>
      </p:sp>
      <p:sp>
        <p:nvSpPr>
          <p:cNvPr id="24" name="Text 22"/>
          <p:cNvSpPr/>
          <p:nvPr/>
        </p:nvSpPr>
        <p:spPr>
          <a:xfrm>
            <a:off x="731520" y="5266944"/>
            <a:ext cx="5074920" cy="566928"/>
          </a:xfrm>
          <a:prstGeom prst="rect">
            <a:avLst/>
          </a:prstGeom>
          <a:noFill/>
          <a:ln/>
        </p:spPr>
        <p:txBody>
          <a:bodyPr wrap="square" lIns="0" tIns="0" rIns="0" bIns="0" rtlCol="0" anchor="ctr"/>
          <a:lstStyle/>
          <a:p>
            <a:pPr indent="0" marL="0">
              <a:lnSpc>
                <a:spcPct val="100000"/>
              </a:lnSpc>
              <a:buNone/>
            </a:pPr>
            <a:r>
              <a:rPr lang="en-US" sz="1000" dirty="0">
                <a:solidFill>
                  <a:srgbClr val="1E2340"/>
                </a:solidFill>
                <a:latin typeface="Calibri" pitchFamily="34" charset="0"/>
                <a:ea typeface="Calibri" pitchFamily="34" charset="-122"/>
                <a:cs typeface="Calibri" pitchFamily="34" charset="-120"/>
              </a:rPr>
              <a:t>AI adoption, business impact, realized value and ROI measurement.</a:t>
            </a:r>
            <a:endParaRPr lang="en-US" sz="1000" dirty="0"/>
          </a:p>
        </p:txBody>
      </p:sp>
      <p:sp>
        <p:nvSpPr>
          <p:cNvPr id="25" name="Shape 23"/>
          <p:cNvSpPr/>
          <p:nvPr/>
        </p:nvSpPr>
        <p:spPr>
          <a:xfrm>
            <a:off x="6172200" y="4882896"/>
            <a:ext cx="5440680" cy="1024128"/>
          </a:xfrm>
          <a:prstGeom prst="roundRect">
            <a:avLst>
              <a:gd name="adj" fmla="val 5357"/>
            </a:avLst>
          </a:prstGeom>
          <a:solidFill>
            <a:srgbClr val="E7F3EC"/>
          </a:solidFill>
          <a:ln w="12700">
            <a:solidFill>
              <a:srgbClr val="2E7D5B"/>
            </a:solidFill>
            <a:prstDash val="solid"/>
          </a:ln>
        </p:spPr>
      </p:sp>
      <p:sp>
        <p:nvSpPr>
          <p:cNvPr id="26" name="Text 24"/>
          <p:cNvSpPr/>
          <p:nvPr/>
        </p:nvSpPr>
        <p:spPr>
          <a:xfrm>
            <a:off x="6355080" y="4974336"/>
            <a:ext cx="5074920" cy="274320"/>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Approvals &amp; workflow</a:t>
            </a:r>
            <a:endParaRPr lang="en-US" sz="1200" dirty="0"/>
          </a:p>
        </p:txBody>
      </p:sp>
      <p:sp>
        <p:nvSpPr>
          <p:cNvPr id="27" name="Text 25"/>
          <p:cNvSpPr/>
          <p:nvPr/>
        </p:nvSpPr>
        <p:spPr>
          <a:xfrm>
            <a:off x="6355080" y="5266944"/>
            <a:ext cx="5074920" cy="566928"/>
          </a:xfrm>
          <a:prstGeom prst="rect">
            <a:avLst/>
          </a:prstGeom>
          <a:noFill/>
          <a:ln/>
        </p:spPr>
        <p:txBody>
          <a:bodyPr wrap="square" lIns="0" tIns="0" rIns="0" bIns="0" rtlCol="0" anchor="ctr"/>
          <a:lstStyle/>
          <a:p>
            <a:pPr indent="0" marL="0">
              <a:lnSpc>
                <a:spcPct val="100000"/>
              </a:lnSpc>
              <a:buNone/>
            </a:pPr>
            <a:r>
              <a:rPr lang="en-US" sz="1000" dirty="0">
                <a:solidFill>
                  <a:srgbClr val="1E2340"/>
                </a:solidFill>
                <a:latin typeface="Calibri" pitchFamily="34" charset="0"/>
                <a:ea typeface="Calibri" pitchFamily="34" charset="-122"/>
                <a:cs typeface="Calibri" pitchFamily="34" charset="-120"/>
              </a:rPr>
              <a:t>Enterprise approval and workflow mechanisms across the platform.</a:t>
            </a:r>
            <a:endParaRPr lang="en-US" sz="1000" dirty="0"/>
          </a:p>
        </p:txBody>
      </p:sp>
      <p:sp>
        <p:nvSpPr>
          <p:cNvPr id="28" name="Text 26"/>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Sources: ServiceNow Docs / Newsroom / Community; NVIDIA OpenShell docs. We do not say “ServiceNow lacks / cannot / only inventories,” nor claim unique cross-platform runtime enforcement.</a:t>
            </a:r>
            <a:endParaRPr lang="en-US" sz="850" dirty="0"/>
          </a:p>
        </p:txBody>
      </p:sp>
      <p:sp>
        <p:nvSpPr>
          <p:cNvPr id="30" name="Text 27"/>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EXECUTIVE FRAMING</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The partnership boundary — who contributes what</a:t>
            </a:r>
            <a:endParaRPr lang="en-US" sz="2600" dirty="0"/>
          </a:p>
        </p:txBody>
      </p:sp>
      <p:sp>
        <p:nvSpPr>
          <p:cNvPr id="4" name="Shape 2"/>
          <p:cNvSpPr/>
          <p:nvPr/>
        </p:nvSpPr>
        <p:spPr>
          <a:xfrm>
            <a:off x="548640" y="1371600"/>
            <a:ext cx="5486400" cy="4800600"/>
          </a:xfrm>
          <a:prstGeom prst="roundRect">
            <a:avLst>
              <a:gd name="adj" fmla="val 1524"/>
            </a:avLst>
          </a:prstGeom>
          <a:solidFill>
            <a:srgbClr val="E7F3EC"/>
          </a:solidFill>
          <a:ln w="15875">
            <a:solidFill>
              <a:srgbClr val="2E7D5B"/>
            </a:solidFill>
            <a:prstDash val="solid"/>
          </a:ln>
        </p:spPr>
      </p:sp>
      <p:sp>
        <p:nvSpPr>
          <p:cNvPr id="5" name="Text 3"/>
          <p:cNvSpPr/>
          <p:nvPr/>
        </p:nvSpPr>
        <p:spPr>
          <a:xfrm>
            <a:off x="731520" y="1481328"/>
            <a:ext cx="5120640" cy="365760"/>
          </a:xfrm>
          <a:prstGeom prst="rect">
            <a:avLst/>
          </a:prstGeom>
          <a:noFill/>
          <a:ln/>
        </p:spPr>
        <p:txBody>
          <a:bodyPr wrap="square" rtlCol="0" anchor="ctr"/>
          <a:lstStyle/>
          <a:p>
            <a:pPr indent="0" marL="0">
              <a:buNone/>
            </a:pPr>
            <a:r>
              <a:rPr lang="en-US" sz="1400" b="1" dirty="0">
                <a:solidFill>
                  <a:srgbClr val="14532D"/>
                </a:solidFill>
                <a:latin typeface="Calibri" pitchFamily="34" charset="0"/>
                <a:ea typeface="Calibri" pitchFamily="34" charset="-122"/>
                <a:cs typeface="Calibri" pitchFamily="34" charset="-120"/>
              </a:rPr>
              <a:t>ServiceNow remains responsible for</a:t>
            </a:r>
            <a:endParaRPr lang="en-US" sz="1400" dirty="0"/>
          </a:p>
        </p:txBody>
      </p:sp>
      <p:sp>
        <p:nvSpPr>
          <p:cNvPr id="6" name="Text 4"/>
          <p:cNvSpPr/>
          <p:nvPr/>
        </p:nvSpPr>
        <p:spPr>
          <a:xfrm>
            <a:off x="777240" y="1920240"/>
            <a:ext cx="5029200" cy="4114800"/>
          </a:xfrm>
          <a:prstGeom prst="rect">
            <a:avLst/>
          </a:prstGeom>
          <a:noFill/>
          <a:ln/>
        </p:spPr>
        <p:txBody>
          <a:bodyPr wrap="square" rtlCol="0" anchor="ctr"/>
          <a:lstStyle/>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Enterprise system of record</a:t>
            </a:r>
            <a:endParaRPr lang="en-US" sz="1250" dirty="0"/>
          </a:p>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Workflow and case management</a:t>
            </a:r>
            <a:endParaRPr lang="en-US" sz="1250" dirty="0"/>
          </a:p>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CMDB and business context</a:t>
            </a:r>
            <a:endParaRPr lang="en-US" sz="1250" dirty="0"/>
          </a:p>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Enterprise approvals</a:t>
            </a:r>
            <a:endParaRPr lang="en-US" sz="1250" dirty="0"/>
          </a:p>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Platform governance</a:t>
            </a:r>
            <a:endParaRPr lang="en-US" sz="1250" dirty="0"/>
          </a:p>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Action Fabric</a:t>
            </a:r>
            <a:endParaRPr lang="en-US" sz="1250" dirty="0"/>
          </a:p>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Platform execution pathways</a:t>
            </a:r>
            <a:endParaRPr lang="en-US" sz="1250" dirty="0"/>
          </a:p>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AI Control Tower monitoring &amp; controls</a:t>
            </a:r>
            <a:endParaRPr lang="en-US" sz="1250" dirty="0"/>
          </a:p>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Value and ROI reporting</a:t>
            </a:r>
            <a:endParaRPr lang="en-US" sz="1250" dirty="0"/>
          </a:p>
        </p:txBody>
      </p:sp>
      <p:sp>
        <p:nvSpPr>
          <p:cNvPr id="7" name="Shape 5"/>
          <p:cNvSpPr/>
          <p:nvPr/>
        </p:nvSpPr>
        <p:spPr>
          <a:xfrm>
            <a:off x="6172200" y="1371600"/>
            <a:ext cx="5486400" cy="4800600"/>
          </a:xfrm>
          <a:prstGeom prst="roundRect">
            <a:avLst>
              <a:gd name="adj" fmla="val 1524"/>
            </a:avLst>
          </a:prstGeom>
          <a:solidFill>
            <a:srgbClr val="ECEAFB"/>
          </a:solidFill>
          <a:ln w="15875">
            <a:solidFill>
              <a:srgbClr val="5145C7"/>
            </a:solidFill>
            <a:prstDash val="solid"/>
          </a:ln>
        </p:spPr>
      </p:sp>
      <p:sp>
        <p:nvSpPr>
          <p:cNvPr id="8" name="Text 6"/>
          <p:cNvSpPr/>
          <p:nvPr/>
        </p:nvSpPr>
        <p:spPr>
          <a:xfrm>
            <a:off x="6355080" y="1481328"/>
            <a:ext cx="5120640" cy="365760"/>
          </a:xfrm>
          <a:prstGeom prst="rect">
            <a:avLst/>
          </a:prstGeom>
          <a:noFill/>
          <a:ln/>
        </p:spPr>
        <p:txBody>
          <a:bodyPr wrap="square" rtlCol="0" anchor="ctr"/>
          <a:lstStyle/>
          <a:p>
            <a:pPr indent="0" marL="0">
              <a:buNone/>
            </a:pPr>
            <a:r>
              <a:rPr lang="en-US" sz="1400" b="1" dirty="0">
                <a:solidFill>
                  <a:srgbClr val="2A2170"/>
                </a:solidFill>
                <a:latin typeface="Calibri" pitchFamily="34" charset="0"/>
                <a:ea typeface="Calibri" pitchFamily="34" charset="-122"/>
                <a:cs typeface="Calibri" pitchFamily="34" charset="-120"/>
              </a:rPr>
              <a:t>Ugence proposes to contribute</a:t>
            </a:r>
            <a:endParaRPr lang="en-US" sz="1400" dirty="0"/>
          </a:p>
        </p:txBody>
      </p:sp>
      <p:sp>
        <p:nvSpPr>
          <p:cNvPr id="9" name="Shape 7"/>
          <p:cNvSpPr/>
          <p:nvPr/>
        </p:nvSpPr>
        <p:spPr>
          <a:xfrm>
            <a:off x="10058400" y="1499616"/>
            <a:ext cx="1371600" cy="237744"/>
          </a:xfrm>
          <a:prstGeom prst="roundRect">
            <a:avLst>
              <a:gd name="adj" fmla="val 50000"/>
            </a:avLst>
          </a:prstGeom>
          <a:solidFill>
            <a:srgbClr val="5145C7"/>
          </a:solidFill>
          <a:ln w="12700">
            <a:solidFill>
              <a:srgbClr val="5145C7"/>
            </a:solidFill>
            <a:prstDash val="solid"/>
          </a:ln>
        </p:spPr>
      </p:sp>
      <p:sp>
        <p:nvSpPr>
          <p:cNvPr id="10" name="Text 8"/>
          <p:cNvSpPr/>
          <p:nvPr/>
        </p:nvSpPr>
        <p:spPr>
          <a:xfrm>
            <a:off x="10058400" y="1499616"/>
            <a:ext cx="13716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a:t>
            </a:r>
            <a:endParaRPr lang="en-US" sz="800" dirty="0"/>
          </a:p>
        </p:txBody>
      </p:sp>
      <p:sp>
        <p:nvSpPr>
          <p:cNvPr id="11" name="Text 9"/>
          <p:cNvSpPr/>
          <p:nvPr/>
        </p:nvSpPr>
        <p:spPr>
          <a:xfrm>
            <a:off x="6400800" y="1920240"/>
            <a:ext cx="5074920" cy="4160520"/>
          </a:xfrm>
          <a:prstGeom prst="rect">
            <a:avLst/>
          </a:prstGeom>
          <a:noFill/>
          <a:ln/>
        </p:spPr>
        <p:txBody>
          <a:bodyPr wrap="square" rtlCol="0" anchor="ctr"/>
          <a:lstStyle/>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Binding decision artifacts</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Trusted-evidence linkage</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Exact-action and target authorization</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Time- and scope-bounded authority</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Independent operational clearance</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Governed execution coordination</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Execution receipts</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Observed-effect reconciliation</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Authority lifecycle &amp; reassessment</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Cross-stage evidence lineage</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Developing governed-value attribution</a:t>
            </a:r>
            <a:endParaRPr lang="en-US" sz="1200" dirty="0"/>
          </a:p>
        </p:txBody>
      </p:sp>
      <p:sp>
        <p:nvSpPr>
          <p:cNvPr id="12" name="Text 10"/>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Neither side replaces the other. Ugence composes WITH ServiceNow’s workflow, system of action and platform enforcement. Every integration is PROPOSED.</a:t>
            </a:r>
            <a:endParaRPr lang="en-US" sz="850" dirty="0"/>
          </a:p>
        </p:txBody>
      </p:sp>
      <p:sp>
        <p:nvSpPr>
          <p:cNvPr id="14" name="Text 11"/>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II</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Understanding the data journey</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Four kinds of data, and the same journey told first in plain language, then technically</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THE DATA JOURNEY</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Four kinds of data — kept distinct throughout</a:t>
            </a:r>
            <a:endParaRPr lang="en-US" sz="2600" dirty="0"/>
          </a:p>
        </p:txBody>
      </p:sp>
      <p:sp>
        <p:nvSpPr>
          <p:cNvPr id="4" name="Shape 2"/>
          <p:cNvSpPr/>
          <p:nvPr/>
        </p:nvSpPr>
        <p:spPr>
          <a:xfrm>
            <a:off x="548640" y="1371600"/>
            <a:ext cx="11064240" cy="932688"/>
          </a:xfrm>
          <a:prstGeom prst="roundRect">
            <a:avLst>
              <a:gd name="adj" fmla="val 4902"/>
            </a:avLst>
          </a:prstGeom>
          <a:solidFill>
            <a:srgbClr val="E7F3EC"/>
          </a:solidFill>
          <a:ln w="12700">
            <a:solidFill>
              <a:srgbClr val="D8DEE9"/>
            </a:solidFill>
            <a:prstDash val="solid"/>
          </a:ln>
        </p:spPr>
      </p:sp>
      <p:sp>
        <p:nvSpPr>
          <p:cNvPr id="5" name="Text 3"/>
          <p:cNvSpPr/>
          <p:nvPr/>
        </p:nvSpPr>
        <p:spPr>
          <a:xfrm>
            <a:off x="731520" y="1444752"/>
            <a:ext cx="2743200" cy="786384"/>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1 · Original business data</a:t>
            </a:r>
            <a:endParaRPr lang="en-US" sz="1200" dirty="0"/>
          </a:p>
        </p:txBody>
      </p:sp>
      <p:sp>
        <p:nvSpPr>
          <p:cNvPr id="6" name="Text 4"/>
          <p:cNvSpPr/>
          <p:nvPr/>
        </p:nvSpPr>
        <p:spPr>
          <a:xfrm>
            <a:off x="3566160" y="1444752"/>
            <a:ext cx="5212080" cy="786384"/>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Change, incident, CI, employee, entitlement, control evidence, amount, target system, requested action</a:t>
            </a:r>
            <a:endParaRPr lang="en-US" sz="1050" dirty="0"/>
          </a:p>
        </p:txBody>
      </p:sp>
      <p:sp>
        <p:nvSpPr>
          <p:cNvPr id="7" name="Text 5"/>
          <p:cNvSpPr/>
          <p:nvPr/>
        </p:nvSpPr>
        <p:spPr>
          <a:xfrm>
            <a:off x="8869680" y="1444752"/>
            <a:ext cx="2651760" cy="786384"/>
          </a:xfrm>
          <a:prstGeom prst="rect">
            <a:avLst/>
          </a:prstGeom>
          <a:noFill/>
          <a:ln/>
        </p:spPr>
        <p:txBody>
          <a:bodyPr wrap="square" lIns="0" tIns="0" rIns="0" bIns="0" rtlCol="0" anchor="ctr"/>
          <a:lstStyle/>
          <a:p>
            <a:pPr indent="0" marL="0">
              <a:buNone/>
            </a:pPr>
            <a:r>
              <a:rPr lang="en-US" sz="1000" i="1" dirty="0">
                <a:solidFill>
                  <a:srgbClr val="14532D"/>
                </a:solidFill>
                <a:latin typeface="Calibri" pitchFamily="34" charset="0"/>
                <a:ea typeface="Calibri" pitchFamily="34" charset="-122"/>
                <a:cs typeface="Calibri" pitchFamily="34" charset="-120"/>
              </a:rPr>
              <a:t>ServiceNow (system of record)</a:t>
            </a:r>
            <a:endParaRPr lang="en-US" sz="1000" dirty="0"/>
          </a:p>
        </p:txBody>
      </p:sp>
      <p:sp>
        <p:nvSpPr>
          <p:cNvPr id="8" name="Shape 6"/>
          <p:cNvSpPr/>
          <p:nvPr/>
        </p:nvSpPr>
        <p:spPr>
          <a:xfrm>
            <a:off x="548640" y="2414016"/>
            <a:ext cx="11064240" cy="932688"/>
          </a:xfrm>
          <a:prstGeom prst="roundRect">
            <a:avLst>
              <a:gd name="adj" fmla="val 4902"/>
            </a:avLst>
          </a:prstGeom>
          <a:solidFill>
            <a:srgbClr val="ECEAFB"/>
          </a:solidFill>
          <a:ln w="12700">
            <a:solidFill>
              <a:srgbClr val="D8DEE9"/>
            </a:solidFill>
            <a:prstDash val="solid"/>
          </a:ln>
        </p:spPr>
      </p:sp>
      <p:sp>
        <p:nvSpPr>
          <p:cNvPr id="9" name="Text 7"/>
          <p:cNvSpPr/>
          <p:nvPr/>
        </p:nvSpPr>
        <p:spPr>
          <a:xfrm>
            <a:off x="731520" y="2487168"/>
            <a:ext cx="2743200" cy="786384"/>
          </a:xfrm>
          <a:prstGeom prst="rect">
            <a:avLst/>
          </a:prstGeom>
          <a:noFill/>
          <a:ln/>
        </p:spPr>
        <p:txBody>
          <a:bodyPr wrap="square" lIns="0" tIns="0" rIns="0" bIns="0" rtlCol="0" anchor="ctr"/>
          <a:lstStyle/>
          <a:p>
            <a:pPr indent="0" marL="0">
              <a:buNone/>
            </a:pPr>
            <a:r>
              <a:rPr lang="en-US" sz="1200" b="1" dirty="0">
                <a:solidFill>
                  <a:srgbClr val="2A2170"/>
                </a:solidFill>
                <a:latin typeface="Calibri" pitchFamily="34" charset="0"/>
                <a:ea typeface="Calibri" pitchFamily="34" charset="-122"/>
                <a:cs typeface="Calibri" pitchFamily="34" charset="-120"/>
              </a:rPr>
              <a:t>2 · Derived governance artifacts</a:t>
            </a:r>
            <a:endParaRPr lang="en-US" sz="1200" dirty="0"/>
          </a:p>
        </p:txBody>
      </p:sp>
      <p:sp>
        <p:nvSpPr>
          <p:cNvPr id="10" name="Text 8"/>
          <p:cNvSpPr/>
          <p:nvPr/>
        </p:nvSpPr>
        <p:spPr>
          <a:xfrm>
            <a:off x="3566160" y="2487168"/>
            <a:ext cx="5212080" cy="786384"/>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Decision record, model / action / risk authorization, clearance verdict, execution receipt, assurance result, revocation / reassessment signal</a:t>
            </a:r>
            <a:endParaRPr lang="en-US" sz="1050" dirty="0"/>
          </a:p>
        </p:txBody>
      </p:sp>
      <p:sp>
        <p:nvSpPr>
          <p:cNvPr id="11" name="Text 9"/>
          <p:cNvSpPr/>
          <p:nvPr/>
        </p:nvSpPr>
        <p:spPr>
          <a:xfrm>
            <a:off x="8869680" y="2487168"/>
            <a:ext cx="2651760" cy="786384"/>
          </a:xfrm>
          <a:prstGeom prst="rect">
            <a:avLst/>
          </a:prstGeom>
          <a:noFill/>
          <a:ln/>
        </p:spPr>
        <p:txBody>
          <a:bodyPr wrap="square" lIns="0" tIns="0" rIns="0" bIns="0" rtlCol="0" anchor="ctr"/>
          <a:lstStyle/>
          <a:p>
            <a:pPr indent="0" marL="0">
              <a:buNone/>
            </a:pPr>
            <a:r>
              <a:rPr lang="en-US" sz="1000" i="1" dirty="0">
                <a:solidFill>
                  <a:srgbClr val="2A2170"/>
                </a:solidFill>
                <a:latin typeface="Calibri" pitchFamily="34" charset="0"/>
                <a:ea typeface="Calibri" pitchFamily="34" charset="-122"/>
                <a:cs typeface="Calibri" pitchFamily="34" charset="-120"/>
              </a:rPr>
              <a:t>Ugence — each a SEPARATE artifact</a:t>
            </a:r>
            <a:endParaRPr lang="en-US" sz="1000" dirty="0"/>
          </a:p>
        </p:txBody>
      </p:sp>
      <p:sp>
        <p:nvSpPr>
          <p:cNvPr id="12" name="Shape 10"/>
          <p:cNvSpPr/>
          <p:nvPr/>
        </p:nvSpPr>
        <p:spPr>
          <a:xfrm>
            <a:off x="548640" y="3456432"/>
            <a:ext cx="11064240" cy="932688"/>
          </a:xfrm>
          <a:prstGeom prst="roundRect">
            <a:avLst>
              <a:gd name="adj" fmla="val 4902"/>
            </a:avLst>
          </a:prstGeom>
          <a:solidFill>
            <a:srgbClr val="E4EFF7"/>
          </a:solidFill>
          <a:ln w="12700">
            <a:solidFill>
              <a:srgbClr val="D8DEE9"/>
            </a:solidFill>
            <a:prstDash val="solid"/>
          </a:ln>
        </p:spPr>
      </p:sp>
      <p:sp>
        <p:nvSpPr>
          <p:cNvPr id="13" name="Text 11"/>
          <p:cNvSpPr/>
          <p:nvPr/>
        </p:nvSpPr>
        <p:spPr>
          <a:xfrm>
            <a:off x="731520" y="3529584"/>
            <a:ext cx="2743200" cy="786384"/>
          </a:xfrm>
          <a:prstGeom prst="rect">
            <a:avLst/>
          </a:prstGeom>
          <a:noFill/>
          <a:ln/>
        </p:spPr>
        <p:txBody>
          <a:bodyPr wrap="square" lIns="0" tIns="0" rIns="0" bIns="0" rtlCol="0" anchor="ctr"/>
          <a:lstStyle/>
          <a:p>
            <a:pPr indent="0" marL="0">
              <a:buNone/>
            </a:pPr>
            <a:r>
              <a:rPr lang="en-US" sz="1200" b="1" dirty="0">
                <a:solidFill>
                  <a:srgbClr val="173A5A"/>
                </a:solidFill>
                <a:latin typeface="Calibri" pitchFamily="34" charset="0"/>
                <a:ea typeface="Calibri" pitchFamily="34" charset="-122"/>
                <a:cs typeface="Calibri" pitchFamily="34" charset="-120"/>
              </a:rPr>
              <a:t>3 · Observed operational data</a:t>
            </a:r>
            <a:endParaRPr lang="en-US" sz="1200" dirty="0"/>
          </a:p>
        </p:txBody>
      </p:sp>
      <p:sp>
        <p:nvSpPr>
          <p:cNvPr id="14" name="Text 12"/>
          <p:cNvSpPr/>
          <p:nvPr/>
        </p:nvSpPr>
        <p:spPr>
          <a:xfrm>
            <a:off x="3566160" y="3529584"/>
            <a:ext cx="5212080" cy="786384"/>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Infrastructure state, service health, blackout window, dependency condition, account status, execution result, post-action effect</a:t>
            </a:r>
            <a:endParaRPr lang="en-US" sz="1050" dirty="0"/>
          </a:p>
        </p:txBody>
      </p:sp>
      <p:sp>
        <p:nvSpPr>
          <p:cNvPr id="15" name="Text 13"/>
          <p:cNvSpPr/>
          <p:nvPr/>
        </p:nvSpPr>
        <p:spPr>
          <a:xfrm>
            <a:off x="8869680" y="3529584"/>
            <a:ext cx="2651760" cy="786384"/>
          </a:xfrm>
          <a:prstGeom prst="rect">
            <a:avLst/>
          </a:prstGeom>
          <a:noFill/>
          <a:ln/>
        </p:spPr>
        <p:txBody>
          <a:bodyPr wrap="square" lIns="0" tIns="0" rIns="0" bIns="0" rtlCol="0" anchor="ctr"/>
          <a:lstStyle/>
          <a:p>
            <a:pPr indent="0" marL="0">
              <a:buNone/>
            </a:pPr>
            <a:r>
              <a:rPr lang="en-US" sz="1000" i="1" dirty="0">
                <a:solidFill>
                  <a:srgbClr val="173A5A"/>
                </a:solidFill>
                <a:latin typeface="Calibri" pitchFamily="34" charset="0"/>
                <a:ea typeface="Calibri" pitchFamily="34" charset="-122"/>
                <a:cs typeface="Calibri" pitchFamily="34" charset="-120"/>
              </a:rPr>
              <a:t>ServiceNow + operational telemetry</a:t>
            </a:r>
            <a:endParaRPr lang="en-US" sz="1000" dirty="0"/>
          </a:p>
        </p:txBody>
      </p:sp>
      <p:sp>
        <p:nvSpPr>
          <p:cNvPr id="16" name="Shape 14"/>
          <p:cNvSpPr/>
          <p:nvPr/>
        </p:nvSpPr>
        <p:spPr>
          <a:xfrm>
            <a:off x="548640" y="4498848"/>
            <a:ext cx="11064240" cy="932688"/>
          </a:xfrm>
          <a:prstGeom prst="roundRect">
            <a:avLst>
              <a:gd name="adj" fmla="val 4902"/>
            </a:avLst>
          </a:prstGeom>
          <a:solidFill>
            <a:srgbClr val="EEF1F4"/>
          </a:solidFill>
          <a:ln w="12700">
            <a:solidFill>
              <a:srgbClr val="D8DEE9"/>
            </a:solidFill>
            <a:prstDash val="solid"/>
          </a:ln>
        </p:spPr>
      </p:sp>
      <p:sp>
        <p:nvSpPr>
          <p:cNvPr id="17" name="Text 15"/>
          <p:cNvSpPr/>
          <p:nvPr/>
        </p:nvSpPr>
        <p:spPr>
          <a:xfrm>
            <a:off x="731520" y="4572000"/>
            <a:ext cx="2743200" cy="786384"/>
          </a:xfrm>
          <a:prstGeom prst="rect">
            <a:avLst/>
          </a:prstGeom>
          <a:noFill/>
          <a:ln/>
        </p:spPr>
        <p:txBody>
          <a:bodyPr wrap="square" lIns="0" tIns="0" rIns="0" bIns="0"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4 · ServiceNow records</a:t>
            </a:r>
            <a:endParaRPr lang="en-US" sz="1200" dirty="0"/>
          </a:p>
        </p:txBody>
      </p:sp>
      <p:sp>
        <p:nvSpPr>
          <p:cNvPr id="18" name="Text 16"/>
          <p:cNvSpPr/>
          <p:nvPr/>
        </p:nvSpPr>
        <p:spPr>
          <a:xfrm>
            <a:off x="3566160" y="4572000"/>
            <a:ext cx="5212080" cy="786384"/>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Remain the system-of-record context; receive statuses, receipt references and summarized outcomes</a:t>
            </a:r>
            <a:endParaRPr lang="en-US" sz="1050" dirty="0"/>
          </a:p>
        </p:txBody>
      </p:sp>
      <p:sp>
        <p:nvSpPr>
          <p:cNvPr id="19" name="Text 17"/>
          <p:cNvSpPr/>
          <p:nvPr/>
        </p:nvSpPr>
        <p:spPr>
          <a:xfrm>
            <a:off x="8869680" y="4572000"/>
            <a:ext cx="2651760" cy="786384"/>
          </a:xfrm>
          <a:prstGeom prst="rect">
            <a:avLst/>
          </a:prstGeom>
          <a:noFill/>
          <a:ln/>
        </p:spPr>
        <p:txBody>
          <a:bodyPr wrap="square" lIns="0" tIns="0" rIns="0" bIns="0" rtlCol="0" anchor="ctr"/>
          <a:lstStyle/>
          <a:p>
            <a:pPr indent="0" marL="0">
              <a:buNone/>
            </a:pPr>
            <a:r>
              <a:rPr lang="en-US" sz="1000" i="1" dirty="0">
                <a:solidFill>
                  <a:srgbClr val="374151"/>
                </a:solidFill>
                <a:latin typeface="Calibri" pitchFamily="34" charset="0"/>
                <a:ea typeface="Calibri" pitchFamily="34" charset="-122"/>
                <a:cs typeface="Calibri" pitchFamily="34" charset="-120"/>
              </a:rPr>
              <a:t>ServiceNow (via PROPOSED integration)</a:t>
            </a:r>
            <a:endParaRPr lang="en-US" sz="1000" dirty="0"/>
          </a:p>
        </p:txBody>
      </p:sp>
      <p:sp>
        <p:nvSpPr>
          <p:cNvPr id="20" name="Shape 18"/>
          <p:cNvSpPr/>
          <p:nvPr/>
        </p:nvSpPr>
        <p:spPr>
          <a:xfrm>
            <a:off x="548640" y="5623560"/>
            <a:ext cx="11064240" cy="566928"/>
          </a:xfrm>
          <a:prstGeom prst="roundRect">
            <a:avLst>
              <a:gd name="adj" fmla="val 9677"/>
            </a:avLst>
          </a:prstGeom>
          <a:solidFill>
            <a:srgbClr val="1E2340"/>
          </a:solidFill>
          <a:ln w="12700">
            <a:solidFill>
              <a:srgbClr val="333333"/>
            </a:solidFill>
            <a:prstDash val="solid"/>
          </a:ln>
        </p:spPr>
      </p:sp>
      <p:sp>
        <p:nvSpPr>
          <p:cNvPr id="21" name="Text 19"/>
          <p:cNvSpPr/>
          <p:nvPr/>
        </p:nvSpPr>
        <p:spPr>
          <a:xfrm>
            <a:off x="777240" y="5641848"/>
            <a:ext cx="10607040" cy="530352"/>
          </a:xfrm>
          <a:prstGeom prst="rect">
            <a:avLst/>
          </a:prstGeom>
          <a:noFill/>
          <a:ln/>
        </p:spPr>
        <p:txBody>
          <a:bodyPr wrap="square" lIns="0" tIns="0" rIns="0" bIns="0" rtlCol="0" anchor="ctr"/>
          <a:lstStyle/>
          <a:p>
            <a:pPr indent="0" marL="0">
              <a:buNone/>
            </a:pPr>
            <a:r>
              <a:rPr lang="en-US" sz="1150" b="1" i="1" dirty="0">
                <a:solidFill>
                  <a:srgbClr val="FFFFFF"/>
                </a:solidFill>
                <a:latin typeface="Calibri" pitchFamily="34" charset="0"/>
                <a:ea typeface="Calibri" pitchFamily="34" charset="-122"/>
                <a:cs typeface="Calibri" pitchFamily="34" charset="-120"/>
              </a:rPr>
              <a:t>“Each Ugence module reads or references the necessary business context and emits a separate governance artifact. It does not silently rewrite the originating ServiceNow record.”</a:t>
            </a:r>
            <a:endParaRPr lang="en-US" sz="1150" dirty="0"/>
          </a:p>
        </p:txBody>
      </p:sp>
      <p:sp>
        <p:nvSpPr>
          <p:cNvPr id="23" name="Text 20"/>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THE DATA JOURNEY</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End-to-end, in plain language</a:t>
            </a:r>
            <a:endParaRPr lang="en-US" sz="2600" dirty="0"/>
          </a:p>
        </p:txBody>
      </p:sp>
      <p:sp>
        <p:nvSpPr>
          <p:cNvPr id="4" name="Shape 2"/>
          <p:cNvSpPr/>
          <p:nvPr/>
        </p:nvSpPr>
        <p:spPr>
          <a:xfrm>
            <a:off x="594360" y="1417320"/>
            <a:ext cx="274320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621792" y="141732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Business event</a:t>
            </a:r>
            <a:endParaRPr lang="en-US" sz="1050" dirty="0"/>
          </a:p>
        </p:txBody>
      </p:sp>
      <p:sp>
        <p:nvSpPr>
          <p:cNvPr id="6" name="Shape 4"/>
          <p:cNvSpPr/>
          <p:nvPr/>
        </p:nvSpPr>
        <p:spPr>
          <a:xfrm>
            <a:off x="594360" y="2331720"/>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7" name="Text 5"/>
          <p:cNvSpPr/>
          <p:nvPr/>
        </p:nvSpPr>
        <p:spPr>
          <a:xfrm>
            <a:off x="621792" y="233172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AI proposes an action</a:t>
            </a:r>
            <a:endParaRPr lang="en-US" sz="1050" dirty="0"/>
          </a:p>
        </p:txBody>
      </p:sp>
      <p:sp>
        <p:nvSpPr>
          <p:cNvPr id="8" name="Shape 6"/>
          <p:cNvSpPr/>
          <p:nvPr/>
        </p:nvSpPr>
        <p:spPr>
          <a:xfrm>
            <a:off x="594360" y="3246120"/>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9" name="Text 7"/>
          <p:cNvSpPr/>
          <p:nvPr/>
        </p:nvSpPr>
        <p:spPr>
          <a:xfrm>
            <a:off x="621792" y="324612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Authorized decision</a:t>
            </a:r>
            <a:endParaRPr lang="en-US" sz="1050" dirty="0"/>
          </a:p>
        </p:txBody>
      </p:sp>
      <p:sp>
        <p:nvSpPr>
          <p:cNvPr id="10" name="Shape 8"/>
          <p:cNvSpPr/>
          <p:nvPr/>
        </p:nvSpPr>
        <p:spPr>
          <a:xfrm>
            <a:off x="594360" y="4160520"/>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1" name="Text 9"/>
          <p:cNvSpPr/>
          <p:nvPr/>
        </p:nvSpPr>
        <p:spPr>
          <a:xfrm>
            <a:off x="621792" y="416052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Permission for the exact action</a:t>
            </a:r>
            <a:endParaRPr lang="en-US" sz="1050" dirty="0"/>
          </a:p>
        </p:txBody>
      </p:sp>
      <p:sp>
        <p:nvSpPr>
          <p:cNvPr id="12" name="Shape 10"/>
          <p:cNvSpPr/>
          <p:nvPr/>
        </p:nvSpPr>
        <p:spPr>
          <a:xfrm>
            <a:off x="1965960" y="1874520"/>
            <a:ext cx="914" cy="457200"/>
          </a:xfrm>
          <a:prstGeom prst="line">
            <a:avLst/>
          </a:prstGeom>
          <a:noFill/>
          <a:ln w="22225">
            <a:solidFill>
              <a:srgbClr val="4B5563"/>
            </a:solidFill>
            <a:prstDash val="solid"/>
            <a:tailEnd type="triangle"/>
          </a:ln>
        </p:spPr>
      </p:sp>
      <p:sp>
        <p:nvSpPr>
          <p:cNvPr id="13" name="Text 11"/>
          <p:cNvSpPr/>
          <p:nvPr/>
        </p:nvSpPr>
        <p:spPr>
          <a:xfrm>
            <a:off x="1005840" y="198424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a need or request arises</a:t>
            </a:r>
            <a:endParaRPr lang="en-US" sz="800" dirty="0"/>
          </a:p>
        </p:txBody>
      </p:sp>
      <p:sp>
        <p:nvSpPr>
          <p:cNvPr id="14" name="Shape 12"/>
          <p:cNvSpPr/>
          <p:nvPr/>
        </p:nvSpPr>
        <p:spPr>
          <a:xfrm>
            <a:off x="1965960" y="2788920"/>
            <a:ext cx="914" cy="457200"/>
          </a:xfrm>
          <a:prstGeom prst="line">
            <a:avLst/>
          </a:prstGeom>
          <a:noFill/>
          <a:ln w="22225">
            <a:solidFill>
              <a:srgbClr val="4B5563"/>
            </a:solidFill>
            <a:prstDash val="solid"/>
            <a:tailEnd type="triangle"/>
          </a:ln>
        </p:spPr>
      </p:sp>
      <p:sp>
        <p:nvSpPr>
          <p:cNvPr id="15" name="Text 13"/>
          <p:cNvSpPr/>
          <p:nvPr/>
        </p:nvSpPr>
        <p:spPr>
          <a:xfrm>
            <a:off x="1005840" y="289864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“do X to target Y”</a:t>
            </a:r>
            <a:endParaRPr lang="en-US" sz="800" dirty="0"/>
          </a:p>
        </p:txBody>
      </p:sp>
      <p:sp>
        <p:nvSpPr>
          <p:cNvPr id="16" name="Shape 14"/>
          <p:cNvSpPr/>
          <p:nvPr/>
        </p:nvSpPr>
        <p:spPr>
          <a:xfrm>
            <a:off x="1965960" y="3703320"/>
            <a:ext cx="914" cy="457200"/>
          </a:xfrm>
          <a:prstGeom prst="line">
            <a:avLst/>
          </a:prstGeom>
          <a:noFill/>
          <a:ln w="22225">
            <a:solidFill>
              <a:srgbClr val="4B5563"/>
            </a:solidFill>
            <a:prstDash val="solid"/>
            <a:tailEnd type="triangle"/>
          </a:ln>
        </p:spPr>
      </p:sp>
      <p:sp>
        <p:nvSpPr>
          <p:cNvPr id="17" name="Text 15"/>
          <p:cNvSpPr/>
          <p:nvPr/>
        </p:nvSpPr>
        <p:spPr>
          <a:xfrm>
            <a:off x="1005840" y="381304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approved by delegated authority</a:t>
            </a:r>
            <a:endParaRPr lang="en-US" sz="800" dirty="0"/>
          </a:p>
        </p:txBody>
      </p:sp>
      <p:sp>
        <p:nvSpPr>
          <p:cNvPr id="18" name="Shape 16"/>
          <p:cNvSpPr/>
          <p:nvPr/>
        </p:nvSpPr>
        <p:spPr>
          <a:xfrm>
            <a:off x="5715000" y="1417320"/>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5742432" y="141732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“Is it safe right now?” check</a:t>
            </a:r>
            <a:endParaRPr lang="en-US" sz="1050" dirty="0"/>
          </a:p>
        </p:txBody>
      </p:sp>
      <p:sp>
        <p:nvSpPr>
          <p:cNvPr id="20" name="Shape 18"/>
          <p:cNvSpPr/>
          <p:nvPr/>
        </p:nvSpPr>
        <p:spPr>
          <a:xfrm>
            <a:off x="5715000" y="2331720"/>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1" name="Text 19"/>
          <p:cNvSpPr/>
          <p:nvPr/>
        </p:nvSpPr>
        <p:spPr>
          <a:xfrm>
            <a:off x="5742432" y="233172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Controlled execution</a:t>
            </a:r>
            <a:endParaRPr lang="en-US" sz="1050" dirty="0"/>
          </a:p>
        </p:txBody>
      </p:sp>
      <p:sp>
        <p:nvSpPr>
          <p:cNvPr id="22" name="Shape 20"/>
          <p:cNvSpPr/>
          <p:nvPr/>
        </p:nvSpPr>
        <p:spPr>
          <a:xfrm>
            <a:off x="5715000" y="3246120"/>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3" name="Text 21"/>
          <p:cNvSpPr/>
          <p:nvPr/>
        </p:nvSpPr>
        <p:spPr>
          <a:xfrm>
            <a:off x="5742432" y="324612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Confirm the actual effect</a:t>
            </a:r>
            <a:endParaRPr lang="en-US" sz="1050" dirty="0"/>
          </a:p>
        </p:txBody>
      </p:sp>
      <p:sp>
        <p:nvSpPr>
          <p:cNvPr id="24" name="Shape 22"/>
          <p:cNvSpPr/>
          <p:nvPr/>
        </p:nvSpPr>
        <p:spPr>
          <a:xfrm>
            <a:off x="5715000" y="4160520"/>
            <a:ext cx="274320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25" name="Text 23"/>
          <p:cNvSpPr/>
          <p:nvPr/>
        </p:nvSpPr>
        <p:spPr>
          <a:xfrm>
            <a:off x="5742432" y="416052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Auditable result to ServiceNow</a:t>
            </a:r>
            <a:endParaRPr lang="en-US" sz="1050" dirty="0"/>
          </a:p>
        </p:txBody>
      </p:sp>
      <p:sp>
        <p:nvSpPr>
          <p:cNvPr id="26" name="Shape 24"/>
          <p:cNvSpPr/>
          <p:nvPr/>
        </p:nvSpPr>
        <p:spPr>
          <a:xfrm>
            <a:off x="7086600" y="1874520"/>
            <a:ext cx="914" cy="457200"/>
          </a:xfrm>
          <a:prstGeom prst="line">
            <a:avLst/>
          </a:prstGeom>
          <a:noFill/>
          <a:ln w="22225">
            <a:solidFill>
              <a:srgbClr val="4B5563"/>
            </a:solidFill>
            <a:prstDash val="solid"/>
            <a:tailEnd type="triangle"/>
          </a:ln>
        </p:spPr>
      </p:sp>
      <p:sp>
        <p:nvSpPr>
          <p:cNvPr id="27" name="Text 25"/>
          <p:cNvSpPr/>
          <p:nvPr/>
        </p:nvSpPr>
        <p:spPr>
          <a:xfrm>
            <a:off x="6126480" y="198424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live conditions verified</a:t>
            </a:r>
            <a:endParaRPr lang="en-US" sz="800" dirty="0"/>
          </a:p>
        </p:txBody>
      </p:sp>
      <p:sp>
        <p:nvSpPr>
          <p:cNvPr id="28" name="Shape 26"/>
          <p:cNvSpPr/>
          <p:nvPr/>
        </p:nvSpPr>
        <p:spPr>
          <a:xfrm>
            <a:off x="7086600" y="2788920"/>
            <a:ext cx="914" cy="457200"/>
          </a:xfrm>
          <a:prstGeom prst="line">
            <a:avLst/>
          </a:prstGeom>
          <a:noFill/>
          <a:ln w="22225">
            <a:solidFill>
              <a:srgbClr val="4B5563"/>
            </a:solidFill>
            <a:prstDash val="solid"/>
            <a:tailEnd type="triangle"/>
          </a:ln>
        </p:spPr>
      </p:sp>
      <p:sp>
        <p:nvSpPr>
          <p:cNvPr id="29" name="Text 27"/>
          <p:cNvSpPr/>
          <p:nvPr/>
        </p:nvSpPr>
        <p:spPr>
          <a:xfrm>
            <a:off x="6126480" y="289864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action carried out</a:t>
            </a:r>
            <a:endParaRPr lang="en-US" sz="800" dirty="0"/>
          </a:p>
        </p:txBody>
      </p:sp>
      <p:sp>
        <p:nvSpPr>
          <p:cNvPr id="30" name="Shape 28"/>
          <p:cNvSpPr/>
          <p:nvPr/>
        </p:nvSpPr>
        <p:spPr>
          <a:xfrm>
            <a:off x="7086600" y="3703320"/>
            <a:ext cx="914" cy="457200"/>
          </a:xfrm>
          <a:prstGeom prst="line">
            <a:avLst/>
          </a:prstGeom>
          <a:noFill/>
          <a:ln w="22225">
            <a:solidFill>
              <a:srgbClr val="4B5563"/>
            </a:solidFill>
            <a:prstDash val="solid"/>
            <a:tailEnd type="triangle"/>
          </a:ln>
        </p:spPr>
      </p:sp>
      <p:sp>
        <p:nvSpPr>
          <p:cNvPr id="31" name="Text 29"/>
          <p:cNvSpPr/>
          <p:nvPr/>
        </p:nvSpPr>
        <p:spPr>
          <a:xfrm>
            <a:off x="6126480" y="381304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only intended effect occurred</a:t>
            </a:r>
            <a:endParaRPr lang="en-US" sz="800" dirty="0"/>
          </a:p>
        </p:txBody>
      </p:sp>
      <p:sp>
        <p:nvSpPr>
          <p:cNvPr id="32" name="Shape 30"/>
          <p:cNvSpPr/>
          <p:nvPr/>
        </p:nvSpPr>
        <p:spPr>
          <a:xfrm flipV="1">
            <a:off x="3337560" y="1645920"/>
            <a:ext cx="2377440" cy="2743200"/>
          </a:xfrm>
          <a:prstGeom prst="line">
            <a:avLst/>
          </a:prstGeom>
          <a:noFill/>
          <a:ln w="22225">
            <a:solidFill>
              <a:srgbClr val="4B5563"/>
            </a:solidFill>
            <a:prstDash val="solid"/>
            <a:tailEnd type="triangle"/>
          </a:ln>
        </p:spPr>
      </p:sp>
      <p:sp>
        <p:nvSpPr>
          <p:cNvPr id="33" name="Text 31"/>
          <p:cNvSpPr/>
          <p:nvPr/>
        </p:nvSpPr>
        <p:spPr>
          <a:xfrm>
            <a:off x="3977640" y="2898648"/>
            <a:ext cx="109728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then</a:t>
            </a:r>
            <a:endParaRPr lang="en-US" sz="800" dirty="0"/>
          </a:p>
        </p:txBody>
      </p:sp>
      <p:sp>
        <p:nvSpPr>
          <p:cNvPr id="34" name="Shape 32"/>
          <p:cNvSpPr/>
          <p:nvPr/>
        </p:nvSpPr>
        <p:spPr>
          <a:xfrm>
            <a:off x="9052560" y="1371600"/>
            <a:ext cx="2651760" cy="4754880"/>
          </a:xfrm>
          <a:prstGeom prst="roundRect">
            <a:avLst>
              <a:gd name="adj" fmla="val 2069"/>
            </a:avLst>
          </a:prstGeom>
          <a:solidFill>
            <a:srgbClr val="EEF1F4"/>
          </a:solidFill>
          <a:ln w="12700">
            <a:solidFill>
              <a:srgbClr val="D8DEE9"/>
            </a:solidFill>
            <a:prstDash val="solid"/>
          </a:ln>
        </p:spPr>
      </p:sp>
      <p:sp>
        <p:nvSpPr>
          <p:cNvPr id="35" name="Text 33"/>
          <p:cNvSpPr/>
          <p:nvPr/>
        </p:nvSpPr>
        <p:spPr>
          <a:xfrm>
            <a:off x="9189720" y="1463040"/>
            <a:ext cx="2377440" cy="274320"/>
          </a:xfrm>
          <a:prstGeom prst="rect">
            <a:avLst/>
          </a:prstGeom>
          <a:noFill/>
          <a:ln/>
        </p:spPr>
        <p:txBody>
          <a:bodyPr wrap="square" rtlCol="0" anchor="ctr"/>
          <a:lstStyle/>
          <a:p>
            <a:pPr indent="0" marL="0">
              <a:buNone/>
            </a:pPr>
            <a:r>
              <a:rPr lang="en-US" sz="1100" b="1" dirty="0">
                <a:solidFill>
                  <a:srgbClr val="1E2340"/>
                </a:solidFill>
                <a:latin typeface="Calibri" pitchFamily="34" charset="0"/>
                <a:ea typeface="Calibri" pitchFamily="34" charset="-122"/>
                <a:cs typeface="Calibri" pitchFamily="34" charset="-120"/>
              </a:rPr>
              <a:t>Example information added</a:t>
            </a:r>
            <a:endParaRPr lang="en-US" sz="1100" dirty="0"/>
          </a:p>
        </p:txBody>
      </p:sp>
      <p:sp>
        <p:nvSpPr>
          <p:cNvPr id="36" name="Text 34"/>
          <p:cNvSpPr/>
          <p:nvPr/>
        </p:nvSpPr>
        <p:spPr>
          <a:xfrm>
            <a:off x="9235440" y="1828800"/>
            <a:ext cx="2377440" cy="4206240"/>
          </a:xfrm>
          <a:prstGeom prst="rect">
            <a:avLst/>
          </a:prstGeom>
          <a:noFill/>
          <a:ln/>
        </p:spPr>
        <p:txBody>
          <a:bodyPr wrap="square" rtlCol="0" anchor="ctr"/>
          <a:lstStyle/>
          <a:p>
            <a:pPr marL="152400" indent="-152400">
              <a:lnSpc>
                <a:spcPct val="100000"/>
              </a:lnSpc>
              <a:spcAft>
                <a:spcPts val="600"/>
              </a:spcAft>
              <a:buSzPct val="100000"/>
              <a:buChar char="•"/>
            </a:pPr>
            <a:r>
              <a:rPr lang="en-US" sz="950" dirty="0">
                <a:solidFill>
                  <a:srgbClr val="1E2340"/>
                </a:solidFill>
                <a:latin typeface="Calibri" pitchFamily="34" charset="0"/>
                <a:ea typeface="Calibri" pitchFamily="34" charset="-122"/>
                <a:cs typeface="Calibri" pitchFamily="34" charset="-120"/>
              </a:rPr>
              <a:t>Proposed: “scale checkout 12→18”</a:t>
            </a:r>
            <a:endParaRPr lang="en-US" sz="950" dirty="0"/>
          </a:p>
          <a:p>
            <a:pPr marL="152400" indent="-152400">
              <a:lnSpc>
                <a:spcPct val="100000"/>
              </a:lnSpc>
              <a:spcAft>
                <a:spcPts val="600"/>
              </a:spcAft>
              <a:buSzPct val="100000"/>
              <a:buChar char="•"/>
            </a:pPr>
            <a:r>
              <a:rPr lang="en-US" sz="950" dirty="0">
                <a:solidFill>
                  <a:srgbClr val="1E2340"/>
                </a:solidFill>
                <a:latin typeface="Calibri" pitchFamily="34" charset="0"/>
                <a:ea typeface="Calibri" pitchFamily="34" charset="-122"/>
                <a:cs typeface="Calibri" pitchFamily="34" charset="-120"/>
              </a:rPr>
              <a:t>Decision: approved under delegated scaling authority</a:t>
            </a:r>
            <a:endParaRPr lang="en-US" sz="950" dirty="0"/>
          </a:p>
          <a:p>
            <a:pPr marL="152400" indent="-152400">
              <a:lnSpc>
                <a:spcPct val="100000"/>
              </a:lnSpc>
              <a:spcAft>
                <a:spcPts val="600"/>
              </a:spcAft>
              <a:buSzPct val="100000"/>
              <a:buChar char="•"/>
            </a:pPr>
            <a:r>
              <a:rPr lang="en-US" sz="950" dirty="0">
                <a:solidFill>
                  <a:srgbClr val="1E2340"/>
                </a:solidFill>
                <a:latin typeface="Calibri" pitchFamily="34" charset="0"/>
                <a:ea typeface="Calibri" pitchFamily="34" charset="-122"/>
                <a:cs typeface="Calibri" pitchFamily="34" charset="-120"/>
              </a:rPr>
              <a:t>Permission: this cluster, service, window</a:t>
            </a:r>
            <a:endParaRPr lang="en-US" sz="950" dirty="0"/>
          </a:p>
          <a:p>
            <a:pPr marL="152400" indent="-152400">
              <a:lnSpc>
                <a:spcPct val="100000"/>
              </a:lnSpc>
              <a:spcAft>
                <a:spcPts val="600"/>
              </a:spcAft>
              <a:buSzPct val="100000"/>
              <a:buChar char="•"/>
            </a:pPr>
            <a:r>
              <a:rPr lang="en-US" sz="950" dirty="0">
                <a:solidFill>
                  <a:srgbClr val="1E2340"/>
                </a:solidFill>
                <a:latin typeface="Calibri" pitchFamily="34" charset="0"/>
                <a:ea typeface="Calibri" pitchFamily="34" charset="-122"/>
                <a:cs typeface="Calibri" pitchFamily="34" charset="-120"/>
              </a:rPr>
              <a:t>Clearance: no freeze, deps healthy, cost within limit</a:t>
            </a:r>
            <a:endParaRPr lang="en-US" sz="950" dirty="0"/>
          </a:p>
          <a:p>
            <a:pPr marL="152400" indent="-152400">
              <a:lnSpc>
                <a:spcPct val="100000"/>
              </a:lnSpc>
              <a:spcAft>
                <a:spcPts val="600"/>
              </a:spcAft>
              <a:buSzPct val="100000"/>
              <a:buChar char="•"/>
            </a:pPr>
            <a:r>
              <a:rPr lang="en-US" sz="950" dirty="0">
                <a:solidFill>
                  <a:srgbClr val="1E2340"/>
                </a:solidFill>
                <a:latin typeface="Calibri" pitchFamily="34" charset="0"/>
                <a:ea typeface="Calibri" pitchFamily="34" charset="-122"/>
                <a:cs typeface="Calibri" pitchFamily="34" charset="-120"/>
              </a:rPr>
              <a:t>Receipt: request accepted, completed</a:t>
            </a:r>
            <a:endParaRPr lang="en-US" sz="950" dirty="0"/>
          </a:p>
          <a:p>
            <a:pPr marL="152400" indent="-152400">
              <a:lnSpc>
                <a:spcPct val="100000"/>
              </a:lnSpc>
              <a:spcAft>
                <a:spcPts val="600"/>
              </a:spcAft>
              <a:buSzPct val="100000"/>
              <a:buChar char="•"/>
            </a:pPr>
            <a:r>
              <a:rPr lang="en-US" sz="950" dirty="0">
                <a:solidFill>
                  <a:srgbClr val="1E2340"/>
                </a:solidFill>
                <a:latin typeface="Calibri" pitchFamily="34" charset="0"/>
                <a:ea typeface="Calibri" pitchFamily="34" charset="-122"/>
                <a:cs typeface="Calibri" pitchFamily="34" charset="-120"/>
              </a:rPr>
              <a:t>Effect: 18 active, nothing else changed</a:t>
            </a:r>
            <a:endParaRPr lang="en-US" sz="950" dirty="0"/>
          </a:p>
          <a:p>
            <a:pPr marL="152400" indent="-152400">
              <a:lnSpc>
                <a:spcPct val="100000"/>
              </a:lnSpc>
              <a:spcAft>
                <a:spcPts val="600"/>
              </a:spcAft>
              <a:buSzPct val="100000"/>
              <a:buChar char="•"/>
            </a:pPr>
            <a:r>
              <a:rPr lang="en-US" sz="950" dirty="0">
                <a:solidFill>
                  <a:srgbClr val="1E2340"/>
                </a:solidFill>
                <a:latin typeface="Calibri" pitchFamily="34" charset="0"/>
                <a:ea typeface="Calibri" pitchFamily="34" charset="-122"/>
                <a:cs typeface="Calibri" pitchFamily="34" charset="-120"/>
              </a:rPr>
              <a:t>Result: execution matched authorization</a:t>
            </a:r>
            <a:endParaRPr lang="en-US" sz="950" dirty="0"/>
          </a:p>
        </p:txBody>
      </p:sp>
      <p:sp>
        <p:nvSpPr>
          <p:cNvPr id="37" name="Text 35"/>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No package names appear in the layman view. Illustrative example.</a:t>
            </a:r>
            <a:endParaRPr lang="en-US" sz="850" dirty="0"/>
          </a:p>
        </p:txBody>
      </p:sp>
      <p:sp>
        <p:nvSpPr>
          <p:cNvPr id="39" name="Text 36"/>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THE DATA JOURNEY</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The technical canonical workflow — modules that may participate</a:t>
            </a:r>
            <a:endParaRPr lang="en-US" sz="2600" dirty="0"/>
          </a:p>
        </p:txBody>
      </p:sp>
      <p:sp>
        <p:nvSpPr>
          <p:cNvPr id="4" name="Shape 2"/>
          <p:cNvSpPr/>
          <p:nvPr/>
        </p:nvSpPr>
        <p:spPr>
          <a:xfrm>
            <a:off x="548640" y="1188720"/>
            <a:ext cx="201168" cy="146304"/>
          </a:xfrm>
          <a:prstGeom prst="roundRect">
            <a:avLst>
              <a:gd name="adj" fmla="val 18750"/>
            </a:avLst>
          </a:prstGeom>
          <a:solidFill>
            <a:srgbClr val="E7F3EC"/>
          </a:solidFill>
          <a:ln w="12700">
            <a:solidFill>
              <a:srgbClr val="2E7D5B"/>
            </a:solidFill>
            <a:prstDash val="solid"/>
          </a:ln>
        </p:spPr>
      </p:sp>
      <p:sp>
        <p:nvSpPr>
          <p:cNvPr id="5" name="Text 3"/>
          <p:cNvSpPr/>
          <p:nvPr/>
        </p:nvSpPr>
        <p:spPr>
          <a:xfrm>
            <a:off x="804672" y="1143000"/>
            <a:ext cx="10972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ServiceNow</a:t>
            </a:r>
            <a:endParaRPr lang="en-US" sz="850" dirty="0"/>
          </a:p>
        </p:txBody>
      </p:sp>
      <p:sp>
        <p:nvSpPr>
          <p:cNvPr id="6" name="Shape 4"/>
          <p:cNvSpPr/>
          <p:nvPr/>
        </p:nvSpPr>
        <p:spPr>
          <a:xfrm>
            <a:off x="2039112" y="1188720"/>
            <a:ext cx="201168" cy="146304"/>
          </a:xfrm>
          <a:prstGeom prst="roundRect">
            <a:avLst>
              <a:gd name="adj" fmla="val 18750"/>
            </a:avLst>
          </a:prstGeom>
          <a:solidFill>
            <a:srgbClr val="ECEAFB"/>
          </a:solidFill>
          <a:ln w="12700">
            <a:solidFill>
              <a:srgbClr val="5145C7"/>
            </a:solidFill>
            <a:prstDash val="solid"/>
          </a:ln>
        </p:spPr>
      </p:sp>
      <p:sp>
        <p:nvSpPr>
          <p:cNvPr id="7" name="Text 5"/>
          <p:cNvSpPr/>
          <p:nvPr/>
        </p:nvSpPr>
        <p:spPr>
          <a:xfrm>
            <a:off x="2295144" y="1143000"/>
            <a:ext cx="228600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decision/authority</a:t>
            </a:r>
            <a:endParaRPr lang="en-US" sz="850" dirty="0"/>
          </a:p>
        </p:txBody>
      </p:sp>
      <p:sp>
        <p:nvSpPr>
          <p:cNvPr id="8" name="Shape 6"/>
          <p:cNvSpPr/>
          <p:nvPr/>
        </p:nvSpPr>
        <p:spPr>
          <a:xfrm>
            <a:off x="4718304" y="1188720"/>
            <a:ext cx="201168" cy="146304"/>
          </a:xfrm>
          <a:prstGeom prst="roundRect">
            <a:avLst>
              <a:gd name="adj" fmla="val 18750"/>
            </a:avLst>
          </a:prstGeom>
          <a:solidFill>
            <a:srgbClr val="E4EFF7"/>
          </a:solidFill>
          <a:ln w="12700">
            <a:solidFill>
              <a:srgbClr val="2B6CB0"/>
            </a:solidFill>
            <a:prstDash val="solid"/>
          </a:ln>
        </p:spPr>
      </p:sp>
      <p:sp>
        <p:nvSpPr>
          <p:cNvPr id="9" name="Text 7"/>
          <p:cNvSpPr/>
          <p:nvPr/>
        </p:nvSpPr>
        <p:spPr>
          <a:xfrm>
            <a:off x="4974336" y="1143000"/>
            <a:ext cx="228600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execution/assurance</a:t>
            </a:r>
            <a:endParaRPr lang="en-US" sz="850" dirty="0"/>
          </a:p>
        </p:txBody>
      </p:sp>
      <p:sp>
        <p:nvSpPr>
          <p:cNvPr id="10" name="Shape 8"/>
          <p:cNvSpPr/>
          <p:nvPr/>
        </p:nvSpPr>
        <p:spPr>
          <a:xfrm>
            <a:off x="7397496" y="1188720"/>
            <a:ext cx="201168" cy="146304"/>
          </a:xfrm>
          <a:prstGeom prst="roundRect">
            <a:avLst>
              <a:gd name="adj" fmla="val 18750"/>
            </a:avLst>
          </a:prstGeom>
          <a:solidFill>
            <a:srgbClr val="EEF1F4"/>
          </a:solidFill>
          <a:ln w="12700">
            <a:solidFill>
              <a:srgbClr val="6B7280"/>
            </a:solidFill>
            <a:prstDash val="solid"/>
          </a:ln>
        </p:spPr>
      </p:sp>
      <p:sp>
        <p:nvSpPr>
          <p:cNvPr id="11" name="Text 9"/>
          <p:cNvSpPr/>
          <p:nvPr/>
        </p:nvSpPr>
        <p:spPr>
          <a:xfrm>
            <a:off x="7653528" y="1143000"/>
            <a:ext cx="7315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External</a:t>
            </a:r>
            <a:endParaRPr lang="en-US" sz="850" dirty="0"/>
          </a:p>
        </p:txBody>
      </p:sp>
      <p:sp>
        <p:nvSpPr>
          <p:cNvPr id="12" name="Shape 10"/>
          <p:cNvSpPr/>
          <p:nvPr/>
        </p:nvSpPr>
        <p:spPr>
          <a:xfrm>
            <a:off x="8522208" y="1188720"/>
            <a:ext cx="201168" cy="146304"/>
          </a:xfrm>
          <a:prstGeom prst="roundRect">
            <a:avLst>
              <a:gd name="adj" fmla="val 18750"/>
            </a:avLst>
          </a:prstGeom>
          <a:solidFill>
            <a:srgbClr val="FBEBE9"/>
          </a:solidFill>
          <a:ln w="12700">
            <a:solidFill>
              <a:srgbClr val="C0392B"/>
            </a:solidFill>
            <a:prstDash val="solid"/>
          </a:ln>
        </p:spPr>
      </p:sp>
      <p:sp>
        <p:nvSpPr>
          <p:cNvPr id="13" name="Text 11"/>
          <p:cNvSpPr/>
          <p:nvPr/>
        </p:nvSpPr>
        <p:spPr>
          <a:xfrm>
            <a:off x="8778240" y="1143000"/>
            <a:ext cx="10972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Stop paths</a:t>
            </a:r>
            <a:endParaRPr lang="en-US" sz="850" dirty="0"/>
          </a:p>
        </p:txBody>
      </p:sp>
      <p:sp>
        <p:nvSpPr>
          <p:cNvPr id="14" name="Shape 12"/>
          <p:cNvSpPr/>
          <p:nvPr/>
        </p:nvSpPr>
        <p:spPr>
          <a:xfrm>
            <a:off x="1691640" y="1508760"/>
            <a:ext cx="283464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1719072" y="1508760"/>
            <a:ext cx="277977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ServiceNow record</a:t>
            </a:r>
            <a:endParaRPr lang="en-US" sz="1050" dirty="0"/>
          </a:p>
        </p:txBody>
      </p:sp>
      <p:sp>
        <p:nvSpPr>
          <p:cNvPr id="16" name="Shape 14"/>
          <p:cNvSpPr/>
          <p:nvPr/>
        </p:nvSpPr>
        <p:spPr>
          <a:xfrm>
            <a:off x="1691640" y="2221992"/>
            <a:ext cx="283464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7" name="Text 15"/>
          <p:cNvSpPr/>
          <p:nvPr/>
        </p:nvSpPr>
        <p:spPr>
          <a:xfrm>
            <a:off x="1719072" y="2221992"/>
            <a:ext cx="277977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Decision Authority</a:t>
            </a:r>
            <a:endParaRPr lang="en-US" sz="1050" dirty="0"/>
          </a:p>
        </p:txBody>
      </p:sp>
      <p:sp>
        <p:nvSpPr>
          <p:cNvPr id="18" name="Shape 16"/>
          <p:cNvSpPr/>
          <p:nvPr/>
        </p:nvSpPr>
        <p:spPr>
          <a:xfrm>
            <a:off x="1691640" y="2935224"/>
            <a:ext cx="283464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1719072" y="2935224"/>
            <a:ext cx="277977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ActionGate  ·  exact action</a:t>
            </a:r>
            <a:endParaRPr lang="en-US" sz="1050" dirty="0"/>
          </a:p>
        </p:txBody>
      </p:sp>
      <p:sp>
        <p:nvSpPr>
          <p:cNvPr id="20" name="Shape 18"/>
          <p:cNvSpPr/>
          <p:nvPr/>
        </p:nvSpPr>
        <p:spPr>
          <a:xfrm>
            <a:off x="1691640" y="3648456"/>
            <a:ext cx="283464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21" name="Text 19"/>
          <p:cNvSpPr/>
          <p:nvPr/>
        </p:nvSpPr>
        <p:spPr>
          <a:xfrm>
            <a:off x="1719072" y="3648456"/>
            <a:ext cx="277977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Action Clearance (ACP)</a:t>
            </a:r>
            <a:endParaRPr lang="en-US" sz="1050" dirty="0"/>
          </a:p>
        </p:txBody>
      </p:sp>
      <p:sp>
        <p:nvSpPr>
          <p:cNvPr id="22" name="Shape 20"/>
          <p:cNvSpPr/>
          <p:nvPr/>
        </p:nvSpPr>
        <p:spPr>
          <a:xfrm>
            <a:off x="1691640" y="4361688"/>
            <a:ext cx="283464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3" name="Text 21"/>
          <p:cNvSpPr/>
          <p:nvPr/>
        </p:nvSpPr>
        <p:spPr>
          <a:xfrm>
            <a:off x="1719072" y="4361688"/>
            <a:ext cx="277977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Agent Runtime  ·  coordinates</a:t>
            </a:r>
            <a:endParaRPr lang="en-US" sz="1050" dirty="0"/>
          </a:p>
        </p:txBody>
      </p:sp>
      <p:sp>
        <p:nvSpPr>
          <p:cNvPr id="24" name="Shape 22"/>
          <p:cNvSpPr/>
          <p:nvPr/>
        </p:nvSpPr>
        <p:spPr>
          <a:xfrm>
            <a:off x="1691640" y="5074920"/>
            <a:ext cx="283464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5" name="Text 23"/>
          <p:cNvSpPr/>
          <p:nvPr/>
        </p:nvSpPr>
        <p:spPr>
          <a:xfrm>
            <a:off x="1719072" y="5074920"/>
            <a:ext cx="277977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RA-8 Execution Assurance</a:t>
            </a:r>
            <a:endParaRPr lang="en-US" sz="1050" dirty="0"/>
          </a:p>
        </p:txBody>
      </p:sp>
      <p:sp>
        <p:nvSpPr>
          <p:cNvPr id="26" name="Shape 24"/>
          <p:cNvSpPr/>
          <p:nvPr/>
        </p:nvSpPr>
        <p:spPr>
          <a:xfrm>
            <a:off x="1691640" y="5788152"/>
            <a:ext cx="283464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27" name="Text 25"/>
          <p:cNvSpPr/>
          <p:nvPr/>
        </p:nvSpPr>
        <p:spPr>
          <a:xfrm>
            <a:off x="1719072" y="5788152"/>
            <a:ext cx="277977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ServiceNow record (status + receipts)</a:t>
            </a:r>
            <a:endParaRPr lang="en-US" sz="1050" dirty="0"/>
          </a:p>
        </p:txBody>
      </p:sp>
      <p:sp>
        <p:nvSpPr>
          <p:cNvPr id="28" name="Shape 26"/>
          <p:cNvSpPr/>
          <p:nvPr/>
        </p:nvSpPr>
        <p:spPr>
          <a:xfrm>
            <a:off x="3108960" y="1965960"/>
            <a:ext cx="914" cy="256032"/>
          </a:xfrm>
          <a:prstGeom prst="line">
            <a:avLst/>
          </a:prstGeom>
          <a:noFill/>
          <a:ln w="22225">
            <a:solidFill>
              <a:srgbClr val="4B5563"/>
            </a:solidFill>
            <a:prstDash val="solid"/>
            <a:tailEnd type="triangle"/>
          </a:ln>
        </p:spPr>
      </p:sp>
      <p:sp>
        <p:nvSpPr>
          <p:cNvPr id="29" name="Text 27"/>
          <p:cNvSpPr/>
          <p:nvPr/>
        </p:nvSpPr>
        <p:spPr>
          <a:xfrm>
            <a:off x="2148840" y="197510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business record + approval context</a:t>
            </a:r>
            <a:endParaRPr lang="en-US" sz="800" dirty="0"/>
          </a:p>
        </p:txBody>
      </p:sp>
      <p:sp>
        <p:nvSpPr>
          <p:cNvPr id="30" name="Shape 28"/>
          <p:cNvSpPr/>
          <p:nvPr/>
        </p:nvSpPr>
        <p:spPr>
          <a:xfrm>
            <a:off x="3108960" y="2679192"/>
            <a:ext cx="914" cy="256032"/>
          </a:xfrm>
          <a:prstGeom prst="line">
            <a:avLst/>
          </a:prstGeom>
          <a:noFill/>
          <a:ln w="22225">
            <a:solidFill>
              <a:srgbClr val="4B5563"/>
            </a:solidFill>
            <a:prstDash val="solid"/>
            <a:tailEnd type="triangle"/>
          </a:ln>
        </p:spPr>
      </p:sp>
      <p:sp>
        <p:nvSpPr>
          <p:cNvPr id="31" name="Text 29"/>
          <p:cNvSpPr/>
          <p:nvPr/>
        </p:nvSpPr>
        <p:spPr>
          <a:xfrm>
            <a:off x="2148840" y="268833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binding decision record</a:t>
            </a:r>
            <a:endParaRPr lang="en-US" sz="800" dirty="0"/>
          </a:p>
        </p:txBody>
      </p:sp>
      <p:sp>
        <p:nvSpPr>
          <p:cNvPr id="32" name="Shape 30"/>
          <p:cNvSpPr/>
          <p:nvPr/>
        </p:nvSpPr>
        <p:spPr>
          <a:xfrm>
            <a:off x="3108960" y="3392424"/>
            <a:ext cx="914" cy="256032"/>
          </a:xfrm>
          <a:prstGeom prst="line">
            <a:avLst/>
          </a:prstGeom>
          <a:noFill/>
          <a:ln w="22225">
            <a:solidFill>
              <a:srgbClr val="4B5563"/>
            </a:solidFill>
            <a:prstDash val="solid"/>
            <a:tailEnd type="triangle"/>
          </a:ln>
        </p:spPr>
      </p:sp>
      <p:sp>
        <p:nvSpPr>
          <p:cNvPr id="33" name="Text 31"/>
          <p:cNvSpPr/>
          <p:nvPr/>
        </p:nvSpPr>
        <p:spPr>
          <a:xfrm>
            <a:off x="2148840" y="340156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exact-target authorization</a:t>
            </a:r>
            <a:endParaRPr lang="en-US" sz="800" dirty="0"/>
          </a:p>
        </p:txBody>
      </p:sp>
      <p:sp>
        <p:nvSpPr>
          <p:cNvPr id="34" name="Shape 32"/>
          <p:cNvSpPr/>
          <p:nvPr/>
        </p:nvSpPr>
        <p:spPr>
          <a:xfrm>
            <a:off x="3108960" y="4105656"/>
            <a:ext cx="914" cy="256032"/>
          </a:xfrm>
          <a:prstGeom prst="line">
            <a:avLst/>
          </a:prstGeom>
          <a:noFill/>
          <a:ln w="22225">
            <a:solidFill>
              <a:srgbClr val="4B5563"/>
            </a:solidFill>
            <a:prstDash val="solid"/>
            <a:tailEnd type="triangle"/>
          </a:ln>
        </p:spPr>
      </p:sp>
      <p:sp>
        <p:nvSpPr>
          <p:cNvPr id="35" name="Text 33"/>
          <p:cNvSpPr/>
          <p:nvPr/>
        </p:nvSpPr>
        <p:spPr>
          <a:xfrm>
            <a:off x="2148840" y="4114800"/>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CLEAR</a:t>
            </a:r>
            <a:endParaRPr lang="en-US" sz="800" dirty="0"/>
          </a:p>
        </p:txBody>
      </p:sp>
      <p:sp>
        <p:nvSpPr>
          <p:cNvPr id="36" name="Shape 34"/>
          <p:cNvSpPr/>
          <p:nvPr/>
        </p:nvSpPr>
        <p:spPr>
          <a:xfrm>
            <a:off x="3108960" y="4818888"/>
            <a:ext cx="914" cy="256032"/>
          </a:xfrm>
          <a:prstGeom prst="line">
            <a:avLst/>
          </a:prstGeom>
          <a:noFill/>
          <a:ln w="22225">
            <a:solidFill>
              <a:srgbClr val="4B5563"/>
            </a:solidFill>
            <a:prstDash val="solid"/>
            <a:tailEnd type="triangle"/>
          </a:ln>
        </p:spPr>
      </p:sp>
      <p:sp>
        <p:nvSpPr>
          <p:cNvPr id="37" name="Text 35"/>
          <p:cNvSpPr/>
          <p:nvPr/>
        </p:nvSpPr>
        <p:spPr>
          <a:xfrm>
            <a:off x="2148840" y="482803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execution receipt</a:t>
            </a:r>
            <a:endParaRPr lang="en-US" sz="800" dirty="0"/>
          </a:p>
        </p:txBody>
      </p:sp>
      <p:sp>
        <p:nvSpPr>
          <p:cNvPr id="38" name="Shape 36"/>
          <p:cNvSpPr/>
          <p:nvPr/>
        </p:nvSpPr>
        <p:spPr>
          <a:xfrm>
            <a:off x="3108960" y="5532120"/>
            <a:ext cx="914" cy="256032"/>
          </a:xfrm>
          <a:prstGeom prst="line">
            <a:avLst/>
          </a:prstGeom>
          <a:noFill/>
          <a:ln w="22225">
            <a:solidFill>
              <a:srgbClr val="4B5563"/>
            </a:solidFill>
            <a:prstDash val="solid"/>
            <a:tailEnd type="triangle"/>
          </a:ln>
        </p:spPr>
      </p:sp>
      <p:sp>
        <p:nvSpPr>
          <p:cNvPr id="39" name="Text 37"/>
          <p:cNvSpPr/>
          <p:nvPr/>
        </p:nvSpPr>
        <p:spPr>
          <a:xfrm>
            <a:off x="2148840" y="554126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effect matched</a:t>
            </a:r>
            <a:endParaRPr lang="en-US" sz="800" dirty="0"/>
          </a:p>
        </p:txBody>
      </p:sp>
      <p:sp>
        <p:nvSpPr>
          <p:cNvPr id="40" name="Shape 38"/>
          <p:cNvSpPr/>
          <p:nvPr/>
        </p:nvSpPr>
        <p:spPr>
          <a:xfrm>
            <a:off x="7589520" y="2935224"/>
            <a:ext cx="2194560" cy="1170432"/>
          </a:xfrm>
          <a:prstGeom prst="roundRect">
            <a:avLst>
              <a:gd name="adj" fmla="val 4688"/>
            </a:avLst>
          </a:prstGeom>
          <a:solidFill>
            <a:srgbClr val="FBEBE9"/>
          </a:solidFill>
          <a:ln w="15875">
            <a:solidFill>
              <a:srgbClr val="C0392B"/>
            </a:solidFill>
            <a:prstDash val="solid"/>
          </a:ln>
        </p:spPr>
      </p:sp>
      <p:sp>
        <p:nvSpPr>
          <p:cNvPr id="41" name="Text 39"/>
          <p:cNvSpPr/>
          <p:nvPr/>
        </p:nvSpPr>
        <p:spPr>
          <a:xfrm>
            <a:off x="7680960" y="2935224"/>
            <a:ext cx="2011680" cy="1170432"/>
          </a:xfrm>
          <a:prstGeom prst="rect">
            <a:avLst/>
          </a:prstGeom>
          <a:noFill/>
          <a:ln/>
        </p:spPr>
        <p:txBody>
          <a:bodyPr wrap="square" lIns="25400" tIns="25400" rIns="25400" bIns="25400" rtlCol="0" anchor="ctr"/>
          <a:lstStyle/>
          <a:p>
            <a:pPr algn="ctr" indent="0" marL="0">
              <a:lnSpc>
                <a:spcPct val="100000"/>
              </a:lnSpc>
              <a:buNone/>
            </a:pPr>
            <a:r>
              <a:rPr lang="en-US" sz="1000" b="1" dirty="0">
                <a:solidFill>
                  <a:srgbClr val="7A2016"/>
                </a:solidFill>
                <a:latin typeface="Calibri" pitchFamily="34" charset="0"/>
                <a:ea typeface="Calibri" pitchFamily="34" charset="-122"/>
                <a:cs typeface="Calibri" pitchFamily="34" charset="-120"/>
              </a:rPr>
              <a:t>STOP  /  HOLD  /  BLOCK  /  ESCALATE</a:t>
            </a:r>
            <a:endParaRPr lang="en-US" sz="1000" dirty="0"/>
          </a:p>
          <a:p>
            <a:pPr algn="ctr" indent="0" marL="0">
              <a:lnSpc>
                <a:spcPct val="100000"/>
              </a:lnSpc>
              <a:buNone/>
            </a:pPr>
            <a:endParaRPr lang="en-US" sz="1000" dirty="0"/>
          </a:p>
          <a:p>
            <a:pPr algn="ctr" indent="0" marL="0">
              <a:lnSpc>
                <a:spcPct val="100000"/>
              </a:lnSpc>
              <a:buNone/>
            </a:pPr>
            <a:r>
              <a:rPr lang="en-US" sz="1000" b="1" dirty="0">
                <a:solidFill>
                  <a:srgbClr val="7A2016"/>
                </a:solidFill>
                <a:latin typeface="Calibri" pitchFamily="34" charset="0"/>
                <a:ea typeface="Calibri" pitchFamily="34" charset="-122"/>
                <a:cs typeface="Calibri" pitchFamily="34" charset="-120"/>
              </a:rPr>
              <a:t>uncertainty is never promoted to permission (fail-closed)</a:t>
            </a:r>
            <a:endParaRPr lang="en-US" sz="1000" dirty="0"/>
          </a:p>
        </p:txBody>
      </p:sp>
      <p:sp>
        <p:nvSpPr>
          <p:cNvPr id="42" name="Shape 40"/>
          <p:cNvSpPr/>
          <p:nvPr/>
        </p:nvSpPr>
        <p:spPr>
          <a:xfrm>
            <a:off x="4526280" y="3163824"/>
            <a:ext cx="3063240" cy="914"/>
          </a:xfrm>
          <a:prstGeom prst="line">
            <a:avLst/>
          </a:prstGeom>
          <a:noFill/>
          <a:ln w="22225">
            <a:solidFill>
              <a:srgbClr val="C0392B"/>
            </a:solidFill>
            <a:prstDash val="solid"/>
            <a:tailEnd type="triangle"/>
          </a:ln>
        </p:spPr>
      </p:sp>
      <p:sp>
        <p:nvSpPr>
          <p:cNvPr id="43" name="Text 41"/>
          <p:cNvSpPr/>
          <p:nvPr/>
        </p:nvSpPr>
        <p:spPr>
          <a:xfrm>
            <a:off x="5280660" y="3044952"/>
            <a:ext cx="155448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C0392B"/>
                </a:solidFill>
                <a:latin typeface="Calibri" pitchFamily="34" charset="0"/>
                <a:ea typeface="Calibri" pitchFamily="34" charset="-122"/>
                <a:cs typeface="Calibri" pitchFamily="34" charset="-120"/>
              </a:rPr>
              <a:t>DENIED / INDET.</a:t>
            </a:r>
            <a:endParaRPr lang="en-US" sz="800" dirty="0"/>
          </a:p>
        </p:txBody>
      </p:sp>
      <p:sp>
        <p:nvSpPr>
          <p:cNvPr id="44" name="Shape 42"/>
          <p:cNvSpPr/>
          <p:nvPr/>
        </p:nvSpPr>
        <p:spPr>
          <a:xfrm>
            <a:off x="4526280" y="3877056"/>
            <a:ext cx="3063240" cy="914"/>
          </a:xfrm>
          <a:prstGeom prst="line">
            <a:avLst/>
          </a:prstGeom>
          <a:noFill/>
          <a:ln w="22225">
            <a:solidFill>
              <a:srgbClr val="C0392B"/>
            </a:solidFill>
            <a:prstDash val="solid"/>
            <a:tailEnd type="triangle"/>
          </a:ln>
        </p:spPr>
      </p:sp>
      <p:sp>
        <p:nvSpPr>
          <p:cNvPr id="45" name="Text 43"/>
          <p:cNvSpPr/>
          <p:nvPr/>
        </p:nvSpPr>
        <p:spPr>
          <a:xfrm>
            <a:off x="5326380" y="3758184"/>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C0392B"/>
                </a:solidFill>
                <a:latin typeface="Calibri" pitchFamily="34" charset="0"/>
                <a:ea typeface="Calibri" pitchFamily="34" charset="-122"/>
                <a:cs typeface="Calibri" pitchFamily="34" charset="-120"/>
              </a:rPr>
              <a:t>HOLD / BLOCK</a:t>
            </a:r>
            <a:endParaRPr lang="en-US" sz="800" dirty="0"/>
          </a:p>
        </p:txBody>
      </p:sp>
      <p:sp>
        <p:nvSpPr>
          <p:cNvPr id="46" name="Shape 44"/>
          <p:cNvSpPr/>
          <p:nvPr/>
        </p:nvSpPr>
        <p:spPr>
          <a:xfrm>
            <a:off x="8686800" y="4105656"/>
            <a:ext cx="914" cy="1911096"/>
          </a:xfrm>
          <a:prstGeom prst="line">
            <a:avLst/>
          </a:prstGeom>
          <a:noFill/>
          <a:ln w="22225">
            <a:solidFill>
              <a:srgbClr val="4B5563"/>
            </a:solidFill>
            <a:prstDash val="solid"/>
            <a:tailEnd type="triangle"/>
          </a:ln>
        </p:spPr>
      </p:sp>
      <p:sp>
        <p:nvSpPr>
          <p:cNvPr id="47" name="Text 45"/>
          <p:cNvSpPr/>
          <p:nvPr/>
        </p:nvSpPr>
        <p:spPr>
          <a:xfrm>
            <a:off x="7909560" y="4942332"/>
            <a:ext cx="155448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reason + evidence</a:t>
            </a:r>
            <a:endParaRPr lang="en-US" sz="800" dirty="0"/>
          </a:p>
        </p:txBody>
      </p:sp>
      <p:sp>
        <p:nvSpPr>
          <p:cNvPr id="48" name="Shape 46"/>
          <p:cNvSpPr/>
          <p:nvPr/>
        </p:nvSpPr>
        <p:spPr>
          <a:xfrm flipH="1">
            <a:off x="4526280" y="6016752"/>
            <a:ext cx="4160520" cy="914"/>
          </a:xfrm>
          <a:prstGeom prst="line">
            <a:avLst/>
          </a:prstGeom>
          <a:noFill/>
          <a:ln w="22225">
            <a:solidFill>
              <a:srgbClr val="4B5563"/>
            </a:solidFill>
            <a:prstDash val="solid"/>
            <a:tailEnd type="triangle"/>
          </a:ln>
        </p:spPr>
      </p:sp>
      <p:sp>
        <p:nvSpPr>
          <p:cNvPr id="49" name="Shape 47"/>
          <p:cNvSpPr/>
          <p:nvPr/>
        </p:nvSpPr>
        <p:spPr>
          <a:xfrm>
            <a:off x="7589520" y="4709160"/>
            <a:ext cx="4023360" cy="1371600"/>
          </a:xfrm>
          <a:prstGeom prst="roundRect">
            <a:avLst>
              <a:gd name="adj" fmla="val 4000"/>
            </a:avLst>
          </a:prstGeom>
          <a:solidFill>
            <a:srgbClr val="EEF1F4"/>
          </a:solidFill>
          <a:ln w="12700">
            <a:solidFill>
              <a:srgbClr val="D8DEE9"/>
            </a:solidFill>
            <a:prstDash val="solid"/>
          </a:ln>
        </p:spPr>
      </p:sp>
      <p:sp>
        <p:nvSpPr>
          <p:cNvPr id="50" name="Text 48"/>
          <p:cNvSpPr/>
          <p:nvPr/>
        </p:nvSpPr>
        <p:spPr>
          <a:xfrm>
            <a:off x="7726680" y="4773168"/>
            <a:ext cx="3794760" cy="1280160"/>
          </a:xfrm>
          <a:prstGeom prst="rect">
            <a:avLst/>
          </a:prstGeom>
          <a:noFill/>
          <a:ln/>
        </p:spPr>
        <p:txBody>
          <a:bodyPr wrap="square" lIns="0" tIns="0" rIns="0" bIns="0" rtlCol="0" anchor="t"/>
          <a:lstStyle/>
          <a:p>
            <a:pPr indent="0" marL="0">
              <a:lnSpc>
                <a:spcPct val="100000"/>
              </a:lnSpc>
              <a:buNone/>
            </a:pPr>
            <a:r>
              <a:rPr lang="en-US" sz="900" b="1" dirty="0">
                <a:solidFill>
                  <a:srgbClr val="1E2340"/>
                </a:solidFill>
                <a:latin typeface="Calibri" pitchFamily="34" charset="0"/>
                <a:ea typeface="Calibri" pitchFamily="34" charset="-122"/>
                <a:cs typeface="Calibri" pitchFamily="34" charset="-120"/>
              </a:rPr>
              <a:t>Where a scenario needs them:  </a:t>
            </a:r>
            <a:pPr indent="0" marL="0">
              <a:lnSpc>
                <a:spcPct val="100000"/>
              </a:lnSpc>
              <a:buNone/>
            </a:pPr>
            <a:r>
              <a:rPr lang="en-US" sz="900" dirty="0">
                <a:solidFill>
                  <a:srgbClr val="1E2340"/>
                </a:solidFill>
                <a:latin typeface="Calibri" pitchFamily="34" charset="0"/>
                <a:ea typeface="Calibri" pitchFamily="34" charset="-122"/>
                <a:cs typeface="Calibri" pitchFamily="34" charset="-120"/>
              </a:rPr>
              <a:t>Policy Workflow Compiler and RA-5 trusted evidence sit upstream of the decision; Risk Authority mints a signed, scoped, time-limited authorization; Model Authority authorizes the model; StoryGraph flags sequence risk; RA-6 revokes authority; RA-7 assesses in-flight trajectory. Only participating modules are shown per scenario.</a:t>
            </a:r>
            <a:endParaRPr lang="en-US" sz="900" dirty="0"/>
          </a:p>
        </p:txBody>
      </p:sp>
      <p:sp>
        <p:nvSpPr>
          <p:cNvPr id="51" name="Text 49"/>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Each layer speaks a distinct decision verb; authority never leaks across layers. Not every module appears in every scenario.</a:t>
            </a:r>
            <a:endParaRPr lang="en-US" sz="850" dirty="0"/>
          </a:p>
        </p:txBody>
      </p:sp>
      <p:sp>
        <p:nvSpPr>
          <p:cNvPr id="53" name="Text 50"/>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III</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Module responsibilities</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A business-readable glossary, and the repository-verified architecture facts</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MODULE RESPONSIBILITIES</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Architecture facts we hold to (verified against the source of record)</a:t>
            </a:r>
            <a:endParaRPr lang="en-US" sz="2600" dirty="0"/>
          </a:p>
        </p:txBody>
      </p:sp>
      <p:sp>
        <p:nvSpPr>
          <p:cNvPr id="4" name="Shape 2"/>
          <p:cNvSpPr/>
          <p:nvPr/>
        </p:nvSpPr>
        <p:spPr>
          <a:xfrm>
            <a:off x="548640" y="1371600"/>
            <a:ext cx="5440680" cy="1417320"/>
          </a:xfrm>
          <a:prstGeom prst="roundRect">
            <a:avLst>
              <a:gd name="adj" fmla="val 3871"/>
            </a:avLst>
          </a:prstGeom>
          <a:solidFill>
            <a:srgbClr val="FFFFFF"/>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Shape 3"/>
          <p:cNvSpPr/>
          <p:nvPr/>
        </p:nvSpPr>
        <p:spPr>
          <a:xfrm>
            <a:off x="731520" y="1591056"/>
            <a:ext cx="384048" cy="384048"/>
          </a:xfrm>
          <a:prstGeom prst="ellipse">
            <a:avLst/>
          </a:prstGeom>
          <a:solidFill>
            <a:srgbClr val="5145C7"/>
          </a:solidFill>
          <a:ln w="12700">
            <a:solidFill>
              <a:srgbClr val="333333"/>
            </a:solidFill>
            <a:prstDash val="solid"/>
          </a:ln>
        </p:spPr>
      </p:sp>
      <p:sp>
        <p:nvSpPr>
          <p:cNvPr id="6" name="Text 4"/>
          <p:cNvSpPr/>
          <p:nvPr/>
        </p:nvSpPr>
        <p:spPr>
          <a:xfrm>
            <a:off x="731520" y="15910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1261872" y="1499616"/>
            <a:ext cx="4572000" cy="457200"/>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Decision Authority owns the binding decision</a:t>
            </a:r>
            <a:endParaRPr lang="en-US" sz="1150" dirty="0"/>
          </a:p>
        </p:txBody>
      </p:sp>
      <p:sp>
        <p:nvSpPr>
          <p:cNvPr id="8" name="Text 6"/>
          <p:cNvSpPr/>
          <p:nvPr/>
        </p:nvSpPr>
        <p:spPr>
          <a:xfrm>
            <a:off x="1261872" y="1920240"/>
            <a:ext cx="4572000" cy="777240"/>
          </a:xfrm>
          <a:prstGeom prst="rect">
            <a:avLst/>
          </a:prstGeom>
          <a:noFill/>
          <a:ln/>
        </p:spPr>
        <p:txBody>
          <a:bodyPr wrap="square" lIns="0" tIns="0" rIns="0" bIns="0" rtlCol="0" anchor="ctr"/>
          <a:lstStyle/>
          <a:p>
            <a:pPr indent="0" marL="0">
              <a:lnSpc>
                <a:spcPct val="100000"/>
              </a:lnSpc>
              <a:buNone/>
            </a:pPr>
            <a:r>
              <a:rPr lang="en-US" sz="980" dirty="0">
                <a:solidFill>
                  <a:srgbClr val="1E2340"/>
                </a:solidFill>
                <a:latin typeface="Calibri" pitchFamily="34" charset="0"/>
                <a:ea typeface="Calibri" pitchFamily="34" charset="-122"/>
                <a:cs typeface="Calibri" pitchFamily="34" charset="-120"/>
              </a:rPr>
              <a:t>It also owns execution and reconciliation records, and the context-envelope records (CER). AI is barred as an authorizing principal.</a:t>
            </a:r>
            <a:endParaRPr lang="en-US" sz="980" dirty="0"/>
          </a:p>
        </p:txBody>
      </p:sp>
      <p:sp>
        <p:nvSpPr>
          <p:cNvPr id="9" name="Shape 7"/>
          <p:cNvSpPr/>
          <p:nvPr/>
        </p:nvSpPr>
        <p:spPr>
          <a:xfrm>
            <a:off x="6172200" y="1371600"/>
            <a:ext cx="5440680" cy="1417320"/>
          </a:xfrm>
          <a:prstGeom prst="roundRect">
            <a:avLst>
              <a:gd name="adj" fmla="val 3871"/>
            </a:avLst>
          </a:prstGeom>
          <a:solidFill>
            <a:srgbClr val="FFFFFF"/>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10" name="Shape 8"/>
          <p:cNvSpPr/>
          <p:nvPr/>
        </p:nvSpPr>
        <p:spPr>
          <a:xfrm>
            <a:off x="6355080" y="1591056"/>
            <a:ext cx="384048" cy="384048"/>
          </a:xfrm>
          <a:prstGeom prst="ellipse">
            <a:avLst/>
          </a:prstGeom>
          <a:solidFill>
            <a:srgbClr val="5145C7"/>
          </a:solidFill>
          <a:ln w="12700">
            <a:solidFill>
              <a:srgbClr val="333333"/>
            </a:solidFill>
            <a:prstDash val="solid"/>
          </a:ln>
        </p:spPr>
      </p:sp>
      <p:sp>
        <p:nvSpPr>
          <p:cNvPr id="11" name="Text 9"/>
          <p:cNvSpPr/>
          <p:nvPr/>
        </p:nvSpPr>
        <p:spPr>
          <a:xfrm>
            <a:off x="6355080" y="15910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6885432" y="1499616"/>
            <a:ext cx="4572000" cy="457200"/>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Agent Runtime coordinates governed execution</a:t>
            </a:r>
            <a:endParaRPr lang="en-US" sz="1150" dirty="0"/>
          </a:p>
        </p:txBody>
      </p:sp>
      <p:sp>
        <p:nvSpPr>
          <p:cNvPr id="13" name="Text 11"/>
          <p:cNvSpPr/>
          <p:nvPr/>
        </p:nvSpPr>
        <p:spPr>
          <a:xfrm>
            <a:off x="6885432" y="1920240"/>
            <a:ext cx="4572000" cy="777240"/>
          </a:xfrm>
          <a:prstGeom prst="rect">
            <a:avLst/>
          </a:prstGeom>
          <a:noFill/>
          <a:ln/>
        </p:spPr>
        <p:txBody>
          <a:bodyPr wrap="square" lIns="0" tIns="0" rIns="0" bIns="0" rtlCol="0" anchor="ctr"/>
          <a:lstStyle/>
          <a:p>
            <a:pPr indent="0" marL="0">
              <a:lnSpc>
                <a:spcPct val="100000"/>
              </a:lnSpc>
              <a:buNone/>
            </a:pPr>
            <a:r>
              <a:rPr lang="en-US" sz="980" dirty="0">
                <a:solidFill>
                  <a:srgbClr val="1E2340"/>
                </a:solidFill>
                <a:latin typeface="Calibri" pitchFamily="34" charset="0"/>
                <a:ea typeface="Calibri" pitchFamily="34" charset="-122"/>
                <a:cs typeface="Calibri" pitchFamily="34" charset="-120"/>
              </a:rPr>
              <a:t>It owns canonical execution state and invokes domain executors / providers / tools. It is not the “CER,” and it creates no authority.</a:t>
            </a:r>
            <a:endParaRPr lang="en-US" sz="980" dirty="0"/>
          </a:p>
        </p:txBody>
      </p:sp>
      <p:sp>
        <p:nvSpPr>
          <p:cNvPr id="14" name="Shape 12"/>
          <p:cNvSpPr/>
          <p:nvPr/>
        </p:nvSpPr>
        <p:spPr>
          <a:xfrm>
            <a:off x="548640" y="2944368"/>
            <a:ext cx="5440680" cy="1417320"/>
          </a:xfrm>
          <a:prstGeom prst="roundRect">
            <a:avLst>
              <a:gd name="adj" fmla="val 3871"/>
            </a:avLst>
          </a:prstGeom>
          <a:solidFill>
            <a:srgbClr val="FFFFFF"/>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15" name="Shape 13"/>
          <p:cNvSpPr/>
          <p:nvPr/>
        </p:nvSpPr>
        <p:spPr>
          <a:xfrm>
            <a:off x="731520" y="3163824"/>
            <a:ext cx="384048" cy="384048"/>
          </a:xfrm>
          <a:prstGeom prst="ellipse">
            <a:avLst/>
          </a:prstGeom>
          <a:solidFill>
            <a:srgbClr val="5145C7"/>
          </a:solidFill>
          <a:ln w="12700">
            <a:solidFill>
              <a:srgbClr val="333333"/>
            </a:solidFill>
            <a:prstDash val="solid"/>
          </a:ln>
        </p:spPr>
      </p:sp>
      <p:sp>
        <p:nvSpPr>
          <p:cNvPr id="16" name="Text 14"/>
          <p:cNvSpPr/>
          <p:nvPr/>
        </p:nvSpPr>
        <p:spPr>
          <a:xfrm>
            <a:off x="731520" y="31638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261872" y="3072384"/>
            <a:ext cx="4572000" cy="457200"/>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Cloud Scaling Operations is a domain executor</a:t>
            </a:r>
            <a:endParaRPr lang="en-US" sz="1150" dirty="0"/>
          </a:p>
        </p:txBody>
      </p:sp>
      <p:sp>
        <p:nvSpPr>
          <p:cNvPr id="18" name="Text 16"/>
          <p:cNvSpPr/>
          <p:nvPr/>
        </p:nvSpPr>
        <p:spPr>
          <a:xfrm>
            <a:off x="1261872" y="3493008"/>
            <a:ext cx="4572000" cy="777240"/>
          </a:xfrm>
          <a:prstGeom prst="rect">
            <a:avLst/>
          </a:prstGeom>
          <a:noFill/>
          <a:ln/>
        </p:spPr>
        <p:txBody>
          <a:bodyPr wrap="square" lIns="0" tIns="0" rIns="0" bIns="0" rtlCol="0" anchor="ctr"/>
          <a:lstStyle/>
          <a:p>
            <a:pPr indent="0" marL="0">
              <a:lnSpc>
                <a:spcPct val="100000"/>
              </a:lnSpc>
              <a:buNone/>
            </a:pPr>
            <a:r>
              <a:rPr lang="en-US" sz="980" dirty="0">
                <a:solidFill>
                  <a:srgbClr val="1E2340"/>
                </a:solidFill>
                <a:latin typeface="Calibri" pitchFamily="34" charset="0"/>
                <a:ea typeface="Calibri" pitchFamily="34" charset="-122"/>
                <a:cs typeface="Calibri" pitchFamily="34" charset="-120"/>
              </a:rPr>
              <a:t>It is invoked by Agent Runtime and returns its result to Agent Runtime — it is not a preceding authorization gate.</a:t>
            </a:r>
            <a:endParaRPr lang="en-US" sz="980" dirty="0"/>
          </a:p>
        </p:txBody>
      </p:sp>
      <p:sp>
        <p:nvSpPr>
          <p:cNvPr id="19" name="Shape 17"/>
          <p:cNvSpPr/>
          <p:nvPr/>
        </p:nvSpPr>
        <p:spPr>
          <a:xfrm>
            <a:off x="6172200" y="2944368"/>
            <a:ext cx="5440680" cy="1417320"/>
          </a:xfrm>
          <a:prstGeom prst="roundRect">
            <a:avLst>
              <a:gd name="adj" fmla="val 3871"/>
            </a:avLst>
          </a:prstGeom>
          <a:solidFill>
            <a:srgbClr val="FFFFFF"/>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20" name="Shape 18"/>
          <p:cNvSpPr/>
          <p:nvPr/>
        </p:nvSpPr>
        <p:spPr>
          <a:xfrm>
            <a:off x="6355080" y="3163824"/>
            <a:ext cx="384048" cy="384048"/>
          </a:xfrm>
          <a:prstGeom prst="ellipse">
            <a:avLst/>
          </a:prstGeom>
          <a:solidFill>
            <a:srgbClr val="5145C7"/>
          </a:solidFill>
          <a:ln w="12700">
            <a:solidFill>
              <a:srgbClr val="333333"/>
            </a:solidFill>
            <a:prstDash val="solid"/>
          </a:ln>
        </p:spPr>
      </p:sp>
      <p:sp>
        <p:nvSpPr>
          <p:cNvPr id="21" name="Text 19"/>
          <p:cNvSpPr/>
          <p:nvPr/>
        </p:nvSpPr>
        <p:spPr>
          <a:xfrm>
            <a:off x="6355080" y="31638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6885432" y="3072384"/>
            <a:ext cx="4572000" cy="457200"/>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RA-8 compares intent, evidence and effect</a:t>
            </a:r>
            <a:endParaRPr lang="en-US" sz="1150" dirty="0"/>
          </a:p>
        </p:txBody>
      </p:sp>
      <p:sp>
        <p:nvSpPr>
          <p:cNvPr id="23" name="Text 21"/>
          <p:cNvSpPr/>
          <p:nvPr/>
        </p:nvSpPr>
        <p:spPr>
          <a:xfrm>
            <a:off x="6885432" y="3493008"/>
            <a:ext cx="4572000" cy="777240"/>
          </a:xfrm>
          <a:prstGeom prst="rect">
            <a:avLst/>
          </a:prstGeom>
          <a:noFill/>
          <a:ln/>
        </p:spPr>
        <p:txBody>
          <a:bodyPr wrap="square" lIns="0" tIns="0" rIns="0" bIns="0" rtlCol="0" anchor="ctr"/>
          <a:lstStyle/>
          <a:p>
            <a:pPr indent="0" marL="0">
              <a:lnSpc>
                <a:spcPct val="100000"/>
              </a:lnSpc>
              <a:buNone/>
            </a:pPr>
            <a:r>
              <a:rPr lang="en-US" sz="980" dirty="0">
                <a:solidFill>
                  <a:srgbClr val="1E2340"/>
                </a:solidFill>
                <a:latin typeface="Calibri" pitchFamily="34" charset="0"/>
                <a:ea typeface="Calibri" pitchFamily="34" charset="-122"/>
                <a:cs typeface="Calibri" pitchFamily="34" charset="-120"/>
              </a:rPr>
              <a:t>It checks authorized intent against the execution receipt and observed effect. It never retroactively authorizes an action.</a:t>
            </a:r>
            <a:endParaRPr lang="en-US" sz="980" dirty="0"/>
          </a:p>
        </p:txBody>
      </p:sp>
      <p:sp>
        <p:nvSpPr>
          <p:cNvPr id="24" name="Shape 22"/>
          <p:cNvSpPr/>
          <p:nvPr/>
        </p:nvSpPr>
        <p:spPr>
          <a:xfrm>
            <a:off x="548640" y="4517136"/>
            <a:ext cx="5440680" cy="1417320"/>
          </a:xfrm>
          <a:prstGeom prst="roundRect">
            <a:avLst>
              <a:gd name="adj" fmla="val 3871"/>
            </a:avLst>
          </a:prstGeom>
          <a:solidFill>
            <a:srgbClr val="FFFFFF"/>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25" name="Shape 23"/>
          <p:cNvSpPr/>
          <p:nvPr/>
        </p:nvSpPr>
        <p:spPr>
          <a:xfrm>
            <a:off x="731520" y="4736592"/>
            <a:ext cx="384048" cy="384048"/>
          </a:xfrm>
          <a:prstGeom prst="ellipse">
            <a:avLst/>
          </a:prstGeom>
          <a:solidFill>
            <a:srgbClr val="5145C7"/>
          </a:solidFill>
          <a:ln w="12700">
            <a:solidFill>
              <a:srgbClr val="333333"/>
            </a:solidFill>
            <a:prstDash val="solid"/>
          </a:ln>
        </p:spPr>
      </p:sp>
      <p:sp>
        <p:nvSpPr>
          <p:cNvPr id="26" name="Text 24"/>
          <p:cNvSpPr/>
          <p:nvPr/>
        </p:nvSpPr>
        <p:spPr>
          <a:xfrm>
            <a:off x="731520" y="47365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1261872" y="4645152"/>
            <a:ext cx="4572000" cy="457200"/>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Authority stays scoped and revocable</a:t>
            </a:r>
            <a:endParaRPr lang="en-US" sz="1150" dirty="0"/>
          </a:p>
        </p:txBody>
      </p:sp>
      <p:sp>
        <p:nvSpPr>
          <p:cNvPr id="28" name="Text 26"/>
          <p:cNvSpPr/>
          <p:nvPr/>
        </p:nvSpPr>
        <p:spPr>
          <a:xfrm>
            <a:off x="1261872" y="5065776"/>
            <a:ext cx="4572000" cy="777240"/>
          </a:xfrm>
          <a:prstGeom prst="rect">
            <a:avLst/>
          </a:prstGeom>
          <a:noFill/>
          <a:ln/>
        </p:spPr>
        <p:txBody>
          <a:bodyPr wrap="square" lIns="0" tIns="0" rIns="0" bIns="0" rtlCol="0" anchor="ctr"/>
          <a:lstStyle/>
          <a:p>
            <a:pPr indent="0" marL="0">
              <a:lnSpc>
                <a:spcPct val="100000"/>
              </a:lnSpc>
              <a:buNone/>
            </a:pPr>
            <a:r>
              <a:rPr lang="en-US" sz="980" dirty="0">
                <a:solidFill>
                  <a:srgbClr val="1E2340"/>
                </a:solidFill>
                <a:latin typeface="Calibri" pitchFamily="34" charset="0"/>
                <a:ea typeface="Calibri" pitchFamily="34" charset="-122"/>
                <a:cs typeface="Calibri" pitchFamily="34" charset="-120"/>
              </a:rPr>
              <a:t>RA-6 is the sole writer of authority lifecycle (revoke / supersede / expire). Enforcement stays read-only.</a:t>
            </a:r>
            <a:endParaRPr lang="en-US" sz="980" dirty="0"/>
          </a:p>
        </p:txBody>
      </p:sp>
      <p:sp>
        <p:nvSpPr>
          <p:cNvPr id="29" name="Shape 27"/>
          <p:cNvSpPr/>
          <p:nvPr/>
        </p:nvSpPr>
        <p:spPr>
          <a:xfrm>
            <a:off x="6172200" y="4517136"/>
            <a:ext cx="5440680" cy="1417320"/>
          </a:xfrm>
          <a:prstGeom prst="roundRect">
            <a:avLst>
              <a:gd name="adj" fmla="val 3871"/>
            </a:avLst>
          </a:prstGeom>
          <a:solidFill>
            <a:srgbClr val="FFFFFF"/>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30" name="Shape 28"/>
          <p:cNvSpPr/>
          <p:nvPr/>
        </p:nvSpPr>
        <p:spPr>
          <a:xfrm>
            <a:off x="6355080" y="4736592"/>
            <a:ext cx="384048" cy="384048"/>
          </a:xfrm>
          <a:prstGeom prst="ellipse">
            <a:avLst/>
          </a:prstGeom>
          <a:solidFill>
            <a:srgbClr val="5145C7"/>
          </a:solidFill>
          <a:ln w="12700">
            <a:solidFill>
              <a:srgbClr val="333333"/>
            </a:solidFill>
            <a:prstDash val="solid"/>
          </a:ln>
        </p:spPr>
      </p:sp>
      <p:sp>
        <p:nvSpPr>
          <p:cNvPr id="31" name="Text 29"/>
          <p:cNvSpPr/>
          <p:nvPr/>
        </p:nvSpPr>
        <p:spPr>
          <a:xfrm>
            <a:off x="6355080" y="47365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2" name="Text 30"/>
          <p:cNvSpPr/>
          <p:nvPr/>
        </p:nvSpPr>
        <p:spPr>
          <a:xfrm>
            <a:off x="6885432" y="4645152"/>
            <a:ext cx="4572000" cy="457200"/>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Fail-closed at every boundary</a:t>
            </a:r>
            <a:endParaRPr lang="en-US" sz="1150" dirty="0"/>
          </a:p>
        </p:txBody>
      </p:sp>
      <p:sp>
        <p:nvSpPr>
          <p:cNvPr id="33" name="Text 31"/>
          <p:cNvSpPr/>
          <p:nvPr/>
        </p:nvSpPr>
        <p:spPr>
          <a:xfrm>
            <a:off x="6885432" y="5065776"/>
            <a:ext cx="4572000" cy="777240"/>
          </a:xfrm>
          <a:prstGeom prst="rect">
            <a:avLst/>
          </a:prstGeom>
          <a:noFill/>
          <a:ln/>
        </p:spPr>
        <p:txBody>
          <a:bodyPr wrap="square" lIns="0" tIns="0" rIns="0" bIns="0" rtlCol="0" anchor="ctr"/>
          <a:lstStyle/>
          <a:p>
            <a:pPr indent="0" marL="0">
              <a:lnSpc>
                <a:spcPct val="100000"/>
              </a:lnSpc>
              <a:buNone/>
            </a:pPr>
            <a:r>
              <a:rPr lang="en-US" sz="980" dirty="0">
                <a:solidFill>
                  <a:srgbClr val="1E2340"/>
                </a:solidFill>
                <a:latin typeface="Calibri" pitchFamily="34" charset="0"/>
                <a:ea typeface="Calibri" pitchFamily="34" charset="-122"/>
                <a:cs typeface="Calibri" pitchFamily="34" charset="-120"/>
              </a:rPr>
              <a:t>Missing approval, evidence, clearance or execution confirmation is never treated as permission.</a:t>
            </a:r>
            <a:endParaRPr lang="en-US" sz="980" dirty="0"/>
          </a:p>
        </p:txBody>
      </p:sp>
      <p:sp>
        <p:nvSpPr>
          <p:cNvPr id="34" name="Text 32"/>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These invariants are held consistently across every scenario diagram in this deck.</a:t>
            </a:r>
            <a:endParaRPr lang="en-US" sz="850" dirty="0"/>
          </a:p>
        </p:txBody>
      </p:sp>
      <p:sp>
        <p:nvSpPr>
          <p:cNvPr id="36" name="Text 33"/>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MODULE RESPONSIBILITIES</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Module glossary (1 of 3) — policy, evidence, decision, signed authority</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92840" cy="914400"/>
        </p:xfrm>
        <a:graphic>
          <a:graphicData uri="http://schemas.openxmlformats.org/drawingml/2006/table">
            <a:tbl>
              <a:tblPr/>
              <a:tblGrid>
                <a:gridCol w="1371600"/>
                <a:gridCol w="2148840"/>
                <a:gridCol w="1965960"/>
                <a:gridCol w="2148840"/>
                <a:gridCol w="1737360"/>
                <a:gridCol w="1691640"/>
              </a:tblGrid>
              <a:tr h="29260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Module</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Layman responsibility</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Receives / references</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Checks / decides</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Emits</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Does not do</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r>
              <a:tr h="292608">
                <a:tc>
                  <a:txBody>
                    <a:bodyPr/>
                    <a:lstStyle/>
                    <a:p>
                      <a:pPr algn="l" indent="0" marL="0">
                        <a:buNone/>
                      </a:pPr>
                      <a:r>
                        <a:rPr lang="en-US" sz="960" b="1" dirty="0">
                          <a:solidFill>
                            <a:srgbClr val="2A2170"/>
                          </a:solidFill>
                          <a:latin typeface="Calibri" pitchFamily="34" charset="0"/>
                          <a:ea typeface="Calibri" pitchFamily="34" charset="-122"/>
                          <a:cs typeface="Calibri" pitchFamily="34" charset="-120"/>
                        </a:rPr>
                        <a:t>Policy Workflow Compiler</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Turns approved policy into deterministic, checkable constraints</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Approved, structured policy pack (compile-time, offline)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Compiles policy to constraints</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Digest-addressed governed-workflow artifact</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No binding decision; authorizes / clears / runs nothing</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960" b="1" dirty="0">
                          <a:solidFill>
                            <a:srgbClr val="2A2170"/>
                          </a:solidFill>
                          <a:latin typeface="Calibri" pitchFamily="34" charset="0"/>
                          <a:ea typeface="Calibri" pitchFamily="34" charset="-122"/>
                          <a:cs typeface="Calibri" pitchFamily="34" charset="-120"/>
                        </a:rPr>
                        <a:t>RA-5 Trusted Evidence Admission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Ensures a control is met by trusted, re-checked evidence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Control evidence references</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Is each control satisfied by trusted evidence? (a caller “pass” is inert)</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Evidence-derived, re-checked control result</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Add a second authority signature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292608">
                <a:tc>
                  <a:txBody>
                    <a:bodyPr/>
                    <a:lstStyle/>
                    <a:p>
                      <a:pPr algn="l" indent="0" marL="0">
                        <a:buNone/>
                      </a:pPr>
                      <a:r>
                        <a:rPr lang="en-US" sz="960" b="1" dirty="0">
                          <a:solidFill>
                            <a:srgbClr val="2A2170"/>
                          </a:solidFill>
                          <a:latin typeface="Calibri" pitchFamily="34" charset="0"/>
                          <a:ea typeface="Calibri" pitchFamily="34" charset="-122"/>
                          <a:cs typeface="Calibri" pitchFamily="34" charset="-120"/>
                        </a:rPr>
                        <a:t>Decision Authority</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Confirms a delegated authority — not the AI — approved this class of decision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Proposed action, delegated authority, constraints; owns CER</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Is there a binding decision within scope?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A separate, immutable decision record</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Execute; inspect live conditions; let AI self-authorize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960" b="1" dirty="0">
                          <a:solidFill>
                            <a:srgbClr val="2A2170"/>
                          </a:solidFill>
                          <a:latin typeface="Calibri" pitchFamily="34" charset="0"/>
                          <a:ea typeface="Calibri" pitchFamily="34" charset="-122"/>
                          <a:cs typeface="Calibri" pitchFamily="34" charset="-120"/>
                        </a:rPr>
                        <a:t>Risk Authority</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Converts an approved risk decision into signed, time-limited, scoped permission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An allow-family risk decision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Whether to mint authority; scope ≤ decision scope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A signed, scoped, time-limited authorization (tamper-evident)</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Execute the action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bl>
          </a:graphicData>
        </a:graphic>
      </p:graphicFrame>
      <p:sp>
        <p:nvSpPr>
          <p:cNvPr id="5" name="Text 2"/>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We describe the guarantee each module provides, not the internal mechanism. All ServiceNow integration is PROPOSED.</a:t>
            </a:r>
            <a:endParaRPr lang="en-US" sz="850" dirty="0"/>
          </a:p>
        </p:txBody>
      </p:sp>
      <p:sp>
        <p:nvSpPr>
          <p:cNvPr id="7" name="Text 3"/>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MODULE RESPONSIBILITIES</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Module glossary (2 of 3) — model, exact action, sequence, clearance</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92840" cy="914400"/>
        </p:xfrm>
        <a:graphic>
          <a:graphicData uri="http://schemas.openxmlformats.org/drawingml/2006/table">
            <a:tbl>
              <a:tblPr/>
              <a:tblGrid>
                <a:gridCol w="1371600"/>
                <a:gridCol w="2148840"/>
                <a:gridCol w="1965960"/>
                <a:gridCol w="2148840"/>
                <a:gridCol w="1737360"/>
                <a:gridCol w="1691640"/>
              </a:tblGrid>
              <a:tr h="29260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Module</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Layman responsibility</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Receives / references</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Checks / decides</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Emits</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Does not do</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r>
              <a:tr h="292608">
                <a:tc>
                  <a:txBody>
                    <a:bodyPr/>
                    <a:lstStyle/>
                    <a:p>
                      <a:pPr algn="l" indent="0" marL="0">
                        <a:buNone/>
                      </a:pPr>
                      <a:r>
                        <a:rPr lang="en-US" sz="960" b="1" dirty="0">
                          <a:solidFill>
                            <a:srgbClr val="2A2170"/>
                          </a:solidFill>
                          <a:latin typeface="Calibri" pitchFamily="34" charset="0"/>
                          <a:ea typeface="Calibri" pitchFamily="34" charset="-122"/>
                          <a:cs typeface="Calibri" pitchFamily="34" charset="-120"/>
                        </a:rPr>
                        <a:t>Model Authority</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Decides which model may handle this specific request, now</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Request context, approved model policy</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Per-request eligibility</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ALLOW / DENY / HOLD / ESCALATE, with governed fallback and expiry</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Execute the request; replace platform provider approval</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960" b="1" dirty="0">
                          <a:solidFill>
                            <a:srgbClr val="2A2170"/>
                          </a:solidFill>
                          <a:latin typeface="Calibri" pitchFamily="34" charset="0"/>
                          <a:ea typeface="Calibri" pitchFamily="34" charset="-122"/>
                          <a:cs typeface="Calibri" pitchFamily="34" charset="-120"/>
                        </a:rPr>
                        <a:t>ActionGate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Converts an approval into permission for one exact action on one exact target</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Decision record, target identity, proposed action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Same authorized action? still valid?</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AUTHORIZED / DENIED / INDETERMINATE (uncertainty → INDETERMINATE)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Judge operational safety; own execution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292608">
                <a:tc>
                  <a:txBody>
                    <a:bodyPr/>
                    <a:lstStyle/>
                    <a:p>
                      <a:pPr algn="l" indent="0" marL="0">
                        <a:buNone/>
                      </a:pPr>
                      <a:r>
                        <a:rPr lang="en-US" sz="960" b="1" dirty="0">
                          <a:solidFill>
                            <a:srgbClr val="2A2170"/>
                          </a:solidFill>
                          <a:latin typeface="Calibri" pitchFamily="34" charset="0"/>
                          <a:ea typeface="Calibri" pitchFamily="34" charset="-122"/>
                          <a:cs typeface="Calibri" pitchFamily="34" charset="-120"/>
                        </a:rPr>
                        <a:t>StoryGraph</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Flags when individually-harmless steps add up to a harmful capability</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A multi-step plan across steps</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Do benign steps assemble a harmful capability?</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OBSERVE / ESCALATE (advisory)</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Authorize or execute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960" b="1" dirty="0">
                          <a:solidFill>
                            <a:srgbClr val="2A2170"/>
                          </a:solidFill>
                          <a:latin typeface="Calibri" pitchFamily="34" charset="0"/>
                          <a:ea typeface="Calibri" pitchFamily="34" charset="-122"/>
                          <a:cs typeface="Calibri" pitchFamily="34" charset="-120"/>
                        </a:rPr>
                        <a:t>Action Clearance (ACP)</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The final “is it safe right now?” check</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Already-authorized action + current conditions</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Blackout, conflict, unhealthy dependency, operational hold</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CLEAR / HOLD / BLOCK / ESCALATE (subtractive)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Create or broaden authority; dispatch execution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bl>
          </a:graphicData>
        </a:graphic>
      </p:graphicFrame>
      <p:sp>
        <p:nvSpPr>
          <p:cNvPr id="5" name="Text 2"/>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We describe the guarantee each module provides, not the internal mechanism. All ServiceNow integration is PROPOSED.</a:t>
            </a:r>
            <a:endParaRPr lang="en-US" sz="850" dirty="0"/>
          </a:p>
        </p:txBody>
      </p:sp>
      <p:sp>
        <p:nvSpPr>
          <p:cNvPr id="7" name="Text 3"/>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MODULE RESPONSIBILITIES</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Module glossary (3 of 3) — coordination, actuation, lifecycle, assurance</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92840" cy="914400"/>
        </p:xfrm>
        <a:graphic>
          <a:graphicData uri="http://schemas.openxmlformats.org/drawingml/2006/table">
            <a:tbl>
              <a:tblPr/>
              <a:tblGrid>
                <a:gridCol w="1371600"/>
                <a:gridCol w="2148840"/>
                <a:gridCol w="1965960"/>
                <a:gridCol w="2148840"/>
                <a:gridCol w="1737360"/>
                <a:gridCol w="1691640"/>
              </a:tblGrid>
              <a:tr h="29260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Module</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Layman responsibility</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Receives / references</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Checks / decides</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Emits</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Does not do</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r>
              <a:tr h="292608">
                <a:tc>
                  <a:txBody>
                    <a:bodyPr/>
                    <a:lstStyle/>
                    <a:p>
                      <a:pPr algn="l" indent="0" marL="0">
                        <a:buNone/>
                      </a:pPr>
                      <a:r>
                        <a:rPr lang="en-US" sz="960" b="1" dirty="0">
                          <a:solidFill>
                            <a:srgbClr val="2A2170"/>
                          </a:solidFill>
                          <a:latin typeface="Calibri" pitchFamily="34" charset="0"/>
                          <a:ea typeface="Calibri" pitchFamily="34" charset="-122"/>
                          <a:cs typeface="Calibri" pitchFamily="34" charset="-120"/>
                        </a:rPr>
                        <a:t>Agent Runtime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Coordinates the governed execution and carries its state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A governed request; invokes providers / domain executors</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Execution lifecycle (retry / timeout / recovery)</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Execution receipt; owns canonical execution state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Create authority; author policy; authorize; mint clearance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960" b="1" dirty="0">
                          <a:solidFill>
                            <a:srgbClr val="2A2170"/>
                          </a:solidFill>
                          <a:latin typeface="Calibri" pitchFamily="34" charset="0"/>
                          <a:ea typeface="Calibri" pitchFamily="34" charset="-122"/>
                          <a:cs typeface="Calibri" pitchFamily="34" charset="-120"/>
                        </a:rPr>
                        <a:t>Cloud Scaling Operations</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Carries out a bounded infrastructure change under strict controls</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A scaling instruction + externally minted execution authorization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Readiness; bounded execution (dry-run by default)</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Execution outcome + audit, returned to Agent Runtime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Mint its own authority; act as a preceding gate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292608">
                <a:tc>
                  <a:txBody>
                    <a:bodyPr/>
                    <a:lstStyle/>
                    <a:p>
                      <a:pPr algn="l" indent="0" marL="0">
                        <a:buNone/>
                      </a:pPr>
                      <a:r>
                        <a:rPr lang="en-US" sz="960" b="1" dirty="0">
                          <a:solidFill>
                            <a:srgbClr val="2A2170"/>
                          </a:solidFill>
                          <a:latin typeface="Calibri" pitchFamily="34" charset="0"/>
                          <a:ea typeface="Calibri" pitchFamily="34" charset="-122"/>
                          <a:cs typeface="Calibri" pitchFamily="34" charset="-120"/>
                        </a:rPr>
                        <a:t>RA-6 Authority Lifecycle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Keeps authority current — revokes, supersedes, expires</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A reassessment signal when conditions change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Whether to revoke / supersede / expire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A lifecycle mutation (bites at the next pre-effect recheck)</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Execute or authorize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292608">
                <a:tc>
                  <a:txBody>
                    <a:bodyPr/>
                    <a:lstStyle/>
                    <a:p>
                      <a:pPr algn="l" indent="0" marL="0">
                        <a:buNone/>
                      </a:pPr>
                      <a:r>
                        <a:rPr lang="en-US" sz="960" b="1" dirty="0">
                          <a:solidFill>
                            <a:srgbClr val="2A2170"/>
                          </a:solidFill>
                          <a:latin typeface="Calibri" pitchFamily="34" charset="0"/>
                          <a:ea typeface="Calibri" pitchFamily="34" charset="-122"/>
                          <a:cs typeface="Calibri" pitchFamily="34" charset="-120"/>
                        </a:rPr>
                        <a:t>RA-7 Trajectory Assurance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Watches an in-flight execution for drift</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The in-flight execution (neutral observation)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Is the trajectory drifting?</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NORMAL / ESCALATED / UNKNOWN → reassessment signal</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Mint authority</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292608">
                <a:tc>
                  <a:txBody>
                    <a:bodyPr/>
                    <a:lstStyle/>
                    <a:p>
                      <a:pPr algn="l" indent="0" marL="0">
                        <a:buNone/>
                      </a:pPr>
                      <a:r>
                        <a:rPr lang="en-US" sz="960" b="1" dirty="0">
                          <a:solidFill>
                            <a:srgbClr val="2A2170"/>
                          </a:solidFill>
                          <a:latin typeface="Calibri" pitchFamily="34" charset="0"/>
                          <a:ea typeface="Calibri" pitchFamily="34" charset="-122"/>
                          <a:cs typeface="Calibri" pitchFamily="34" charset="-120"/>
                        </a:rPr>
                        <a:t>RA-8 Execution Assurance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Checks whether reality matched what was authorized</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Authorized action, execution receipt, observed state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Did only the intended target change, within scope?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matched / mismatch / partial / unknown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960" dirty="0">
                          <a:solidFill>
                            <a:srgbClr val="1E2340"/>
                          </a:solidFill>
                          <a:latin typeface="Calibri" pitchFamily="34" charset="0"/>
                          <a:ea typeface="Calibri" pitchFamily="34" charset="-122"/>
                          <a:cs typeface="Calibri" pitchFamily="34" charset="-120"/>
                        </a:rPr>
                        <a:t>Retroactively legitimize an unauthorized action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We describe the guarantee each module provides, not the internal mechanism. All ServiceNow integration is PROPOSED.</a:t>
            </a:r>
            <a:endParaRPr lang="en-US" sz="850" dirty="0"/>
          </a:p>
        </p:txBody>
      </p:sp>
      <p:sp>
        <p:nvSpPr>
          <p:cNvPr id="7" name="Text 3"/>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IV</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Lead scenario — autonomous change execution</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UC-5: the full two-level walkthrough, end to end</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UC-5 · AUTONOMOUS CHANGE EXECUTION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The problem, in plain terms</a:t>
            </a:r>
            <a:endParaRPr lang="en-US" sz="2600" dirty="0"/>
          </a:p>
        </p:txBody>
      </p:sp>
      <p:sp>
        <p:nvSpPr>
          <p:cNvPr id="4" name="Shape 2"/>
          <p:cNvSpPr/>
          <p:nvPr/>
        </p:nvSpPr>
        <p:spPr>
          <a:xfrm>
            <a:off x="548640" y="1325880"/>
            <a:ext cx="11064240" cy="777240"/>
          </a:xfrm>
          <a:prstGeom prst="roundRect">
            <a:avLst>
              <a:gd name="adj" fmla="val 7059"/>
            </a:avLst>
          </a:prstGeom>
          <a:solidFill>
            <a:srgbClr val="EEF1F4"/>
          </a:solidFill>
          <a:ln w="12700">
            <a:solidFill>
              <a:srgbClr val="D8DEE9"/>
            </a:solidFill>
            <a:prstDash val="solid"/>
          </a:ln>
        </p:spPr>
      </p:sp>
      <p:sp>
        <p:nvSpPr>
          <p:cNvPr id="5" name="Text 3"/>
          <p:cNvSpPr/>
          <p:nvPr/>
        </p:nvSpPr>
        <p:spPr>
          <a:xfrm>
            <a:off x="777240" y="1371600"/>
            <a:ext cx="10607040" cy="694944"/>
          </a:xfrm>
          <a:prstGeom prst="rect">
            <a:avLst/>
          </a:prstGeom>
          <a:noFill/>
          <a:ln/>
        </p:spPr>
        <p:txBody>
          <a:bodyPr wrap="square" lIns="0" tIns="0" rIns="0" bIns="0" rtlCol="0" anchor="ctr"/>
          <a:lstStyle/>
          <a:p>
            <a:pPr indent="0" marL="0">
              <a:lnSpc>
                <a:spcPct val="100000"/>
              </a:lnSpc>
              <a:buNone/>
            </a:pPr>
            <a:r>
              <a:rPr lang="en-US" sz="1050" b="1" dirty="0">
                <a:solidFill>
                  <a:srgbClr val="1E2340"/>
                </a:solidFill>
                <a:latin typeface="Calibri" pitchFamily="34" charset="0"/>
                <a:ea typeface="Calibri" pitchFamily="34" charset="-122"/>
                <a:cs typeface="Calibri" pitchFamily="34" charset="-120"/>
              </a:rPr>
              <a:t>Illustrative scenario.  </a:t>
            </a:r>
            <a:pPr indent="0" marL="0">
              <a:lnSpc>
                <a:spcPct val="100000"/>
              </a:lnSpc>
              <a:buNone/>
            </a:pPr>
            <a:r>
              <a:rPr lang="en-US" sz="1050" i="1" dirty="0">
                <a:solidFill>
                  <a:srgbClr val="1E2340"/>
                </a:solidFill>
                <a:latin typeface="Calibri" pitchFamily="34" charset="0"/>
                <a:ea typeface="Calibri" pitchFamily="34" charset="-122"/>
                <a:cs typeface="Calibri" pitchFamily="34" charset="-120"/>
              </a:rPr>
              <a:t>Change CHG0048217 · online checkout · production Kubernetes cluster · scale the checkout service from 12 to 18 instances · sustained demand and latency pressure · constraints: approved cost ceiling, permitted change window, healthy dependencies, rollback capability.  This shows how the proposed integration could operate — it is not a claimed Ugence customer deployment.</a:t>
            </a:r>
            <a:endParaRPr lang="en-US" sz="1050" dirty="0"/>
          </a:p>
        </p:txBody>
      </p:sp>
      <p:sp>
        <p:nvSpPr>
          <p:cNvPr id="6" name="Shape 4"/>
          <p:cNvSpPr/>
          <p:nvPr/>
        </p:nvSpPr>
        <p:spPr>
          <a:xfrm>
            <a:off x="548640" y="2286000"/>
            <a:ext cx="5440680" cy="1170432"/>
          </a:xfrm>
          <a:prstGeom prst="roundRect">
            <a:avLst>
              <a:gd name="adj" fmla="val 4688"/>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7" name="Text 5"/>
          <p:cNvSpPr/>
          <p:nvPr/>
        </p:nvSpPr>
        <p:spPr>
          <a:xfrm>
            <a:off x="731520" y="2395728"/>
            <a:ext cx="5074920" cy="310896"/>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Why the AI proposes scaling</a:t>
            </a:r>
            <a:endParaRPr lang="en-US" sz="1150" dirty="0"/>
          </a:p>
        </p:txBody>
      </p:sp>
      <p:sp>
        <p:nvSpPr>
          <p:cNvPr id="8" name="Text 6"/>
          <p:cNvSpPr/>
          <p:nvPr/>
        </p:nvSpPr>
        <p:spPr>
          <a:xfrm>
            <a:off x="731520" y="2706624"/>
            <a:ext cx="5074920" cy="694944"/>
          </a:xfrm>
          <a:prstGeom prst="rect">
            <a:avLst/>
          </a:prstGeom>
          <a:noFill/>
          <a:ln/>
        </p:spPr>
        <p:txBody>
          <a:bodyPr wrap="square" lIns="0" tIns="0" rIns="0" bIns="0" rtlCol="0" anchor="ctr"/>
          <a:lstStyle/>
          <a:p>
            <a:pPr indent="0" marL="0">
              <a:lnSpc>
                <a:spcPct val="102000"/>
              </a:lnSpc>
              <a:buNone/>
            </a:pPr>
            <a:r>
              <a:rPr lang="en-US" sz="1000" dirty="0">
                <a:solidFill>
                  <a:srgbClr val="1E2340"/>
                </a:solidFill>
                <a:latin typeface="Calibri" pitchFamily="34" charset="0"/>
                <a:ea typeface="Calibri" pitchFamily="34" charset="-122"/>
                <a:cs typeface="Calibri" pitchFamily="34" charset="-120"/>
              </a:rPr>
              <a:t>Checkout latency is rising under sustained demand; more capacity may prevent an outage.</a:t>
            </a:r>
            <a:endParaRPr lang="en-US" sz="1000" dirty="0"/>
          </a:p>
        </p:txBody>
      </p:sp>
      <p:sp>
        <p:nvSpPr>
          <p:cNvPr id="9" name="Shape 7"/>
          <p:cNvSpPr/>
          <p:nvPr/>
        </p:nvSpPr>
        <p:spPr>
          <a:xfrm>
            <a:off x="6172200" y="2286000"/>
            <a:ext cx="5440680" cy="1170432"/>
          </a:xfrm>
          <a:prstGeom prst="roundRect">
            <a:avLst>
              <a:gd name="adj" fmla="val 4688"/>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0" name="Text 8"/>
          <p:cNvSpPr/>
          <p:nvPr/>
        </p:nvSpPr>
        <p:spPr>
          <a:xfrm>
            <a:off x="6355080" y="2395728"/>
            <a:ext cx="5074920" cy="310896"/>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What is at risk</a:t>
            </a:r>
            <a:endParaRPr lang="en-US" sz="1150" dirty="0"/>
          </a:p>
        </p:txBody>
      </p:sp>
      <p:sp>
        <p:nvSpPr>
          <p:cNvPr id="11" name="Text 9"/>
          <p:cNvSpPr/>
          <p:nvPr/>
        </p:nvSpPr>
        <p:spPr>
          <a:xfrm>
            <a:off x="6355080" y="2706624"/>
            <a:ext cx="5074920" cy="694944"/>
          </a:xfrm>
          <a:prstGeom prst="rect">
            <a:avLst/>
          </a:prstGeom>
          <a:noFill/>
          <a:ln/>
        </p:spPr>
        <p:txBody>
          <a:bodyPr wrap="square" lIns="0" tIns="0" rIns="0" bIns="0" rtlCol="0" anchor="ctr"/>
          <a:lstStyle/>
          <a:p>
            <a:pPr indent="0" marL="0">
              <a:lnSpc>
                <a:spcPct val="102000"/>
              </a:lnSpc>
              <a:buNone/>
            </a:pPr>
            <a:r>
              <a:rPr lang="en-US" sz="1000" dirty="0">
                <a:solidFill>
                  <a:srgbClr val="1E2340"/>
                </a:solidFill>
                <a:latin typeface="Calibri" pitchFamily="34" charset="0"/>
                <a:ea typeface="Calibri" pitchFamily="34" charset="-122"/>
                <a:cs typeface="Calibri" pitchFamily="34" charset="-120"/>
              </a:rPr>
              <a:t>Online checkout — a revenue-critical business service — and any service that shares the cluster.</a:t>
            </a:r>
            <a:endParaRPr lang="en-US" sz="1000" dirty="0"/>
          </a:p>
        </p:txBody>
      </p:sp>
      <p:sp>
        <p:nvSpPr>
          <p:cNvPr id="12" name="Shape 10"/>
          <p:cNvSpPr/>
          <p:nvPr/>
        </p:nvSpPr>
        <p:spPr>
          <a:xfrm>
            <a:off x="548640" y="3584448"/>
            <a:ext cx="5440680" cy="1170432"/>
          </a:xfrm>
          <a:prstGeom prst="roundRect">
            <a:avLst>
              <a:gd name="adj" fmla="val 4688"/>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3" name="Text 11"/>
          <p:cNvSpPr/>
          <p:nvPr/>
        </p:nvSpPr>
        <p:spPr>
          <a:xfrm>
            <a:off x="731520" y="3694176"/>
            <a:ext cx="5074920" cy="310896"/>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What could go wrong</a:t>
            </a:r>
            <a:endParaRPr lang="en-US" sz="1150" dirty="0"/>
          </a:p>
        </p:txBody>
      </p:sp>
      <p:sp>
        <p:nvSpPr>
          <p:cNvPr id="14" name="Text 12"/>
          <p:cNvSpPr/>
          <p:nvPr/>
        </p:nvSpPr>
        <p:spPr>
          <a:xfrm>
            <a:off x="731520" y="4005072"/>
            <a:ext cx="5074920" cy="694944"/>
          </a:xfrm>
          <a:prstGeom prst="rect">
            <a:avLst/>
          </a:prstGeom>
          <a:noFill/>
          <a:ln/>
        </p:spPr>
        <p:txBody>
          <a:bodyPr wrap="square" lIns="0" tIns="0" rIns="0" bIns="0" rtlCol="0" anchor="ctr"/>
          <a:lstStyle/>
          <a:p>
            <a:pPr indent="0" marL="0">
              <a:lnSpc>
                <a:spcPct val="102000"/>
              </a:lnSpc>
              <a:buNone/>
            </a:pPr>
            <a:r>
              <a:rPr lang="en-US" sz="1000" dirty="0">
                <a:solidFill>
                  <a:srgbClr val="1E2340"/>
                </a:solidFill>
                <a:latin typeface="Calibri" pitchFamily="34" charset="0"/>
                <a:ea typeface="Calibri" pitchFamily="34" charset="-122"/>
                <a:cs typeface="Calibri" pitchFamily="34" charset="-120"/>
              </a:rPr>
              <a:t>Scaling the wrong cluster or service, or acting on stale information, could disrupt another service or exceed cost.</a:t>
            </a:r>
            <a:endParaRPr lang="en-US" sz="1000" dirty="0"/>
          </a:p>
        </p:txBody>
      </p:sp>
      <p:sp>
        <p:nvSpPr>
          <p:cNvPr id="15" name="Shape 13"/>
          <p:cNvSpPr/>
          <p:nvPr/>
        </p:nvSpPr>
        <p:spPr>
          <a:xfrm>
            <a:off x="6172200" y="3584448"/>
            <a:ext cx="5440680" cy="1170432"/>
          </a:xfrm>
          <a:prstGeom prst="roundRect">
            <a:avLst>
              <a:gd name="adj" fmla="val 4688"/>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6" name="Text 14"/>
          <p:cNvSpPr/>
          <p:nvPr/>
        </p:nvSpPr>
        <p:spPr>
          <a:xfrm>
            <a:off x="6355080" y="3694176"/>
            <a:ext cx="5074920" cy="310896"/>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Why a valid approval may still be unsafe</a:t>
            </a:r>
            <a:endParaRPr lang="en-US" sz="1150" dirty="0"/>
          </a:p>
        </p:txBody>
      </p:sp>
      <p:sp>
        <p:nvSpPr>
          <p:cNvPr id="17" name="Text 15"/>
          <p:cNvSpPr/>
          <p:nvPr/>
        </p:nvSpPr>
        <p:spPr>
          <a:xfrm>
            <a:off x="6355080" y="4005072"/>
            <a:ext cx="5074920" cy="694944"/>
          </a:xfrm>
          <a:prstGeom prst="rect">
            <a:avLst/>
          </a:prstGeom>
          <a:noFill/>
          <a:ln/>
        </p:spPr>
        <p:txBody>
          <a:bodyPr wrap="square" lIns="0" tIns="0" rIns="0" bIns="0" rtlCol="0" anchor="ctr"/>
          <a:lstStyle/>
          <a:p>
            <a:pPr indent="0" marL="0">
              <a:lnSpc>
                <a:spcPct val="102000"/>
              </a:lnSpc>
              <a:buNone/>
            </a:pPr>
            <a:r>
              <a:rPr lang="en-US" sz="1000" dirty="0">
                <a:solidFill>
                  <a:srgbClr val="1E2340"/>
                </a:solidFill>
                <a:latin typeface="Calibri" pitchFamily="34" charset="0"/>
                <a:ea typeface="Calibri" pitchFamily="34" charset="-122"/>
                <a:cs typeface="Calibri" pitchFamily="34" charset="-120"/>
              </a:rPr>
              <a:t>A freeze may have begun, a dependency may be unhealthy, or projected cost may now exceed the ceiling.</a:t>
            </a:r>
            <a:endParaRPr lang="en-US" sz="1000" dirty="0"/>
          </a:p>
        </p:txBody>
      </p:sp>
      <p:sp>
        <p:nvSpPr>
          <p:cNvPr id="18" name="Shape 16"/>
          <p:cNvSpPr/>
          <p:nvPr/>
        </p:nvSpPr>
        <p:spPr>
          <a:xfrm>
            <a:off x="548640" y="4882896"/>
            <a:ext cx="5440680" cy="1170432"/>
          </a:xfrm>
          <a:prstGeom prst="roundRect">
            <a:avLst>
              <a:gd name="adj" fmla="val 4688"/>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731520" y="4992624"/>
            <a:ext cx="5074920" cy="310896"/>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Why the effect must be checked</a:t>
            </a:r>
            <a:endParaRPr lang="en-US" sz="1150" dirty="0"/>
          </a:p>
        </p:txBody>
      </p:sp>
      <p:sp>
        <p:nvSpPr>
          <p:cNvPr id="20" name="Text 18"/>
          <p:cNvSpPr/>
          <p:nvPr/>
        </p:nvSpPr>
        <p:spPr>
          <a:xfrm>
            <a:off x="731520" y="5303520"/>
            <a:ext cx="5074920" cy="694944"/>
          </a:xfrm>
          <a:prstGeom prst="rect">
            <a:avLst/>
          </a:prstGeom>
          <a:noFill/>
          <a:ln/>
        </p:spPr>
        <p:txBody>
          <a:bodyPr wrap="square" lIns="0" tIns="0" rIns="0" bIns="0" rtlCol="0" anchor="ctr"/>
          <a:lstStyle/>
          <a:p>
            <a:pPr indent="0" marL="0">
              <a:lnSpc>
                <a:spcPct val="102000"/>
              </a:lnSpc>
              <a:buNone/>
            </a:pPr>
            <a:r>
              <a:rPr lang="en-US" sz="1000" dirty="0">
                <a:solidFill>
                  <a:srgbClr val="1E2340"/>
                </a:solidFill>
                <a:latin typeface="Calibri" pitchFamily="34" charset="0"/>
                <a:ea typeface="Calibri" pitchFamily="34" charset="-122"/>
                <a:cs typeface="Calibri" pitchFamily="34" charset="-120"/>
              </a:rPr>
              <a:t>The record must reflect what actually happened — only the intended instances changed, nothing else.</a:t>
            </a:r>
            <a:endParaRPr lang="en-US" sz="1000" dirty="0"/>
          </a:p>
        </p:txBody>
      </p:sp>
      <p:sp>
        <p:nvSpPr>
          <p:cNvPr id="21" name="Shape 19"/>
          <p:cNvSpPr/>
          <p:nvPr/>
        </p:nvSpPr>
        <p:spPr>
          <a:xfrm>
            <a:off x="6172200" y="4882896"/>
            <a:ext cx="5440680" cy="1170432"/>
          </a:xfrm>
          <a:prstGeom prst="roundRect">
            <a:avLst>
              <a:gd name="adj" fmla="val 4688"/>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22" name="Text 20"/>
          <p:cNvSpPr/>
          <p:nvPr/>
        </p:nvSpPr>
        <p:spPr>
          <a:xfrm>
            <a:off x="6355080" y="4992624"/>
            <a:ext cx="5074920" cy="310896"/>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What the enterprise wants</a:t>
            </a:r>
            <a:endParaRPr lang="en-US" sz="1150" dirty="0"/>
          </a:p>
        </p:txBody>
      </p:sp>
      <p:sp>
        <p:nvSpPr>
          <p:cNvPr id="23" name="Text 21"/>
          <p:cNvSpPr/>
          <p:nvPr/>
        </p:nvSpPr>
        <p:spPr>
          <a:xfrm>
            <a:off x="6355080" y="5303520"/>
            <a:ext cx="5074920" cy="694944"/>
          </a:xfrm>
          <a:prstGeom prst="rect">
            <a:avLst/>
          </a:prstGeom>
          <a:noFill/>
          <a:ln/>
        </p:spPr>
        <p:txBody>
          <a:bodyPr wrap="square" lIns="0" tIns="0" rIns="0" bIns="0" rtlCol="0" anchor="ctr"/>
          <a:lstStyle/>
          <a:p>
            <a:pPr indent="0" marL="0">
              <a:lnSpc>
                <a:spcPct val="102000"/>
              </a:lnSpc>
              <a:buNone/>
            </a:pPr>
            <a:r>
              <a:rPr lang="en-US" sz="1000" dirty="0">
                <a:solidFill>
                  <a:srgbClr val="1E2340"/>
                </a:solidFill>
                <a:latin typeface="Calibri" pitchFamily="34" charset="0"/>
                <a:ea typeface="Calibri" pitchFamily="34" charset="-122"/>
                <a:cs typeface="Calibri" pitchFamily="34" charset="-120"/>
              </a:rPr>
              <a:t>Autonomy with proof: the exact approved change, at a safe moment, with a verifiable, reconciled result.</a:t>
            </a:r>
            <a:endParaRPr lang="en-US" sz="1000" dirty="0"/>
          </a:p>
        </p:txBody>
      </p:sp>
      <p:sp>
        <p:nvSpPr>
          <p:cNvPr id="24" name="Text 22"/>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Illustrative example — not a customer deployment.</a:t>
            </a:r>
            <a:endParaRPr lang="en-US" sz="850" dirty="0"/>
          </a:p>
        </p:txBody>
      </p:sp>
      <p:sp>
        <p:nvSpPr>
          <p:cNvPr id="26" name="Text 23"/>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UC-5 · AUTONOMOUS CHANGE EXECUTION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What business data enters the workflow</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743200"/>
                <a:gridCol w="5120640"/>
                <a:gridCol w="3200400"/>
              </a:tblGrid>
              <a:tr h="64008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Data category</a:t>
                      </a:r>
                      <a:endParaRPr lang="en-US" sz="12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Authoritative source</a:t>
                      </a:r>
                      <a:endParaRPr lang="en-US" sz="12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r>
              <a:tr h="640080">
                <a:tc>
                  <a:txBody>
                    <a:bodyPr/>
                    <a:lstStyle/>
                    <a:p>
                      <a:pPr algn="l" indent="0" marL="0">
                        <a:buNone/>
                      </a:pPr>
                      <a:r>
                        <a:rPr lang="en-US" sz="1150" b="1" dirty="0">
                          <a:solidFill>
                            <a:srgbClr val="2A2170"/>
                          </a:solidFill>
                          <a:latin typeface="Calibri" pitchFamily="34" charset="0"/>
                          <a:ea typeface="Calibri" pitchFamily="34" charset="-122"/>
                          <a:cs typeface="Calibri" pitchFamily="34" charset="-120"/>
                        </a:rPr>
                        <a:t>Business record</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Change request CHG0048217 and its approval state</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ServiceNow Change Management</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640080">
                <a:tc>
                  <a:txBody>
                    <a:bodyPr/>
                    <a:lstStyle/>
                    <a:p>
                      <a:pPr algn="l" indent="0" marL="0">
                        <a:buNone/>
                      </a:pPr>
                      <a:r>
                        <a:rPr lang="en-US" sz="1150" b="1" dirty="0">
                          <a:solidFill>
                            <a:srgbClr val="2A2170"/>
                          </a:solidFill>
                          <a:latin typeface="Calibri" pitchFamily="34" charset="0"/>
                          <a:ea typeface="Calibri" pitchFamily="34" charset="-122"/>
                          <a:cs typeface="Calibri" pitchFamily="34" charset="-120"/>
                        </a:rPr>
                        <a:t>Target context</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Cluster, checkout service, requested capacity 12 → 18</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CMDB / ITOM / cloud platform</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640080">
                <a:tc>
                  <a:txBody>
                    <a:bodyPr/>
                    <a:lstStyle/>
                    <a:p>
                      <a:pPr algn="l" indent="0" marL="0">
                        <a:buNone/>
                      </a:pPr>
                      <a:r>
                        <a:rPr lang="en-US" sz="1150" b="1" dirty="0">
                          <a:solidFill>
                            <a:srgbClr val="2A2170"/>
                          </a:solidFill>
                          <a:latin typeface="Calibri" pitchFamily="34" charset="0"/>
                          <a:ea typeface="Calibri" pitchFamily="34" charset="-122"/>
                          <a:cs typeface="Calibri" pitchFamily="34" charset="-120"/>
                        </a:rPr>
                        <a:t>Live conditions</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Freeze window, dependency health, service health</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ServiceNow + operational telemetry</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640080">
                <a:tc>
                  <a:txBody>
                    <a:bodyPr/>
                    <a:lstStyle/>
                    <a:p>
                      <a:pPr algn="l" indent="0" marL="0">
                        <a:buNone/>
                      </a:pPr>
                      <a:r>
                        <a:rPr lang="en-US" sz="1150" b="1" dirty="0">
                          <a:solidFill>
                            <a:srgbClr val="2A2170"/>
                          </a:solidFill>
                          <a:latin typeface="Calibri" pitchFamily="34" charset="0"/>
                          <a:ea typeface="Calibri" pitchFamily="34" charset="-122"/>
                          <a:cs typeface="Calibri" pitchFamily="34" charset="-120"/>
                        </a:rPr>
                        <a:t>Governance context</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Delegated scaling authority, cost / risk limits, expiry</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Approved enterprise policy</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640080">
                <a:tc>
                  <a:txBody>
                    <a:bodyPr/>
                    <a:lstStyle/>
                    <a:p>
                      <a:pPr algn="l" indent="0" marL="0">
                        <a:buNone/>
                      </a:pPr>
                      <a:r>
                        <a:rPr lang="en-US" sz="1150" b="1" dirty="0">
                          <a:solidFill>
                            <a:srgbClr val="2A2170"/>
                          </a:solidFill>
                          <a:latin typeface="Calibri" pitchFamily="34" charset="0"/>
                          <a:ea typeface="Calibri" pitchFamily="34" charset="-122"/>
                          <a:cs typeface="Calibri" pitchFamily="34" charset="-120"/>
                        </a:rPr>
                        <a:t>Intended outcome</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Lower latency without exceeding cost or risk limits</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Business objective</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5669280"/>
            <a:ext cx="11064240" cy="54864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Business-readable fields only — not internal schemas. Original business data (rows 1–2) is distinct from live conditions (row 3) and from any governance artifact Ugence later emits.</a:t>
            </a:r>
            <a:endParaRPr lang="en-US" sz="1100" dirty="0"/>
          </a:p>
        </p:txBody>
      </p:sp>
      <p:sp>
        <p:nvSpPr>
          <p:cNvPr id="7" name="Text 3"/>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UC-5 · AUTONOMOUS CHANGE EXECUTION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The business journey (plain language)</a:t>
            </a:r>
            <a:endParaRPr lang="en-US" sz="2600" dirty="0"/>
          </a:p>
        </p:txBody>
      </p:sp>
      <p:sp>
        <p:nvSpPr>
          <p:cNvPr id="4" name="Shape 2"/>
          <p:cNvSpPr/>
          <p:nvPr/>
        </p:nvSpPr>
        <p:spPr>
          <a:xfrm>
            <a:off x="640080" y="1463040"/>
            <a:ext cx="274320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667512" y="146304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Checkout slowing down</a:t>
            </a:r>
            <a:endParaRPr lang="en-US" sz="1050" dirty="0"/>
          </a:p>
        </p:txBody>
      </p:sp>
      <p:sp>
        <p:nvSpPr>
          <p:cNvPr id="6" name="Shape 4"/>
          <p:cNvSpPr/>
          <p:nvPr/>
        </p:nvSpPr>
        <p:spPr>
          <a:xfrm>
            <a:off x="640080" y="2322576"/>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7" name="Text 5"/>
          <p:cNvSpPr/>
          <p:nvPr/>
        </p:nvSpPr>
        <p:spPr>
          <a:xfrm>
            <a:off x="667512" y="2322576"/>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AI recommends adding capacity</a:t>
            </a:r>
            <a:endParaRPr lang="en-US" sz="1050" dirty="0"/>
          </a:p>
        </p:txBody>
      </p:sp>
      <p:sp>
        <p:nvSpPr>
          <p:cNvPr id="8" name="Shape 6"/>
          <p:cNvSpPr/>
          <p:nvPr/>
        </p:nvSpPr>
        <p:spPr>
          <a:xfrm>
            <a:off x="640080" y="3182112"/>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9" name="Text 7"/>
          <p:cNvSpPr/>
          <p:nvPr/>
        </p:nvSpPr>
        <p:spPr>
          <a:xfrm>
            <a:off x="667512" y="3182112"/>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Approval confirmed for this exact change</a:t>
            </a:r>
            <a:endParaRPr lang="en-US" sz="1050" dirty="0"/>
          </a:p>
        </p:txBody>
      </p:sp>
      <p:sp>
        <p:nvSpPr>
          <p:cNvPr id="10" name="Shape 8"/>
          <p:cNvSpPr/>
          <p:nvPr/>
        </p:nvSpPr>
        <p:spPr>
          <a:xfrm>
            <a:off x="640080" y="4041648"/>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1" name="Text 9"/>
          <p:cNvSpPr/>
          <p:nvPr/>
        </p:nvSpPr>
        <p:spPr>
          <a:xfrm>
            <a:off x="667512" y="4041648"/>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Permission bound to this cluster &amp; capacity</a:t>
            </a:r>
            <a:endParaRPr lang="en-US" sz="1050" dirty="0"/>
          </a:p>
        </p:txBody>
      </p:sp>
      <p:sp>
        <p:nvSpPr>
          <p:cNvPr id="12" name="Shape 10"/>
          <p:cNvSpPr/>
          <p:nvPr/>
        </p:nvSpPr>
        <p:spPr>
          <a:xfrm>
            <a:off x="2011680" y="1920240"/>
            <a:ext cx="914" cy="402336"/>
          </a:xfrm>
          <a:prstGeom prst="line">
            <a:avLst/>
          </a:prstGeom>
          <a:noFill/>
          <a:ln w="22225">
            <a:solidFill>
              <a:srgbClr val="4B5563"/>
            </a:solidFill>
            <a:prstDash val="solid"/>
            <a:tailEnd type="triangle"/>
          </a:ln>
        </p:spPr>
      </p:sp>
      <p:sp>
        <p:nvSpPr>
          <p:cNvPr id="13" name="Text 11"/>
          <p:cNvSpPr/>
          <p:nvPr/>
        </p:nvSpPr>
        <p:spPr>
          <a:xfrm>
            <a:off x="1051560" y="200253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demand + latency</a:t>
            </a:r>
            <a:endParaRPr lang="en-US" sz="800" dirty="0"/>
          </a:p>
        </p:txBody>
      </p:sp>
      <p:sp>
        <p:nvSpPr>
          <p:cNvPr id="14" name="Shape 12"/>
          <p:cNvSpPr/>
          <p:nvPr/>
        </p:nvSpPr>
        <p:spPr>
          <a:xfrm>
            <a:off x="2011680" y="2779776"/>
            <a:ext cx="914" cy="402336"/>
          </a:xfrm>
          <a:prstGeom prst="line">
            <a:avLst/>
          </a:prstGeom>
          <a:noFill/>
          <a:ln w="22225">
            <a:solidFill>
              <a:srgbClr val="4B5563"/>
            </a:solidFill>
            <a:prstDash val="solid"/>
            <a:tailEnd type="triangle"/>
          </a:ln>
        </p:spPr>
      </p:sp>
      <p:sp>
        <p:nvSpPr>
          <p:cNvPr id="15" name="Text 13"/>
          <p:cNvSpPr/>
          <p:nvPr/>
        </p:nvSpPr>
        <p:spPr>
          <a:xfrm>
            <a:off x="1051560" y="286207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“scale 12 → 18”</a:t>
            </a:r>
            <a:endParaRPr lang="en-US" sz="800" dirty="0"/>
          </a:p>
        </p:txBody>
      </p:sp>
      <p:sp>
        <p:nvSpPr>
          <p:cNvPr id="16" name="Shape 14"/>
          <p:cNvSpPr/>
          <p:nvPr/>
        </p:nvSpPr>
        <p:spPr>
          <a:xfrm>
            <a:off x="2011680" y="3639312"/>
            <a:ext cx="914" cy="402336"/>
          </a:xfrm>
          <a:prstGeom prst="line">
            <a:avLst/>
          </a:prstGeom>
          <a:noFill/>
          <a:ln w="22225">
            <a:solidFill>
              <a:srgbClr val="4B5563"/>
            </a:solidFill>
            <a:prstDash val="solid"/>
            <a:tailEnd type="triangle"/>
          </a:ln>
        </p:spPr>
      </p:sp>
      <p:sp>
        <p:nvSpPr>
          <p:cNvPr id="17" name="Text 15"/>
          <p:cNvSpPr/>
          <p:nvPr/>
        </p:nvSpPr>
        <p:spPr>
          <a:xfrm>
            <a:off x="1051560" y="372160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delegated authority</a:t>
            </a:r>
            <a:endParaRPr lang="en-US" sz="800" dirty="0"/>
          </a:p>
        </p:txBody>
      </p:sp>
      <p:sp>
        <p:nvSpPr>
          <p:cNvPr id="18" name="Shape 16"/>
          <p:cNvSpPr/>
          <p:nvPr/>
        </p:nvSpPr>
        <p:spPr>
          <a:xfrm>
            <a:off x="5120640" y="1463040"/>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5148072" y="146304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“Is it safe right now?”</a:t>
            </a:r>
            <a:endParaRPr lang="en-US" sz="1050" dirty="0"/>
          </a:p>
        </p:txBody>
      </p:sp>
      <p:sp>
        <p:nvSpPr>
          <p:cNvPr id="20" name="Shape 18"/>
          <p:cNvSpPr/>
          <p:nvPr/>
        </p:nvSpPr>
        <p:spPr>
          <a:xfrm>
            <a:off x="5120640" y="2322576"/>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1" name="Text 19"/>
          <p:cNvSpPr/>
          <p:nvPr/>
        </p:nvSpPr>
        <p:spPr>
          <a:xfrm>
            <a:off x="5148072" y="2322576"/>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Capacity change carried out</a:t>
            </a:r>
            <a:endParaRPr lang="en-US" sz="1050" dirty="0"/>
          </a:p>
        </p:txBody>
      </p:sp>
      <p:sp>
        <p:nvSpPr>
          <p:cNvPr id="22" name="Shape 20"/>
          <p:cNvSpPr/>
          <p:nvPr/>
        </p:nvSpPr>
        <p:spPr>
          <a:xfrm>
            <a:off x="5120640" y="3182112"/>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3" name="Text 21"/>
          <p:cNvSpPr/>
          <p:nvPr/>
        </p:nvSpPr>
        <p:spPr>
          <a:xfrm>
            <a:off x="5148072" y="3182112"/>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Confirm what actually changed</a:t>
            </a:r>
            <a:endParaRPr lang="en-US" sz="1050" dirty="0"/>
          </a:p>
        </p:txBody>
      </p:sp>
      <p:sp>
        <p:nvSpPr>
          <p:cNvPr id="24" name="Shape 22"/>
          <p:cNvSpPr/>
          <p:nvPr/>
        </p:nvSpPr>
        <p:spPr>
          <a:xfrm>
            <a:off x="5120640" y="4041648"/>
            <a:ext cx="274320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25" name="Text 23"/>
          <p:cNvSpPr/>
          <p:nvPr/>
        </p:nvSpPr>
        <p:spPr>
          <a:xfrm>
            <a:off x="5148072" y="4041648"/>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Auditable result to the change record</a:t>
            </a:r>
            <a:endParaRPr lang="en-US" sz="1050" dirty="0"/>
          </a:p>
        </p:txBody>
      </p:sp>
      <p:sp>
        <p:nvSpPr>
          <p:cNvPr id="26" name="Shape 24"/>
          <p:cNvSpPr/>
          <p:nvPr/>
        </p:nvSpPr>
        <p:spPr>
          <a:xfrm>
            <a:off x="6492240" y="1920240"/>
            <a:ext cx="914" cy="402336"/>
          </a:xfrm>
          <a:prstGeom prst="line">
            <a:avLst/>
          </a:prstGeom>
          <a:noFill/>
          <a:ln w="22225">
            <a:solidFill>
              <a:srgbClr val="4B5563"/>
            </a:solidFill>
            <a:prstDash val="solid"/>
            <a:tailEnd type="triangle"/>
          </a:ln>
        </p:spPr>
      </p:sp>
      <p:sp>
        <p:nvSpPr>
          <p:cNvPr id="27" name="Text 25"/>
          <p:cNvSpPr/>
          <p:nvPr/>
        </p:nvSpPr>
        <p:spPr>
          <a:xfrm>
            <a:off x="5532120" y="200253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freeze / deps / cost</a:t>
            </a:r>
            <a:endParaRPr lang="en-US" sz="800" dirty="0"/>
          </a:p>
        </p:txBody>
      </p:sp>
      <p:sp>
        <p:nvSpPr>
          <p:cNvPr id="28" name="Shape 26"/>
          <p:cNvSpPr/>
          <p:nvPr/>
        </p:nvSpPr>
        <p:spPr>
          <a:xfrm>
            <a:off x="6492240" y="2779776"/>
            <a:ext cx="914" cy="402336"/>
          </a:xfrm>
          <a:prstGeom prst="line">
            <a:avLst/>
          </a:prstGeom>
          <a:noFill/>
          <a:ln w="22225">
            <a:solidFill>
              <a:srgbClr val="4B5563"/>
            </a:solidFill>
            <a:prstDash val="solid"/>
            <a:tailEnd type="triangle"/>
          </a:ln>
        </p:spPr>
      </p:sp>
      <p:sp>
        <p:nvSpPr>
          <p:cNvPr id="29" name="Text 27"/>
          <p:cNvSpPr/>
          <p:nvPr/>
        </p:nvSpPr>
        <p:spPr>
          <a:xfrm>
            <a:off x="5532120" y="286207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within window &amp; ceiling</a:t>
            </a:r>
            <a:endParaRPr lang="en-US" sz="800" dirty="0"/>
          </a:p>
        </p:txBody>
      </p:sp>
      <p:sp>
        <p:nvSpPr>
          <p:cNvPr id="30" name="Shape 28"/>
          <p:cNvSpPr/>
          <p:nvPr/>
        </p:nvSpPr>
        <p:spPr>
          <a:xfrm>
            <a:off x="6492240" y="3639312"/>
            <a:ext cx="914" cy="402336"/>
          </a:xfrm>
          <a:prstGeom prst="line">
            <a:avLst/>
          </a:prstGeom>
          <a:noFill/>
          <a:ln w="22225">
            <a:solidFill>
              <a:srgbClr val="4B5563"/>
            </a:solidFill>
            <a:prstDash val="solid"/>
            <a:tailEnd type="triangle"/>
          </a:ln>
        </p:spPr>
      </p:sp>
      <p:sp>
        <p:nvSpPr>
          <p:cNvPr id="31" name="Text 29"/>
          <p:cNvSpPr/>
          <p:nvPr/>
        </p:nvSpPr>
        <p:spPr>
          <a:xfrm>
            <a:off x="5532120" y="372160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only intended instances</a:t>
            </a:r>
            <a:endParaRPr lang="en-US" sz="800" dirty="0"/>
          </a:p>
        </p:txBody>
      </p:sp>
      <p:sp>
        <p:nvSpPr>
          <p:cNvPr id="32" name="Shape 30"/>
          <p:cNvSpPr/>
          <p:nvPr/>
        </p:nvSpPr>
        <p:spPr>
          <a:xfrm flipV="1">
            <a:off x="3383280" y="1691640"/>
            <a:ext cx="1737360" cy="2578608"/>
          </a:xfrm>
          <a:prstGeom prst="line">
            <a:avLst/>
          </a:prstGeom>
          <a:noFill/>
          <a:ln w="22225">
            <a:solidFill>
              <a:srgbClr val="4B5563"/>
            </a:solidFill>
            <a:prstDash val="solid"/>
            <a:tailEnd type="triangle"/>
          </a:ln>
        </p:spPr>
      </p:sp>
      <p:sp>
        <p:nvSpPr>
          <p:cNvPr id="33" name="Text 31"/>
          <p:cNvSpPr/>
          <p:nvPr/>
        </p:nvSpPr>
        <p:spPr>
          <a:xfrm>
            <a:off x="3611880" y="2862072"/>
            <a:ext cx="128016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if permitted</a:t>
            </a:r>
            <a:endParaRPr lang="en-US" sz="800" dirty="0"/>
          </a:p>
        </p:txBody>
      </p:sp>
      <p:sp>
        <p:nvSpPr>
          <p:cNvPr id="34" name="Shape 32"/>
          <p:cNvSpPr/>
          <p:nvPr/>
        </p:nvSpPr>
        <p:spPr>
          <a:xfrm>
            <a:off x="8778240" y="1417320"/>
            <a:ext cx="2834640" cy="914400"/>
          </a:xfrm>
          <a:prstGeom prst="roundRect">
            <a:avLst>
              <a:gd name="adj" fmla="val 6000"/>
            </a:avLst>
          </a:prstGeom>
          <a:solidFill>
            <a:srgbClr val="FBEBE9"/>
          </a:solidFill>
          <a:ln w="15875">
            <a:solidFill>
              <a:srgbClr val="C0392B"/>
            </a:solidFill>
            <a:prstDash val="solid"/>
          </a:ln>
        </p:spPr>
      </p:sp>
      <p:sp>
        <p:nvSpPr>
          <p:cNvPr id="35" name="Text 33"/>
          <p:cNvSpPr/>
          <p:nvPr/>
        </p:nvSpPr>
        <p:spPr>
          <a:xfrm>
            <a:off x="8869680" y="1417320"/>
            <a:ext cx="2651760" cy="914400"/>
          </a:xfrm>
          <a:prstGeom prst="rect">
            <a:avLst/>
          </a:prstGeom>
          <a:noFill/>
          <a:ln/>
        </p:spPr>
        <p:txBody>
          <a:bodyPr wrap="square" lIns="25400" tIns="25400" rIns="25400" bIns="25400" rtlCol="0" anchor="ctr"/>
          <a:lstStyle/>
          <a:p>
            <a:pPr algn="ctr" indent="0" marL="0">
              <a:buNone/>
            </a:pPr>
            <a:r>
              <a:rPr lang="en-US" sz="1050" b="1" dirty="0">
                <a:solidFill>
                  <a:srgbClr val="7A2016"/>
                </a:solidFill>
                <a:latin typeface="Calibri" pitchFamily="34" charset="0"/>
                <a:ea typeface="Calibri" pitchFamily="34" charset="-122"/>
                <a:cs typeface="Calibri" pitchFamily="34" charset="-120"/>
              </a:rPr>
              <a:t>Held, escalated or blocked</a:t>
            </a:r>
            <a:endParaRPr lang="en-US" sz="1050" dirty="0"/>
          </a:p>
          <a:p>
            <a:pPr algn="ctr" indent="0" marL="0">
              <a:buNone/>
            </a:pPr>
            <a:r>
              <a:rPr lang="en-US" sz="1050" b="1" dirty="0">
                <a:solidFill>
                  <a:srgbClr val="7A2016"/>
                </a:solidFill>
                <a:latin typeface="Calibri" pitchFamily="34" charset="0"/>
                <a:ea typeface="Calibri" pitchFamily="34" charset="-122"/>
                <a:cs typeface="Calibri" pitchFamily="34" charset="-120"/>
              </a:rPr>
              <a:t>(freeze · conflict · cost)</a:t>
            </a:r>
            <a:endParaRPr lang="en-US" sz="1050" dirty="0"/>
          </a:p>
        </p:txBody>
      </p:sp>
      <p:sp>
        <p:nvSpPr>
          <p:cNvPr id="36" name="Shape 34"/>
          <p:cNvSpPr/>
          <p:nvPr/>
        </p:nvSpPr>
        <p:spPr>
          <a:xfrm>
            <a:off x="7863840" y="1691640"/>
            <a:ext cx="914400" cy="914"/>
          </a:xfrm>
          <a:prstGeom prst="line">
            <a:avLst/>
          </a:prstGeom>
          <a:noFill/>
          <a:ln w="22225">
            <a:solidFill>
              <a:srgbClr val="C0392B"/>
            </a:solidFill>
            <a:prstDash val="solid"/>
            <a:tailEnd type="triangle"/>
          </a:ln>
        </p:spPr>
      </p:sp>
      <p:sp>
        <p:nvSpPr>
          <p:cNvPr id="37" name="Text 35"/>
          <p:cNvSpPr/>
          <p:nvPr/>
        </p:nvSpPr>
        <p:spPr>
          <a:xfrm>
            <a:off x="7726680" y="1572768"/>
            <a:ext cx="118872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C0392B"/>
                </a:solidFill>
                <a:latin typeface="Calibri" pitchFamily="34" charset="0"/>
                <a:ea typeface="Calibri" pitchFamily="34" charset="-122"/>
                <a:cs typeface="Calibri" pitchFamily="34" charset="-120"/>
              </a:rPr>
              <a:t>if not safe</a:t>
            </a:r>
            <a:endParaRPr lang="en-US" sz="800" dirty="0"/>
          </a:p>
        </p:txBody>
      </p:sp>
      <p:sp>
        <p:nvSpPr>
          <p:cNvPr id="38" name="Shape 36"/>
          <p:cNvSpPr/>
          <p:nvPr/>
        </p:nvSpPr>
        <p:spPr>
          <a:xfrm>
            <a:off x="10195560" y="2377440"/>
            <a:ext cx="914" cy="1892808"/>
          </a:xfrm>
          <a:prstGeom prst="line">
            <a:avLst/>
          </a:prstGeom>
          <a:noFill/>
          <a:ln w="22225">
            <a:solidFill>
              <a:srgbClr val="4B5563"/>
            </a:solidFill>
            <a:prstDash val="solid"/>
            <a:tailEnd type="triangle"/>
          </a:ln>
        </p:spPr>
      </p:sp>
      <p:sp>
        <p:nvSpPr>
          <p:cNvPr id="39" name="Shape 37"/>
          <p:cNvSpPr/>
          <p:nvPr/>
        </p:nvSpPr>
        <p:spPr>
          <a:xfrm flipH="1">
            <a:off x="7863840" y="4270248"/>
            <a:ext cx="2331720" cy="914"/>
          </a:xfrm>
          <a:prstGeom prst="line">
            <a:avLst/>
          </a:prstGeom>
          <a:noFill/>
          <a:ln w="22225">
            <a:solidFill>
              <a:srgbClr val="4B5563"/>
            </a:solidFill>
            <a:prstDash val="solid"/>
            <a:tailEnd type="triangle"/>
          </a:ln>
        </p:spPr>
      </p:sp>
      <p:sp>
        <p:nvSpPr>
          <p:cNvPr id="40" name="Text 38"/>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No package names in the layman view. Illustrative example.</a:t>
            </a:r>
            <a:endParaRPr lang="en-US" sz="850" dirty="0"/>
          </a:p>
        </p:txBody>
      </p:sp>
      <p:sp>
        <p:nvSpPr>
          <p:cNvPr id="42" name="Text 39"/>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UC-5 · AUTONOMOUS CHANGE EXECUTION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Technical module workflow — Agent Runtime invokes the executor</a:t>
            </a:r>
            <a:endParaRPr lang="en-US" sz="2600" dirty="0"/>
          </a:p>
        </p:txBody>
      </p:sp>
      <p:sp>
        <p:nvSpPr>
          <p:cNvPr id="4" name="Shape 2"/>
          <p:cNvSpPr/>
          <p:nvPr/>
        </p:nvSpPr>
        <p:spPr>
          <a:xfrm>
            <a:off x="548640" y="1170432"/>
            <a:ext cx="201168" cy="146304"/>
          </a:xfrm>
          <a:prstGeom prst="roundRect">
            <a:avLst>
              <a:gd name="adj" fmla="val 18750"/>
            </a:avLst>
          </a:prstGeom>
          <a:solidFill>
            <a:srgbClr val="E7F3EC"/>
          </a:solidFill>
          <a:ln w="12700">
            <a:solidFill>
              <a:srgbClr val="2E7D5B"/>
            </a:solidFill>
            <a:prstDash val="solid"/>
          </a:ln>
        </p:spPr>
      </p:sp>
      <p:sp>
        <p:nvSpPr>
          <p:cNvPr id="5" name="Text 3"/>
          <p:cNvSpPr/>
          <p:nvPr/>
        </p:nvSpPr>
        <p:spPr>
          <a:xfrm>
            <a:off x="804672" y="1124712"/>
            <a:ext cx="10972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ServiceNow</a:t>
            </a:r>
            <a:endParaRPr lang="en-US" sz="850" dirty="0"/>
          </a:p>
        </p:txBody>
      </p:sp>
      <p:sp>
        <p:nvSpPr>
          <p:cNvPr id="6" name="Shape 4"/>
          <p:cNvSpPr/>
          <p:nvPr/>
        </p:nvSpPr>
        <p:spPr>
          <a:xfrm>
            <a:off x="2039112" y="1170432"/>
            <a:ext cx="201168" cy="146304"/>
          </a:xfrm>
          <a:prstGeom prst="roundRect">
            <a:avLst>
              <a:gd name="adj" fmla="val 18750"/>
            </a:avLst>
          </a:prstGeom>
          <a:solidFill>
            <a:srgbClr val="ECEAFB"/>
          </a:solidFill>
          <a:ln w="12700">
            <a:solidFill>
              <a:srgbClr val="5145C7"/>
            </a:solidFill>
            <a:prstDash val="solid"/>
          </a:ln>
        </p:spPr>
      </p:sp>
      <p:sp>
        <p:nvSpPr>
          <p:cNvPr id="7" name="Text 5"/>
          <p:cNvSpPr/>
          <p:nvPr/>
        </p:nvSpPr>
        <p:spPr>
          <a:xfrm>
            <a:off x="2295144" y="1124712"/>
            <a:ext cx="15544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decision</a:t>
            </a:r>
            <a:endParaRPr lang="en-US" sz="850" dirty="0"/>
          </a:p>
        </p:txBody>
      </p:sp>
      <p:sp>
        <p:nvSpPr>
          <p:cNvPr id="8" name="Shape 6"/>
          <p:cNvSpPr/>
          <p:nvPr/>
        </p:nvSpPr>
        <p:spPr>
          <a:xfrm>
            <a:off x="3986784" y="1170432"/>
            <a:ext cx="201168" cy="146304"/>
          </a:xfrm>
          <a:prstGeom prst="roundRect">
            <a:avLst>
              <a:gd name="adj" fmla="val 18750"/>
            </a:avLst>
          </a:prstGeom>
          <a:solidFill>
            <a:srgbClr val="E4EFF7"/>
          </a:solidFill>
          <a:ln w="12700">
            <a:solidFill>
              <a:srgbClr val="2B6CB0"/>
            </a:solidFill>
            <a:prstDash val="solid"/>
          </a:ln>
        </p:spPr>
      </p:sp>
      <p:sp>
        <p:nvSpPr>
          <p:cNvPr id="9" name="Text 7"/>
          <p:cNvSpPr/>
          <p:nvPr/>
        </p:nvSpPr>
        <p:spPr>
          <a:xfrm>
            <a:off x="4242816" y="1124712"/>
            <a:ext cx="16459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execution</a:t>
            </a:r>
            <a:endParaRPr lang="en-US" sz="850" dirty="0"/>
          </a:p>
        </p:txBody>
      </p:sp>
      <p:sp>
        <p:nvSpPr>
          <p:cNvPr id="10" name="Shape 8"/>
          <p:cNvSpPr/>
          <p:nvPr/>
        </p:nvSpPr>
        <p:spPr>
          <a:xfrm>
            <a:off x="6025896" y="1170432"/>
            <a:ext cx="201168" cy="146304"/>
          </a:xfrm>
          <a:prstGeom prst="roundRect">
            <a:avLst>
              <a:gd name="adj" fmla="val 18750"/>
            </a:avLst>
          </a:prstGeom>
          <a:solidFill>
            <a:srgbClr val="EEF1F4"/>
          </a:solidFill>
          <a:ln w="12700">
            <a:solidFill>
              <a:srgbClr val="6B7280"/>
            </a:solidFill>
            <a:prstDash val="solid"/>
          </a:ln>
        </p:spPr>
      </p:sp>
      <p:sp>
        <p:nvSpPr>
          <p:cNvPr id="11" name="Text 9"/>
          <p:cNvSpPr/>
          <p:nvPr/>
        </p:nvSpPr>
        <p:spPr>
          <a:xfrm>
            <a:off x="6281928" y="1124712"/>
            <a:ext cx="7315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External</a:t>
            </a:r>
            <a:endParaRPr lang="en-US" sz="850" dirty="0"/>
          </a:p>
        </p:txBody>
      </p:sp>
      <p:sp>
        <p:nvSpPr>
          <p:cNvPr id="12" name="Shape 10"/>
          <p:cNvSpPr/>
          <p:nvPr/>
        </p:nvSpPr>
        <p:spPr>
          <a:xfrm>
            <a:off x="7150608" y="1170432"/>
            <a:ext cx="201168" cy="146304"/>
          </a:xfrm>
          <a:prstGeom prst="roundRect">
            <a:avLst>
              <a:gd name="adj" fmla="val 18750"/>
            </a:avLst>
          </a:prstGeom>
          <a:solidFill>
            <a:srgbClr val="FBEBE9"/>
          </a:solidFill>
          <a:ln w="12700">
            <a:solidFill>
              <a:srgbClr val="C0392B"/>
            </a:solidFill>
            <a:prstDash val="solid"/>
          </a:ln>
        </p:spPr>
      </p:sp>
      <p:sp>
        <p:nvSpPr>
          <p:cNvPr id="13" name="Text 11"/>
          <p:cNvSpPr/>
          <p:nvPr/>
        </p:nvSpPr>
        <p:spPr>
          <a:xfrm>
            <a:off x="7406640" y="1124712"/>
            <a:ext cx="6400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Stop</a:t>
            </a:r>
            <a:endParaRPr lang="en-US" sz="850" dirty="0"/>
          </a:p>
        </p:txBody>
      </p:sp>
      <p:sp>
        <p:nvSpPr>
          <p:cNvPr id="14" name="Shape 12"/>
          <p:cNvSpPr/>
          <p:nvPr/>
        </p:nvSpPr>
        <p:spPr>
          <a:xfrm>
            <a:off x="3383280" y="1444752"/>
            <a:ext cx="274320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3410712" y="1444752"/>
            <a:ext cx="2688336" cy="457200"/>
          </a:xfrm>
          <a:prstGeom prst="rect">
            <a:avLst/>
          </a:prstGeom>
          <a:noFill/>
          <a:ln/>
        </p:spPr>
        <p:txBody>
          <a:bodyPr wrap="square" lIns="12700" tIns="12700" rIns="12700" bIns="12700" rtlCol="0" anchor="ctr"/>
          <a:lstStyle/>
          <a:p>
            <a:pPr algn="ctr" indent="0" marL="0">
              <a:lnSpc>
                <a:spcPct val="92000"/>
              </a:lnSpc>
              <a:buNone/>
            </a:pPr>
            <a:r>
              <a:rPr lang="en-US" sz="1000" b="1" dirty="0">
                <a:solidFill>
                  <a:srgbClr val="14532D"/>
                </a:solidFill>
                <a:latin typeface="Calibri" pitchFamily="34" charset="0"/>
                <a:ea typeface="Calibri" pitchFamily="34" charset="-122"/>
                <a:cs typeface="Calibri" pitchFamily="34" charset="-120"/>
              </a:rPr>
              <a:t>ServiceNow Change Mgmt · CHG0048217</a:t>
            </a:r>
            <a:endParaRPr lang="en-US" sz="1000" dirty="0"/>
          </a:p>
        </p:txBody>
      </p:sp>
      <p:sp>
        <p:nvSpPr>
          <p:cNvPr id="16" name="Shape 14"/>
          <p:cNvSpPr/>
          <p:nvPr/>
        </p:nvSpPr>
        <p:spPr>
          <a:xfrm>
            <a:off x="3383280" y="2139696"/>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7" name="Text 15"/>
          <p:cNvSpPr/>
          <p:nvPr/>
        </p:nvSpPr>
        <p:spPr>
          <a:xfrm>
            <a:off x="3410712" y="2139696"/>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Decision Authority</a:t>
            </a:r>
            <a:endParaRPr lang="en-US" sz="1050" dirty="0"/>
          </a:p>
        </p:txBody>
      </p:sp>
      <p:sp>
        <p:nvSpPr>
          <p:cNvPr id="18" name="Shape 16"/>
          <p:cNvSpPr/>
          <p:nvPr/>
        </p:nvSpPr>
        <p:spPr>
          <a:xfrm>
            <a:off x="3383280" y="2834640"/>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3410712" y="283464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ActionGate</a:t>
            </a:r>
            <a:endParaRPr lang="en-US" sz="1050" dirty="0"/>
          </a:p>
        </p:txBody>
      </p:sp>
      <p:sp>
        <p:nvSpPr>
          <p:cNvPr id="20" name="Shape 18"/>
          <p:cNvSpPr/>
          <p:nvPr/>
        </p:nvSpPr>
        <p:spPr>
          <a:xfrm>
            <a:off x="3383280" y="3529584"/>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21" name="Text 19"/>
          <p:cNvSpPr/>
          <p:nvPr/>
        </p:nvSpPr>
        <p:spPr>
          <a:xfrm>
            <a:off x="3410712" y="3529584"/>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Action Clearance (ACP)</a:t>
            </a:r>
            <a:endParaRPr lang="en-US" sz="1050" dirty="0"/>
          </a:p>
        </p:txBody>
      </p:sp>
      <p:sp>
        <p:nvSpPr>
          <p:cNvPr id="22" name="Shape 20"/>
          <p:cNvSpPr/>
          <p:nvPr/>
        </p:nvSpPr>
        <p:spPr>
          <a:xfrm>
            <a:off x="3383280" y="4224528"/>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3" name="Text 21"/>
          <p:cNvSpPr/>
          <p:nvPr/>
        </p:nvSpPr>
        <p:spPr>
          <a:xfrm>
            <a:off x="3410712" y="4224528"/>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Agent Runtime · coordinates</a:t>
            </a:r>
            <a:endParaRPr lang="en-US" sz="1050" dirty="0"/>
          </a:p>
        </p:txBody>
      </p:sp>
      <p:sp>
        <p:nvSpPr>
          <p:cNvPr id="24" name="Shape 22"/>
          <p:cNvSpPr/>
          <p:nvPr/>
        </p:nvSpPr>
        <p:spPr>
          <a:xfrm>
            <a:off x="3383280" y="4919472"/>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5" name="Text 23"/>
          <p:cNvSpPr/>
          <p:nvPr/>
        </p:nvSpPr>
        <p:spPr>
          <a:xfrm>
            <a:off x="3410712" y="4919472"/>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RA-8 Execution Assurance</a:t>
            </a:r>
            <a:endParaRPr lang="en-US" sz="1050" dirty="0"/>
          </a:p>
        </p:txBody>
      </p:sp>
      <p:sp>
        <p:nvSpPr>
          <p:cNvPr id="26" name="Shape 24"/>
          <p:cNvSpPr/>
          <p:nvPr/>
        </p:nvSpPr>
        <p:spPr>
          <a:xfrm>
            <a:off x="3383280" y="5614416"/>
            <a:ext cx="2743200" cy="548640"/>
          </a:xfrm>
          <a:prstGeom prst="roundRect">
            <a:avLst>
              <a:gd name="adj" fmla="val 11667"/>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27" name="Text 25"/>
          <p:cNvSpPr/>
          <p:nvPr/>
        </p:nvSpPr>
        <p:spPr>
          <a:xfrm>
            <a:off x="3410712" y="5614416"/>
            <a:ext cx="2688336" cy="548640"/>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14532D"/>
                </a:solidFill>
                <a:latin typeface="Calibri" pitchFamily="34" charset="0"/>
                <a:ea typeface="Calibri" pitchFamily="34" charset="-122"/>
                <a:cs typeface="Calibri" pitchFamily="34" charset="-120"/>
              </a:rPr>
              <a:t>ServiceNow Change Record</a:t>
            </a:r>
            <a:endParaRPr lang="en-US" sz="950" dirty="0"/>
          </a:p>
          <a:p>
            <a:pPr algn="ctr" indent="0" marL="0">
              <a:lnSpc>
                <a:spcPct val="92000"/>
              </a:lnSpc>
              <a:buNone/>
            </a:pPr>
            <a:r>
              <a:rPr lang="en-US" sz="950" b="1" dirty="0">
                <a:solidFill>
                  <a:srgbClr val="14532D"/>
                </a:solidFill>
                <a:latin typeface="Calibri" pitchFamily="34" charset="0"/>
                <a:ea typeface="Calibri" pitchFamily="34" charset="-122"/>
                <a:cs typeface="Calibri" pitchFamily="34" charset="-120"/>
              </a:rPr>
              <a:t>status + receipt refs + outcome</a:t>
            </a:r>
            <a:endParaRPr lang="en-US" sz="950" dirty="0"/>
          </a:p>
        </p:txBody>
      </p:sp>
      <p:sp>
        <p:nvSpPr>
          <p:cNvPr id="28" name="Shape 26"/>
          <p:cNvSpPr/>
          <p:nvPr/>
        </p:nvSpPr>
        <p:spPr>
          <a:xfrm>
            <a:off x="4754880" y="1901952"/>
            <a:ext cx="914" cy="237744"/>
          </a:xfrm>
          <a:prstGeom prst="line">
            <a:avLst/>
          </a:prstGeom>
          <a:noFill/>
          <a:ln w="22225">
            <a:solidFill>
              <a:srgbClr val="4B5563"/>
            </a:solidFill>
            <a:prstDash val="solid"/>
            <a:tailEnd type="triangle"/>
          </a:ln>
        </p:spPr>
      </p:sp>
      <p:sp>
        <p:nvSpPr>
          <p:cNvPr id="29" name="Text 27"/>
          <p:cNvSpPr/>
          <p:nvPr/>
        </p:nvSpPr>
        <p:spPr>
          <a:xfrm>
            <a:off x="3794760" y="190195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change record + approval context</a:t>
            </a:r>
            <a:endParaRPr lang="en-US" sz="800" dirty="0"/>
          </a:p>
        </p:txBody>
      </p:sp>
      <p:sp>
        <p:nvSpPr>
          <p:cNvPr id="30" name="Shape 28"/>
          <p:cNvSpPr/>
          <p:nvPr/>
        </p:nvSpPr>
        <p:spPr>
          <a:xfrm>
            <a:off x="4754880" y="2596896"/>
            <a:ext cx="914" cy="237744"/>
          </a:xfrm>
          <a:prstGeom prst="line">
            <a:avLst/>
          </a:prstGeom>
          <a:noFill/>
          <a:ln w="22225">
            <a:solidFill>
              <a:srgbClr val="4B5563"/>
            </a:solidFill>
            <a:prstDash val="solid"/>
            <a:tailEnd type="triangle"/>
          </a:ln>
        </p:spPr>
      </p:sp>
      <p:sp>
        <p:nvSpPr>
          <p:cNvPr id="31" name="Text 29"/>
          <p:cNvSpPr/>
          <p:nvPr/>
        </p:nvSpPr>
        <p:spPr>
          <a:xfrm>
            <a:off x="3794760" y="259689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binding decision record</a:t>
            </a:r>
            <a:endParaRPr lang="en-US" sz="800" dirty="0"/>
          </a:p>
        </p:txBody>
      </p:sp>
      <p:sp>
        <p:nvSpPr>
          <p:cNvPr id="32" name="Shape 30"/>
          <p:cNvSpPr/>
          <p:nvPr/>
        </p:nvSpPr>
        <p:spPr>
          <a:xfrm>
            <a:off x="4754880" y="3291840"/>
            <a:ext cx="914" cy="237744"/>
          </a:xfrm>
          <a:prstGeom prst="line">
            <a:avLst/>
          </a:prstGeom>
          <a:noFill/>
          <a:ln w="22225">
            <a:solidFill>
              <a:srgbClr val="4B5563"/>
            </a:solidFill>
            <a:prstDash val="solid"/>
            <a:tailEnd type="triangle"/>
          </a:ln>
        </p:spPr>
      </p:sp>
      <p:sp>
        <p:nvSpPr>
          <p:cNvPr id="33" name="Text 31"/>
          <p:cNvSpPr/>
          <p:nvPr/>
        </p:nvSpPr>
        <p:spPr>
          <a:xfrm>
            <a:off x="3794760" y="3291840"/>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exact-target action authorization</a:t>
            </a:r>
            <a:endParaRPr lang="en-US" sz="800" dirty="0"/>
          </a:p>
        </p:txBody>
      </p:sp>
      <p:sp>
        <p:nvSpPr>
          <p:cNvPr id="34" name="Shape 32"/>
          <p:cNvSpPr/>
          <p:nvPr/>
        </p:nvSpPr>
        <p:spPr>
          <a:xfrm>
            <a:off x="4754880" y="3986784"/>
            <a:ext cx="914" cy="237744"/>
          </a:xfrm>
          <a:prstGeom prst="line">
            <a:avLst/>
          </a:prstGeom>
          <a:noFill/>
          <a:ln w="22225">
            <a:solidFill>
              <a:srgbClr val="4B5563"/>
            </a:solidFill>
            <a:prstDash val="solid"/>
            <a:tailEnd type="triangle"/>
          </a:ln>
        </p:spPr>
      </p:sp>
      <p:sp>
        <p:nvSpPr>
          <p:cNvPr id="35" name="Text 33"/>
          <p:cNvSpPr/>
          <p:nvPr/>
        </p:nvSpPr>
        <p:spPr>
          <a:xfrm>
            <a:off x="3794760" y="398678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CLEAR</a:t>
            </a:r>
            <a:endParaRPr lang="en-US" sz="800" dirty="0"/>
          </a:p>
        </p:txBody>
      </p:sp>
      <p:sp>
        <p:nvSpPr>
          <p:cNvPr id="36" name="Shape 34"/>
          <p:cNvSpPr/>
          <p:nvPr/>
        </p:nvSpPr>
        <p:spPr>
          <a:xfrm>
            <a:off x="4754880" y="4681728"/>
            <a:ext cx="914" cy="237744"/>
          </a:xfrm>
          <a:prstGeom prst="line">
            <a:avLst/>
          </a:prstGeom>
          <a:noFill/>
          <a:ln w="22225">
            <a:solidFill>
              <a:srgbClr val="4B5563"/>
            </a:solidFill>
            <a:prstDash val="solid"/>
            <a:tailEnd type="triangle"/>
          </a:ln>
        </p:spPr>
      </p:sp>
      <p:sp>
        <p:nvSpPr>
          <p:cNvPr id="37" name="Text 35"/>
          <p:cNvSpPr/>
          <p:nvPr/>
        </p:nvSpPr>
        <p:spPr>
          <a:xfrm>
            <a:off x="3794760" y="468172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execution receipt</a:t>
            </a:r>
            <a:endParaRPr lang="en-US" sz="800" dirty="0"/>
          </a:p>
        </p:txBody>
      </p:sp>
      <p:sp>
        <p:nvSpPr>
          <p:cNvPr id="38" name="Shape 36"/>
          <p:cNvSpPr/>
          <p:nvPr/>
        </p:nvSpPr>
        <p:spPr>
          <a:xfrm>
            <a:off x="4754880" y="5376672"/>
            <a:ext cx="914" cy="237744"/>
          </a:xfrm>
          <a:prstGeom prst="line">
            <a:avLst/>
          </a:prstGeom>
          <a:noFill/>
          <a:ln w="22225">
            <a:solidFill>
              <a:srgbClr val="4B5563"/>
            </a:solidFill>
            <a:prstDash val="solid"/>
            <a:tailEnd type="triangle"/>
          </a:ln>
        </p:spPr>
      </p:sp>
      <p:sp>
        <p:nvSpPr>
          <p:cNvPr id="39" name="Text 37"/>
          <p:cNvSpPr/>
          <p:nvPr/>
        </p:nvSpPr>
        <p:spPr>
          <a:xfrm>
            <a:off x="3794760" y="537667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effect matched</a:t>
            </a:r>
            <a:endParaRPr lang="en-US" sz="800" dirty="0"/>
          </a:p>
        </p:txBody>
      </p:sp>
      <p:sp>
        <p:nvSpPr>
          <p:cNvPr id="40" name="Shape 38"/>
          <p:cNvSpPr/>
          <p:nvPr/>
        </p:nvSpPr>
        <p:spPr>
          <a:xfrm>
            <a:off x="457200" y="4169664"/>
            <a:ext cx="2331720" cy="566928"/>
          </a:xfrm>
          <a:prstGeom prst="roundRect">
            <a:avLst>
              <a:gd name="adj" fmla="val 1129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41" name="Text 39"/>
          <p:cNvSpPr/>
          <p:nvPr/>
        </p:nvSpPr>
        <p:spPr>
          <a:xfrm>
            <a:off x="484632" y="4169664"/>
            <a:ext cx="2276856" cy="566928"/>
          </a:xfrm>
          <a:prstGeom prst="rect">
            <a:avLst/>
          </a:prstGeom>
          <a:noFill/>
          <a:ln/>
        </p:spPr>
        <p:txBody>
          <a:bodyPr wrap="square" lIns="12700" tIns="12700" rIns="12700" bIns="12700" rtlCol="0" anchor="ctr"/>
          <a:lstStyle/>
          <a:p>
            <a:pPr algn="ctr" indent="0" marL="0">
              <a:lnSpc>
                <a:spcPct val="92000"/>
              </a:lnSpc>
              <a:buNone/>
            </a:pPr>
            <a:r>
              <a:rPr lang="en-US" sz="900" b="1" dirty="0">
                <a:solidFill>
                  <a:srgbClr val="173A5A"/>
                </a:solidFill>
                <a:latin typeface="Calibri" pitchFamily="34" charset="0"/>
                <a:ea typeface="Calibri" pitchFamily="34" charset="-122"/>
                <a:cs typeface="Calibri" pitchFamily="34" charset="-120"/>
              </a:rPr>
              <a:t>Cloud Scaling Operations</a:t>
            </a:r>
            <a:endParaRPr lang="en-US" sz="900" dirty="0"/>
          </a:p>
          <a:p>
            <a:pPr algn="ctr" indent="0" marL="0">
              <a:lnSpc>
                <a:spcPct val="92000"/>
              </a:lnSpc>
              <a:buNone/>
            </a:pPr>
            <a:r>
              <a:rPr lang="en-US" sz="900" b="1" dirty="0">
                <a:solidFill>
                  <a:srgbClr val="173A5A"/>
                </a:solidFill>
                <a:latin typeface="Calibri" pitchFamily="34" charset="0"/>
                <a:ea typeface="Calibri" pitchFamily="34" charset="-122"/>
                <a:cs typeface="Calibri" pitchFamily="34" charset="-120"/>
              </a:rPr>
              <a:t>(controlled · dry-run)</a:t>
            </a:r>
            <a:endParaRPr lang="en-US" sz="900" dirty="0"/>
          </a:p>
        </p:txBody>
      </p:sp>
      <p:sp>
        <p:nvSpPr>
          <p:cNvPr id="42" name="Shape 40"/>
          <p:cNvSpPr/>
          <p:nvPr/>
        </p:nvSpPr>
        <p:spPr>
          <a:xfrm flipH="1">
            <a:off x="2788920" y="4334256"/>
            <a:ext cx="594360" cy="914"/>
          </a:xfrm>
          <a:prstGeom prst="line">
            <a:avLst/>
          </a:prstGeom>
          <a:noFill/>
          <a:ln w="22225">
            <a:solidFill>
              <a:srgbClr val="2B6CB0"/>
            </a:solidFill>
            <a:prstDash val="solid"/>
            <a:tailEnd type="triangle"/>
          </a:ln>
        </p:spPr>
      </p:sp>
      <p:sp>
        <p:nvSpPr>
          <p:cNvPr id="43" name="Text 41"/>
          <p:cNvSpPr/>
          <p:nvPr/>
        </p:nvSpPr>
        <p:spPr>
          <a:xfrm>
            <a:off x="2720340" y="4242816"/>
            <a:ext cx="731520" cy="182880"/>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2B6CB0"/>
                </a:solidFill>
                <a:latin typeface="Calibri" pitchFamily="34" charset="0"/>
                <a:ea typeface="Calibri" pitchFamily="34" charset="-122"/>
                <a:cs typeface="Calibri" pitchFamily="34" charset="-120"/>
              </a:rPr>
              <a:t>invokes</a:t>
            </a:r>
            <a:endParaRPr lang="en-US" sz="700" dirty="0"/>
          </a:p>
        </p:txBody>
      </p:sp>
      <p:sp>
        <p:nvSpPr>
          <p:cNvPr id="44" name="Shape 42"/>
          <p:cNvSpPr/>
          <p:nvPr/>
        </p:nvSpPr>
        <p:spPr>
          <a:xfrm>
            <a:off x="2788920" y="4572000"/>
            <a:ext cx="594360" cy="914"/>
          </a:xfrm>
          <a:prstGeom prst="line">
            <a:avLst/>
          </a:prstGeom>
          <a:noFill/>
          <a:ln w="22225">
            <a:solidFill>
              <a:srgbClr val="2B6CB0"/>
            </a:solidFill>
            <a:prstDash val="solid"/>
            <a:tailEnd type="triangle"/>
          </a:ln>
        </p:spPr>
      </p:sp>
      <p:sp>
        <p:nvSpPr>
          <p:cNvPr id="45" name="Text 43"/>
          <p:cNvSpPr/>
          <p:nvPr/>
        </p:nvSpPr>
        <p:spPr>
          <a:xfrm>
            <a:off x="2743200" y="4480560"/>
            <a:ext cx="685800" cy="182880"/>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2B6CB0"/>
                </a:solidFill>
                <a:latin typeface="Calibri" pitchFamily="34" charset="0"/>
                <a:ea typeface="Calibri" pitchFamily="34" charset="-122"/>
                <a:cs typeface="Calibri" pitchFamily="34" charset="-120"/>
              </a:rPr>
              <a:t>result</a:t>
            </a:r>
            <a:endParaRPr lang="en-US" sz="700" dirty="0"/>
          </a:p>
        </p:txBody>
      </p:sp>
      <p:sp>
        <p:nvSpPr>
          <p:cNvPr id="46" name="Shape 44"/>
          <p:cNvSpPr/>
          <p:nvPr/>
        </p:nvSpPr>
        <p:spPr>
          <a:xfrm>
            <a:off x="749808" y="5029200"/>
            <a:ext cx="1737360" cy="585216"/>
          </a:xfrm>
          <a:prstGeom prst="can">
            <a:avLst/>
          </a:prstGeom>
          <a:solidFill>
            <a:srgbClr val="EEF1F4"/>
          </a:solidFill>
          <a:ln w="19050">
            <a:solidFill>
              <a:srgbClr val="6B7280"/>
            </a:solidFill>
            <a:prstDash val="solid"/>
          </a:ln>
          <a:effectLst>
            <a:outerShdw sx="100000" sy="100000" kx="0" ky="0" algn="bl" rotWithShape="0" blurRad="50800" dist="19050" dir="5400000">
              <a:srgbClr val="8A94A6">
                <a:alpha val="28000"/>
              </a:srgbClr>
            </a:outerShdw>
          </a:effectLst>
        </p:spPr>
      </p:sp>
      <p:sp>
        <p:nvSpPr>
          <p:cNvPr id="47" name="Text 45"/>
          <p:cNvSpPr/>
          <p:nvPr/>
        </p:nvSpPr>
        <p:spPr>
          <a:xfrm>
            <a:off x="777240" y="5084064"/>
            <a:ext cx="1682496" cy="512064"/>
          </a:xfrm>
          <a:prstGeom prst="rect">
            <a:avLst/>
          </a:prstGeom>
          <a:noFill/>
          <a:ln/>
        </p:spPr>
        <p:txBody>
          <a:bodyPr wrap="square" lIns="12700" tIns="12700" rIns="12700" bIns="12700" rtlCol="0" anchor="ctr"/>
          <a:lstStyle/>
          <a:p>
            <a:pPr algn="ctr" indent="0" marL="0">
              <a:lnSpc>
                <a:spcPct val="92000"/>
              </a:lnSpc>
              <a:buNone/>
            </a:pPr>
            <a:r>
              <a:rPr lang="en-US" sz="900" b="1" dirty="0">
                <a:solidFill>
                  <a:srgbClr val="374151"/>
                </a:solidFill>
                <a:latin typeface="Calibri" pitchFamily="34" charset="0"/>
                <a:ea typeface="Calibri" pitchFamily="34" charset="-122"/>
                <a:cs typeface="Calibri" pitchFamily="34" charset="-120"/>
              </a:rPr>
              <a:t>Production</a:t>
            </a:r>
            <a:endParaRPr lang="en-US" sz="900" dirty="0"/>
          </a:p>
          <a:p>
            <a:pPr algn="ctr" indent="0" marL="0">
              <a:lnSpc>
                <a:spcPct val="92000"/>
              </a:lnSpc>
              <a:buNone/>
            </a:pPr>
            <a:r>
              <a:rPr lang="en-US" sz="900" b="1" dirty="0">
                <a:solidFill>
                  <a:srgbClr val="374151"/>
                </a:solidFill>
                <a:latin typeface="Calibri" pitchFamily="34" charset="0"/>
                <a:ea typeface="Calibri" pitchFamily="34" charset="-122"/>
                <a:cs typeface="Calibri" pitchFamily="34" charset="-120"/>
              </a:rPr>
              <a:t>Kubernetes cluster</a:t>
            </a:r>
            <a:endParaRPr lang="en-US" sz="900" dirty="0"/>
          </a:p>
        </p:txBody>
      </p:sp>
      <p:sp>
        <p:nvSpPr>
          <p:cNvPr id="48" name="Shape 46"/>
          <p:cNvSpPr/>
          <p:nvPr/>
        </p:nvSpPr>
        <p:spPr>
          <a:xfrm flipH="1">
            <a:off x="1344168" y="4736592"/>
            <a:ext cx="4572" cy="292608"/>
          </a:xfrm>
          <a:prstGeom prst="line">
            <a:avLst/>
          </a:prstGeom>
          <a:noFill/>
          <a:ln w="22225">
            <a:solidFill>
              <a:srgbClr val="4B5563"/>
            </a:solidFill>
            <a:prstDash val="solid"/>
            <a:tailEnd type="triangle"/>
          </a:ln>
        </p:spPr>
      </p:sp>
      <p:sp>
        <p:nvSpPr>
          <p:cNvPr id="49" name="Text 47"/>
          <p:cNvSpPr/>
          <p:nvPr/>
        </p:nvSpPr>
        <p:spPr>
          <a:xfrm>
            <a:off x="774954" y="4764024"/>
            <a:ext cx="114300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6B7280"/>
                </a:solidFill>
                <a:latin typeface="Calibri" pitchFamily="34" charset="0"/>
                <a:ea typeface="Calibri" pitchFamily="34" charset="-122"/>
                <a:cs typeface="Calibri" pitchFamily="34" charset="-120"/>
              </a:rPr>
              <a:t>scaling request</a:t>
            </a:r>
            <a:endParaRPr lang="en-US" sz="700" dirty="0"/>
          </a:p>
        </p:txBody>
      </p:sp>
      <p:sp>
        <p:nvSpPr>
          <p:cNvPr id="50" name="Shape 48"/>
          <p:cNvSpPr/>
          <p:nvPr/>
        </p:nvSpPr>
        <p:spPr>
          <a:xfrm flipV="1">
            <a:off x="1938528" y="4745736"/>
            <a:ext cx="4572" cy="283464"/>
          </a:xfrm>
          <a:prstGeom prst="line">
            <a:avLst/>
          </a:prstGeom>
          <a:noFill/>
          <a:ln w="22225">
            <a:solidFill>
              <a:srgbClr val="4B5563"/>
            </a:solidFill>
            <a:prstDash val="solid"/>
            <a:tailEnd type="triangle"/>
          </a:ln>
        </p:spPr>
      </p:sp>
      <p:sp>
        <p:nvSpPr>
          <p:cNvPr id="51" name="Text 49"/>
          <p:cNvSpPr/>
          <p:nvPr/>
        </p:nvSpPr>
        <p:spPr>
          <a:xfrm>
            <a:off x="1369314" y="4768596"/>
            <a:ext cx="114300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6B7280"/>
                </a:solidFill>
                <a:latin typeface="Calibri" pitchFamily="34" charset="0"/>
                <a:ea typeface="Calibri" pitchFamily="34" charset="-122"/>
                <a:cs typeface="Calibri" pitchFamily="34" charset="-120"/>
              </a:rPr>
              <a:t>outcome + audit</a:t>
            </a:r>
            <a:endParaRPr lang="en-US" sz="700" dirty="0"/>
          </a:p>
        </p:txBody>
      </p:sp>
      <p:sp>
        <p:nvSpPr>
          <p:cNvPr id="52" name="Shape 50"/>
          <p:cNvSpPr/>
          <p:nvPr/>
        </p:nvSpPr>
        <p:spPr>
          <a:xfrm>
            <a:off x="8092440" y="2834640"/>
            <a:ext cx="2286000" cy="1152144"/>
          </a:xfrm>
          <a:prstGeom prst="roundRect">
            <a:avLst>
              <a:gd name="adj" fmla="val 4762"/>
            </a:avLst>
          </a:prstGeom>
          <a:solidFill>
            <a:srgbClr val="FBEBE9"/>
          </a:solidFill>
          <a:ln w="15875">
            <a:solidFill>
              <a:srgbClr val="C0392B"/>
            </a:solidFill>
            <a:prstDash val="solid"/>
          </a:ln>
        </p:spPr>
      </p:sp>
      <p:sp>
        <p:nvSpPr>
          <p:cNvPr id="53" name="Text 51"/>
          <p:cNvSpPr/>
          <p:nvPr/>
        </p:nvSpPr>
        <p:spPr>
          <a:xfrm>
            <a:off x="8183880" y="2834640"/>
            <a:ext cx="2103120" cy="1152144"/>
          </a:xfrm>
          <a:prstGeom prst="rect">
            <a:avLst/>
          </a:prstGeom>
          <a:noFill/>
          <a:ln/>
        </p:spPr>
        <p:txBody>
          <a:bodyPr wrap="square" lIns="25400" tIns="25400" rIns="25400" bIns="25400" rtlCol="0" anchor="ctr"/>
          <a:lstStyle/>
          <a:p>
            <a:pPr algn="ctr" indent="0" marL="0">
              <a:buNone/>
            </a:pPr>
            <a:r>
              <a:rPr lang="en-US" sz="1000" b="1" dirty="0">
                <a:solidFill>
                  <a:srgbClr val="7A2016"/>
                </a:solidFill>
                <a:latin typeface="Calibri" pitchFamily="34" charset="0"/>
                <a:ea typeface="Calibri" pitchFamily="34" charset="-122"/>
                <a:cs typeface="Calibri" pitchFamily="34" charset="-120"/>
              </a:rPr>
              <a:t>HOLD / BLOCK / ESCALATE</a:t>
            </a:r>
            <a:endParaRPr lang="en-US" sz="1000" dirty="0"/>
          </a:p>
          <a:p>
            <a:pPr algn="ctr" indent="0" marL="0">
              <a:buNone/>
            </a:pPr>
            <a:r>
              <a:rPr lang="en-US" sz="1000" b="1" dirty="0">
                <a:solidFill>
                  <a:srgbClr val="7A2016"/>
                </a:solidFill>
                <a:latin typeface="Calibri" pitchFamily="34" charset="0"/>
                <a:ea typeface="Calibri" pitchFamily="34" charset="-122"/>
                <a:cs typeface="Calibri" pitchFamily="34" charset="-120"/>
              </a:rPr>
              <a:t>no execution</a:t>
            </a:r>
            <a:endParaRPr lang="en-US" sz="1000" dirty="0"/>
          </a:p>
        </p:txBody>
      </p:sp>
      <p:sp>
        <p:nvSpPr>
          <p:cNvPr id="54" name="Shape 52"/>
          <p:cNvSpPr/>
          <p:nvPr/>
        </p:nvSpPr>
        <p:spPr>
          <a:xfrm>
            <a:off x="6126480" y="3063240"/>
            <a:ext cx="1965960" cy="914"/>
          </a:xfrm>
          <a:prstGeom prst="line">
            <a:avLst/>
          </a:prstGeom>
          <a:noFill/>
          <a:ln w="22225">
            <a:solidFill>
              <a:srgbClr val="C0392B"/>
            </a:solidFill>
            <a:prstDash val="solid"/>
            <a:tailEnd type="triangle"/>
          </a:ln>
        </p:spPr>
      </p:sp>
      <p:sp>
        <p:nvSpPr>
          <p:cNvPr id="55" name="Text 53"/>
          <p:cNvSpPr/>
          <p:nvPr/>
        </p:nvSpPr>
        <p:spPr>
          <a:xfrm>
            <a:off x="6377940" y="2944368"/>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DENIED / INDET.</a:t>
            </a:r>
            <a:endParaRPr lang="en-US" sz="750" dirty="0"/>
          </a:p>
        </p:txBody>
      </p:sp>
      <p:sp>
        <p:nvSpPr>
          <p:cNvPr id="56" name="Shape 54"/>
          <p:cNvSpPr/>
          <p:nvPr/>
        </p:nvSpPr>
        <p:spPr>
          <a:xfrm>
            <a:off x="6126480" y="3758184"/>
            <a:ext cx="1965960" cy="914"/>
          </a:xfrm>
          <a:prstGeom prst="line">
            <a:avLst/>
          </a:prstGeom>
          <a:noFill/>
          <a:ln w="22225">
            <a:solidFill>
              <a:srgbClr val="C0392B"/>
            </a:solidFill>
            <a:prstDash val="solid"/>
            <a:tailEnd type="triangle"/>
          </a:ln>
        </p:spPr>
      </p:sp>
      <p:sp>
        <p:nvSpPr>
          <p:cNvPr id="57" name="Text 55"/>
          <p:cNvSpPr/>
          <p:nvPr/>
        </p:nvSpPr>
        <p:spPr>
          <a:xfrm>
            <a:off x="6423660" y="3639312"/>
            <a:ext cx="137160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HOLD / BLOCK</a:t>
            </a:r>
            <a:endParaRPr lang="en-US" sz="750" dirty="0"/>
          </a:p>
        </p:txBody>
      </p:sp>
      <p:sp>
        <p:nvSpPr>
          <p:cNvPr id="58" name="Shape 56"/>
          <p:cNvSpPr/>
          <p:nvPr/>
        </p:nvSpPr>
        <p:spPr>
          <a:xfrm>
            <a:off x="9235440" y="3986784"/>
            <a:ext cx="914" cy="1901952"/>
          </a:xfrm>
          <a:prstGeom prst="line">
            <a:avLst/>
          </a:prstGeom>
          <a:noFill/>
          <a:ln w="22225">
            <a:solidFill>
              <a:srgbClr val="4B5563"/>
            </a:solidFill>
            <a:prstDash val="solid"/>
            <a:tailEnd type="triangle"/>
          </a:ln>
        </p:spPr>
      </p:sp>
      <p:sp>
        <p:nvSpPr>
          <p:cNvPr id="59" name="Text 57"/>
          <p:cNvSpPr/>
          <p:nvPr/>
        </p:nvSpPr>
        <p:spPr>
          <a:xfrm>
            <a:off x="8503920" y="4818888"/>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6B7280"/>
                </a:solidFill>
                <a:latin typeface="Calibri" pitchFamily="34" charset="0"/>
                <a:ea typeface="Calibri" pitchFamily="34" charset="-122"/>
                <a:cs typeface="Calibri" pitchFamily="34" charset="-120"/>
              </a:rPr>
              <a:t>reason + evidence</a:t>
            </a:r>
            <a:endParaRPr lang="en-US" sz="750" dirty="0"/>
          </a:p>
        </p:txBody>
      </p:sp>
      <p:sp>
        <p:nvSpPr>
          <p:cNvPr id="60" name="Shape 58"/>
          <p:cNvSpPr/>
          <p:nvPr/>
        </p:nvSpPr>
        <p:spPr>
          <a:xfrm flipH="1">
            <a:off x="6126480" y="5888736"/>
            <a:ext cx="3108960" cy="914"/>
          </a:xfrm>
          <a:prstGeom prst="line">
            <a:avLst/>
          </a:prstGeom>
          <a:noFill/>
          <a:ln w="22225">
            <a:solidFill>
              <a:srgbClr val="4B5563"/>
            </a:solidFill>
            <a:prstDash val="solid"/>
            <a:tailEnd type="triangle"/>
          </a:ln>
        </p:spPr>
      </p:sp>
      <p:sp>
        <p:nvSpPr>
          <p:cNvPr id="61" name="Shape 59"/>
          <p:cNvSpPr/>
          <p:nvPr/>
        </p:nvSpPr>
        <p:spPr>
          <a:xfrm>
            <a:off x="8092440" y="4754880"/>
            <a:ext cx="2286000" cy="1234440"/>
          </a:xfrm>
          <a:prstGeom prst="roundRect">
            <a:avLst>
              <a:gd name="adj" fmla="val 4444"/>
            </a:avLst>
          </a:prstGeom>
          <a:solidFill>
            <a:srgbClr val="EEF1F4"/>
          </a:solidFill>
          <a:ln w="12700">
            <a:solidFill>
              <a:srgbClr val="D8DEE9"/>
            </a:solidFill>
            <a:prstDash val="solid"/>
          </a:ln>
        </p:spPr>
      </p:sp>
      <p:sp>
        <p:nvSpPr>
          <p:cNvPr id="62" name="Text 60"/>
          <p:cNvSpPr/>
          <p:nvPr/>
        </p:nvSpPr>
        <p:spPr>
          <a:xfrm>
            <a:off x="8202168" y="4828032"/>
            <a:ext cx="2084832" cy="1097280"/>
          </a:xfrm>
          <a:prstGeom prst="rect">
            <a:avLst/>
          </a:prstGeom>
          <a:noFill/>
          <a:ln/>
        </p:spPr>
        <p:txBody>
          <a:bodyPr wrap="square" lIns="0" tIns="0" rIns="0" bIns="0" rtlCol="0" anchor="ctr"/>
          <a:lstStyle/>
          <a:p>
            <a:pPr indent="0" marL="0">
              <a:lnSpc>
                <a:spcPct val="100000"/>
              </a:lnSpc>
              <a:buNone/>
            </a:pPr>
            <a:r>
              <a:rPr lang="en-US" sz="900" dirty="0">
                <a:solidFill>
                  <a:srgbClr val="1E2340"/>
                </a:solidFill>
                <a:latin typeface="Calibri" pitchFamily="34" charset="0"/>
                <a:ea typeface="Calibri" pitchFamily="34" charset="-122"/>
                <a:cs typeface="Calibri" pitchFamily="34" charset="-120"/>
              </a:rPr>
              <a:t>RA-8 mismatch / uncertain → escalate (still returns an auditable result to the record)</a:t>
            </a:r>
            <a:endParaRPr lang="en-US" sz="900" dirty="0"/>
          </a:p>
        </p:txBody>
      </p:sp>
      <p:sp>
        <p:nvSpPr>
          <p:cNvPr id="63" name="Text 61"/>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Agent Runtime INVOKES Cloud Scaling Operations and receives its result; the runtime carries the receipt to RA-8. Cloud Scaling Operations is a domain executor, not a preceding gate. Illustrative.</a:t>
            </a:r>
            <a:endParaRPr lang="en-US" sz="850" dirty="0"/>
          </a:p>
        </p:txBody>
      </p:sp>
      <p:sp>
        <p:nvSpPr>
          <p:cNvPr id="65" name="Text 62"/>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UC-5 · AUTONOMOUS CHANGE EXECUTION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What stops the action — and what happens then</a:t>
            </a:r>
            <a:endParaRPr lang="en-US" sz="2600" dirty="0"/>
          </a:p>
        </p:txBody>
      </p:sp>
      <p:sp>
        <p:nvSpPr>
          <p:cNvPr id="4" name="Shape 2"/>
          <p:cNvSpPr/>
          <p:nvPr/>
        </p:nvSpPr>
        <p:spPr>
          <a:xfrm>
            <a:off x="548640" y="1417320"/>
            <a:ext cx="5440680" cy="1298448"/>
          </a:xfrm>
          <a:prstGeom prst="roundRect">
            <a:avLst>
              <a:gd name="adj" fmla="val 4225"/>
            </a:avLst>
          </a:prstGeom>
          <a:solidFill>
            <a:srgbClr val="FBEBE9"/>
          </a:solidFill>
          <a:ln w="12700">
            <a:solidFill>
              <a:srgbClr val="C0392B"/>
            </a:solidFill>
            <a:prstDash val="solid"/>
          </a:ln>
        </p:spPr>
      </p:sp>
      <p:sp>
        <p:nvSpPr>
          <p:cNvPr id="5" name="Text 3"/>
          <p:cNvSpPr/>
          <p:nvPr/>
        </p:nvSpPr>
        <p:spPr>
          <a:xfrm>
            <a:off x="749808" y="1545336"/>
            <a:ext cx="5029200" cy="329184"/>
          </a:xfrm>
          <a:prstGeom prst="rect">
            <a:avLst/>
          </a:prstGeom>
          <a:noFill/>
          <a:ln/>
        </p:spPr>
        <p:txBody>
          <a:bodyPr wrap="square" lIns="0" tIns="0" rIns="0" bIns="0" rtlCol="0" anchor="ctr"/>
          <a:lstStyle/>
          <a:p>
            <a:pPr indent="0" marL="0">
              <a:buNone/>
            </a:pPr>
            <a:r>
              <a:rPr lang="en-US" sz="1200" b="1" dirty="0">
                <a:solidFill>
                  <a:srgbClr val="7A2016"/>
                </a:solidFill>
                <a:latin typeface="Calibri" pitchFamily="34" charset="0"/>
                <a:ea typeface="Calibri" pitchFamily="34" charset="-122"/>
                <a:cs typeface="Calibri" pitchFamily="34" charset="-120"/>
              </a:rPr>
              <a:t>Missing evidence / approval</a:t>
            </a:r>
            <a:endParaRPr lang="en-US" sz="1200" dirty="0"/>
          </a:p>
        </p:txBody>
      </p:sp>
      <p:sp>
        <p:nvSpPr>
          <p:cNvPr id="6" name="Text 4"/>
          <p:cNvSpPr/>
          <p:nvPr/>
        </p:nvSpPr>
        <p:spPr>
          <a:xfrm>
            <a:off x="749808" y="1892808"/>
            <a:ext cx="5029200" cy="731520"/>
          </a:xfrm>
          <a:prstGeom prst="rect">
            <a:avLst/>
          </a:prstGeom>
          <a:noFill/>
          <a:ln/>
        </p:spPr>
        <p:txBody>
          <a:bodyPr wrap="square" lIns="0" tIns="0" rIns="0" bIns="0" rtlCol="0" anchor="ctr"/>
          <a:lstStyle/>
          <a:p>
            <a:pPr indent="0" marL="0">
              <a:lnSpc>
                <a:spcPct val="102000"/>
              </a:lnSpc>
              <a:buNone/>
            </a:pPr>
            <a:r>
              <a:rPr lang="en-US" sz="1050" dirty="0">
                <a:solidFill>
                  <a:srgbClr val="1E2340"/>
                </a:solidFill>
                <a:latin typeface="Calibri" pitchFamily="34" charset="0"/>
                <a:ea typeface="Calibri" pitchFamily="34" charset="-122"/>
                <a:cs typeface="Calibri" pitchFamily="34" charset="-120"/>
              </a:rPr>
              <a:t>The workflow does not proceed; uncertainty is not treated as permission.</a:t>
            </a:r>
            <a:endParaRPr lang="en-US" sz="1050" dirty="0"/>
          </a:p>
        </p:txBody>
      </p:sp>
      <p:sp>
        <p:nvSpPr>
          <p:cNvPr id="7" name="Shape 5"/>
          <p:cNvSpPr/>
          <p:nvPr/>
        </p:nvSpPr>
        <p:spPr>
          <a:xfrm>
            <a:off x="6172200" y="1417320"/>
            <a:ext cx="5440680" cy="1298448"/>
          </a:xfrm>
          <a:prstGeom prst="roundRect">
            <a:avLst>
              <a:gd name="adj" fmla="val 4225"/>
            </a:avLst>
          </a:prstGeom>
          <a:solidFill>
            <a:srgbClr val="FBEBE9"/>
          </a:solidFill>
          <a:ln w="12700">
            <a:solidFill>
              <a:srgbClr val="C0392B"/>
            </a:solidFill>
            <a:prstDash val="solid"/>
          </a:ln>
        </p:spPr>
      </p:sp>
      <p:sp>
        <p:nvSpPr>
          <p:cNvPr id="8" name="Text 6"/>
          <p:cNvSpPr/>
          <p:nvPr/>
        </p:nvSpPr>
        <p:spPr>
          <a:xfrm>
            <a:off x="6373368" y="1545336"/>
            <a:ext cx="5029200" cy="329184"/>
          </a:xfrm>
          <a:prstGeom prst="rect">
            <a:avLst/>
          </a:prstGeom>
          <a:noFill/>
          <a:ln/>
        </p:spPr>
        <p:txBody>
          <a:bodyPr wrap="square" lIns="0" tIns="0" rIns="0" bIns="0" rtlCol="0" anchor="ctr"/>
          <a:lstStyle/>
          <a:p>
            <a:pPr indent="0" marL="0">
              <a:buNone/>
            </a:pPr>
            <a:r>
              <a:rPr lang="en-US" sz="1200" b="1" dirty="0">
                <a:solidFill>
                  <a:srgbClr val="7A2016"/>
                </a:solidFill>
                <a:latin typeface="Calibri" pitchFamily="34" charset="0"/>
                <a:ea typeface="Calibri" pitchFamily="34" charset="-122"/>
                <a:cs typeface="Calibri" pitchFamily="34" charset="-120"/>
              </a:rPr>
              <a:t>Changed target or payload</a:t>
            </a:r>
            <a:endParaRPr lang="en-US" sz="1200" dirty="0"/>
          </a:p>
        </p:txBody>
      </p:sp>
      <p:sp>
        <p:nvSpPr>
          <p:cNvPr id="9" name="Text 7"/>
          <p:cNvSpPr/>
          <p:nvPr/>
        </p:nvSpPr>
        <p:spPr>
          <a:xfrm>
            <a:off x="6373368" y="1892808"/>
            <a:ext cx="5029200" cy="731520"/>
          </a:xfrm>
          <a:prstGeom prst="rect">
            <a:avLst/>
          </a:prstGeom>
          <a:noFill/>
          <a:ln/>
        </p:spPr>
        <p:txBody>
          <a:bodyPr wrap="square" lIns="0" tIns="0" rIns="0" bIns="0" rtlCol="0" anchor="ctr"/>
          <a:lstStyle/>
          <a:p>
            <a:pPr indent="0" marL="0">
              <a:lnSpc>
                <a:spcPct val="102000"/>
              </a:lnSpc>
              <a:buNone/>
            </a:pPr>
            <a:r>
              <a:rPr lang="en-US" sz="1050" dirty="0">
                <a:solidFill>
                  <a:srgbClr val="1E2340"/>
                </a:solidFill>
                <a:latin typeface="Calibri" pitchFamily="34" charset="0"/>
                <a:ea typeface="Calibri" pitchFamily="34" charset="-122"/>
                <a:cs typeface="Calibri" pitchFamily="34" charset="-120"/>
              </a:rPr>
              <a:t>ActionGate returns DENIED / INDETERMINATE — the authorization no longer matches.</a:t>
            </a:r>
            <a:endParaRPr lang="en-US" sz="1050" dirty="0"/>
          </a:p>
        </p:txBody>
      </p:sp>
      <p:sp>
        <p:nvSpPr>
          <p:cNvPr id="10" name="Shape 8"/>
          <p:cNvSpPr/>
          <p:nvPr/>
        </p:nvSpPr>
        <p:spPr>
          <a:xfrm>
            <a:off x="548640" y="2898648"/>
            <a:ext cx="5440680" cy="1298448"/>
          </a:xfrm>
          <a:prstGeom prst="roundRect">
            <a:avLst>
              <a:gd name="adj" fmla="val 4225"/>
            </a:avLst>
          </a:prstGeom>
          <a:solidFill>
            <a:srgbClr val="FBEBE9"/>
          </a:solidFill>
          <a:ln w="12700">
            <a:solidFill>
              <a:srgbClr val="C0392B"/>
            </a:solidFill>
            <a:prstDash val="solid"/>
          </a:ln>
        </p:spPr>
      </p:sp>
      <p:sp>
        <p:nvSpPr>
          <p:cNvPr id="11" name="Text 9"/>
          <p:cNvSpPr/>
          <p:nvPr/>
        </p:nvSpPr>
        <p:spPr>
          <a:xfrm>
            <a:off x="749808" y="3026664"/>
            <a:ext cx="5029200" cy="329184"/>
          </a:xfrm>
          <a:prstGeom prst="rect">
            <a:avLst/>
          </a:prstGeom>
          <a:noFill/>
          <a:ln/>
        </p:spPr>
        <p:txBody>
          <a:bodyPr wrap="square" lIns="0" tIns="0" rIns="0" bIns="0" rtlCol="0" anchor="ctr"/>
          <a:lstStyle/>
          <a:p>
            <a:pPr indent="0" marL="0">
              <a:buNone/>
            </a:pPr>
            <a:r>
              <a:rPr lang="en-US" sz="1200" b="1" dirty="0">
                <a:solidFill>
                  <a:srgbClr val="7A2016"/>
                </a:solidFill>
                <a:latin typeface="Calibri" pitchFamily="34" charset="0"/>
                <a:ea typeface="Calibri" pitchFamily="34" charset="-122"/>
                <a:cs typeface="Calibri" pitchFamily="34" charset="-120"/>
              </a:rPr>
              <a:t>Unsafe live conditions</a:t>
            </a:r>
            <a:endParaRPr lang="en-US" sz="1200" dirty="0"/>
          </a:p>
        </p:txBody>
      </p:sp>
      <p:sp>
        <p:nvSpPr>
          <p:cNvPr id="12" name="Text 10"/>
          <p:cNvSpPr/>
          <p:nvPr/>
        </p:nvSpPr>
        <p:spPr>
          <a:xfrm>
            <a:off x="749808" y="3374136"/>
            <a:ext cx="5029200" cy="731520"/>
          </a:xfrm>
          <a:prstGeom prst="rect">
            <a:avLst/>
          </a:prstGeom>
          <a:noFill/>
          <a:ln/>
        </p:spPr>
        <p:txBody>
          <a:bodyPr wrap="square" lIns="0" tIns="0" rIns="0" bIns="0" rtlCol="0" anchor="ctr"/>
          <a:lstStyle/>
          <a:p>
            <a:pPr indent="0" marL="0">
              <a:lnSpc>
                <a:spcPct val="102000"/>
              </a:lnSpc>
              <a:buNone/>
            </a:pPr>
            <a:r>
              <a:rPr lang="en-US" sz="1050" dirty="0">
                <a:solidFill>
                  <a:srgbClr val="1E2340"/>
                </a:solidFill>
                <a:latin typeface="Calibri" pitchFamily="34" charset="0"/>
                <a:ea typeface="Calibri" pitchFamily="34" charset="-122"/>
                <a:cs typeface="Calibri" pitchFamily="34" charset="-120"/>
              </a:rPr>
              <a:t>Action Clearance returns HOLD / BLOCK / ESCALATE on freeze, conflict or cost.</a:t>
            </a:r>
            <a:endParaRPr lang="en-US" sz="1050" dirty="0"/>
          </a:p>
        </p:txBody>
      </p:sp>
      <p:sp>
        <p:nvSpPr>
          <p:cNvPr id="13" name="Shape 11"/>
          <p:cNvSpPr/>
          <p:nvPr/>
        </p:nvSpPr>
        <p:spPr>
          <a:xfrm>
            <a:off x="6172200" y="2898648"/>
            <a:ext cx="5440680" cy="1298448"/>
          </a:xfrm>
          <a:prstGeom prst="roundRect">
            <a:avLst>
              <a:gd name="adj" fmla="val 4225"/>
            </a:avLst>
          </a:prstGeom>
          <a:solidFill>
            <a:srgbClr val="FBEBE9"/>
          </a:solidFill>
          <a:ln w="12700">
            <a:solidFill>
              <a:srgbClr val="C0392B"/>
            </a:solidFill>
            <a:prstDash val="solid"/>
          </a:ln>
        </p:spPr>
      </p:sp>
      <p:sp>
        <p:nvSpPr>
          <p:cNvPr id="14" name="Text 12"/>
          <p:cNvSpPr/>
          <p:nvPr/>
        </p:nvSpPr>
        <p:spPr>
          <a:xfrm>
            <a:off x="6373368" y="3026664"/>
            <a:ext cx="5029200" cy="329184"/>
          </a:xfrm>
          <a:prstGeom prst="rect">
            <a:avLst/>
          </a:prstGeom>
          <a:noFill/>
          <a:ln/>
        </p:spPr>
        <p:txBody>
          <a:bodyPr wrap="square" lIns="0" tIns="0" rIns="0" bIns="0" rtlCol="0" anchor="ctr"/>
          <a:lstStyle/>
          <a:p>
            <a:pPr indent="0" marL="0">
              <a:buNone/>
            </a:pPr>
            <a:r>
              <a:rPr lang="en-US" sz="1200" b="1" dirty="0">
                <a:solidFill>
                  <a:srgbClr val="7A2016"/>
                </a:solidFill>
                <a:latin typeface="Calibri" pitchFamily="34" charset="0"/>
                <a:ea typeface="Calibri" pitchFamily="34" charset="-122"/>
                <a:cs typeface="Calibri" pitchFamily="34" charset="-120"/>
              </a:rPr>
              <a:t>Authority revoked / expired</a:t>
            </a:r>
            <a:endParaRPr lang="en-US" sz="1200" dirty="0"/>
          </a:p>
        </p:txBody>
      </p:sp>
      <p:sp>
        <p:nvSpPr>
          <p:cNvPr id="15" name="Text 13"/>
          <p:cNvSpPr/>
          <p:nvPr/>
        </p:nvSpPr>
        <p:spPr>
          <a:xfrm>
            <a:off x="6373368" y="3374136"/>
            <a:ext cx="5029200" cy="731520"/>
          </a:xfrm>
          <a:prstGeom prst="rect">
            <a:avLst/>
          </a:prstGeom>
          <a:noFill/>
          <a:ln/>
        </p:spPr>
        <p:txBody>
          <a:bodyPr wrap="square" lIns="0" tIns="0" rIns="0" bIns="0" rtlCol="0" anchor="ctr"/>
          <a:lstStyle/>
          <a:p>
            <a:pPr indent="0" marL="0">
              <a:lnSpc>
                <a:spcPct val="102000"/>
              </a:lnSpc>
              <a:buNone/>
            </a:pPr>
            <a:r>
              <a:rPr lang="en-US" sz="1050" dirty="0">
                <a:solidFill>
                  <a:srgbClr val="1E2340"/>
                </a:solidFill>
                <a:latin typeface="Calibri" pitchFamily="34" charset="0"/>
                <a:ea typeface="Calibri" pitchFamily="34" charset="-122"/>
                <a:cs typeface="Calibri" pitchFamily="34" charset="-120"/>
              </a:rPr>
              <a:t>RA-6 revocation bites at the next pre-effect recheck; further action is blocked.</a:t>
            </a:r>
            <a:endParaRPr lang="en-US" sz="1050" dirty="0"/>
          </a:p>
        </p:txBody>
      </p:sp>
      <p:sp>
        <p:nvSpPr>
          <p:cNvPr id="16" name="Shape 14"/>
          <p:cNvSpPr/>
          <p:nvPr/>
        </p:nvSpPr>
        <p:spPr>
          <a:xfrm>
            <a:off x="548640" y="4379976"/>
            <a:ext cx="5440680" cy="1298448"/>
          </a:xfrm>
          <a:prstGeom prst="roundRect">
            <a:avLst>
              <a:gd name="adj" fmla="val 4225"/>
            </a:avLst>
          </a:prstGeom>
          <a:solidFill>
            <a:srgbClr val="FBEBE9"/>
          </a:solidFill>
          <a:ln w="12700">
            <a:solidFill>
              <a:srgbClr val="C0392B"/>
            </a:solidFill>
            <a:prstDash val="solid"/>
          </a:ln>
        </p:spPr>
      </p:sp>
      <p:sp>
        <p:nvSpPr>
          <p:cNvPr id="17" name="Text 15"/>
          <p:cNvSpPr/>
          <p:nvPr/>
        </p:nvSpPr>
        <p:spPr>
          <a:xfrm>
            <a:off x="749808" y="4507992"/>
            <a:ext cx="5029200" cy="329184"/>
          </a:xfrm>
          <a:prstGeom prst="rect">
            <a:avLst/>
          </a:prstGeom>
          <a:noFill/>
          <a:ln/>
        </p:spPr>
        <p:txBody>
          <a:bodyPr wrap="square" lIns="0" tIns="0" rIns="0" bIns="0" rtlCol="0" anchor="ctr"/>
          <a:lstStyle/>
          <a:p>
            <a:pPr indent="0" marL="0">
              <a:buNone/>
            </a:pPr>
            <a:r>
              <a:rPr lang="en-US" sz="1200" b="1" dirty="0">
                <a:solidFill>
                  <a:srgbClr val="7A2016"/>
                </a:solidFill>
                <a:latin typeface="Calibri" pitchFamily="34" charset="0"/>
                <a:ea typeface="Calibri" pitchFamily="34" charset="-122"/>
                <a:cs typeface="Calibri" pitchFamily="34" charset="-120"/>
              </a:rPr>
              <a:t>Execution mismatch</a:t>
            </a:r>
            <a:endParaRPr lang="en-US" sz="1200" dirty="0"/>
          </a:p>
        </p:txBody>
      </p:sp>
      <p:sp>
        <p:nvSpPr>
          <p:cNvPr id="18" name="Text 16"/>
          <p:cNvSpPr/>
          <p:nvPr/>
        </p:nvSpPr>
        <p:spPr>
          <a:xfrm>
            <a:off x="749808" y="4855464"/>
            <a:ext cx="5029200" cy="731520"/>
          </a:xfrm>
          <a:prstGeom prst="rect">
            <a:avLst/>
          </a:prstGeom>
          <a:noFill/>
          <a:ln/>
        </p:spPr>
        <p:txBody>
          <a:bodyPr wrap="square" lIns="0" tIns="0" rIns="0" bIns="0" rtlCol="0" anchor="ctr"/>
          <a:lstStyle/>
          <a:p>
            <a:pPr indent="0" marL="0">
              <a:lnSpc>
                <a:spcPct val="102000"/>
              </a:lnSpc>
              <a:buNone/>
            </a:pPr>
            <a:r>
              <a:rPr lang="en-US" sz="1050" dirty="0">
                <a:solidFill>
                  <a:srgbClr val="1E2340"/>
                </a:solidFill>
                <a:latin typeface="Calibri" pitchFamily="34" charset="0"/>
                <a:ea typeface="Calibri" pitchFamily="34" charset="-122"/>
                <a:cs typeface="Calibri" pitchFamily="34" charset="-120"/>
              </a:rPr>
              <a:t>RA-8 flags mismatch / partial / uncertain — the effect did not match the authorization.</a:t>
            </a:r>
            <a:endParaRPr lang="en-US" sz="1050" dirty="0"/>
          </a:p>
        </p:txBody>
      </p:sp>
      <p:sp>
        <p:nvSpPr>
          <p:cNvPr id="19" name="Shape 17"/>
          <p:cNvSpPr/>
          <p:nvPr/>
        </p:nvSpPr>
        <p:spPr>
          <a:xfrm>
            <a:off x="6172200" y="4379976"/>
            <a:ext cx="5440680" cy="1298448"/>
          </a:xfrm>
          <a:prstGeom prst="roundRect">
            <a:avLst>
              <a:gd name="adj" fmla="val 4225"/>
            </a:avLst>
          </a:prstGeom>
          <a:solidFill>
            <a:srgbClr val="FBEBE9"/>
          </a:solidFill>
          <a:ln w="12700">
            <a:solidFill>
              <a:srgbClr val="C0392B"/>
            </a:solidFill>
            <a:prstDash val="solid"/>
          </a:ln>
        </p:spPr>
      </p:sp>
      <p:sp>
        <p:nvSpPr>
          <p:cNvPr id="20" name="Text 18"/>
          <p:cNvSpPr/>
          <p:nvPr/>
        </p:nvSpPr>
        <p:spPr>
          <a:xfrm>
            <a:off x="6373368" y="4507992"/>
            <a:ext cx="5029200" cy="329184"/>
          </a:xfrm>
          <a:prstGeom prst="rect">
            <a:avLst/>
          </a:prstGeom>
          <a:noFill/>
          <a:ln/>
        </p:spPr>
        <p:txBody>
          <a:bodyPr wrap="square" lIns="0" tIns="0" rIns="0" bIns="0" rtlCol="0" anchor="ctr"/>
          <a:lstStyle/>
          <a:p>
            <a:pPr indent="0" marL="0">
              <a:buNone/>
            </a:pPr>
            <a:r>
              <a:rPr lang="en-US" sz="1200" b="1" dirty="0">
                <a:solidFill>
                  <a:srgbClr val="7A2016"/>
                </a:solidFill>
                <a:latin typeface="Calibri" pitchFamily="34" charset="0"/>
                <a:ea typeface="Calibri" pitchFamily="34" charset="-122"/>
                <a:cs typeface="Calibri" pitchFamily="34" charset="-120"/>
              </a:rPr>
              <a:t>Governance not wired</a:t>
            </a:r>
            <a:endParaRPr lang="en-US" sz="1200" dirty="0"/>
          </a:p>
        </p:txBody>
      </p:sp>
      <p:sp>
        <p:nvSpPr>
          <p:cNvPr id="21" name="Text 19"/>
          <p:cNvSpPr/>
          <p:nvPr/>
        </p:nvSpPr>
        <p:spPr>
          <a:xfrm>
            <a:off x="6373368" y="4855464"/>
            <a:ext cx="5029200" cy="731520"/>
          </a:xfrm>
          <a:prstGeom prst="rect">
            <a:avLst/>
          </a:prstGeom>
          <a:noFill/>
          <a:ln/>
        </p:spPr>
        <p:txBody>
          <a:bodyPr wrap="square" lIns="0" tIns="0" rIns="0" bIns="0" rtlCol="0" anchor="ctr"/>
          <a:lstStyle/>
          <a:p>
            <a:pPr indent="0" marL="0">
              <a:lnSpc>
                <a:spcPct val="102000"/>
              </a:lnSpc>
              <a:buNone/>
            </a:pPr>
            <a:r>
              <a:rPr lang="en-US" sz="1050" dirty="0">
                <a:solidFill>
                  <a:srgbClr val="1E2340"/>
                </a:solidFill>
                <a:latin typeface="Calibri" pitchFamily="34" charset="0"/>
                <a:ea typeface="Calibri" pitchFamily="34" charset="-122"/>
                <a:cs typeface="Calibri" pitchFamily="34" charset="-120"/>
              </a:rPr>
              <a:t>Agent Runtime fails closed — consequential transitions are blocked by default.</a:t>
            </a:r>
            <a:endParaRPr lang="en-US" sz="1050" dirty="0"/>
          </a:p>
        </p:txBody>
      </p:sp>
      <p:sp>
        <p:nvSpPr>
          <p:cNvPr id="22" name="Shape 20"/>
          <p:cNvSpPr/>
          <p:nvPr/>
        </p:nvSpPr>
        <p:spPr>
          <a:xfrm>
            <a:off x="548640" y="5943600"/>
            <a:ext cx="11064240" cy="384048"/>
          </a:xfrm>
          <a:prstGeom prst="roundRect">
            <a:avLst>
              <a:gd name="adj" fmla="val 14286"/>
            </a:avLst>
          </a:prstGeom>
          <a:solidFill>
            <a:srgbClr val="1E2340"/>
          </a:solidFill>
          <a:ln w="12700">
            <a:solidFill>
              <a:srgbClr val="333333"/>
            </a:solidFill>
            <a:prstDash val="solid"/>
          </a:ln>
        </p:spPr>
      </p:sp>
      <p:sp>
        <p:nvSpPr>
          <p:cNvPr id="23" name="Text 21"/>
          <p:cNvSpPr/>
          <p:nvPr/>
        </p:nvSpPr>
        <p:spPr>
          <a:xfrm>
            <a:off x="731520" y="5952744"/>
            <a:ext cx="10698480" cy="365760"/>
          </a:xfrm>
          <a:prstGeom prst="rect">
            <a:avLst/>
          </a:prstGeom>
          <a:noFill/>
          <a:ln/>
        </p:spPr>
        <p:txBody>
          <a:bodyPr wrap="square" lIns="0" tIns="0" rIns="0" bIns="0" rtlCol="0" anchor="ctr"/>
          <a:lstStyle/>
          <a:p>
            <a:pPr indent="0" marL="0">
              <a:buNone/>
            </a:pPr>
            <a:r>
              <a:rPr lang="en-US" sz="1050" b="1" i="1" dirty="0">
                <a:solidFill>
                  <a:srgbClr val="FFFFFF"/>
                </a:solidFill>
                <a:latin typeface="Calibri" pitchFamily="34" charset="0"/>
                <a:ea typeface="Calibri" pitchFamily="34" charset="-122"/>
                <a:cs typeface="Calibri" pitchFamily="34" charset="-120"/>
              </a:rPr>
              <a:t>Fail-closed: if a mandatory approval, evidence item, live-safety check or execution confirmation is missing, the workflow does not treat uncertainty as permission.</a:t>
            </a:r>
            <a:endParaRPr lang="en-US" sz="1050" dirty="0"/>
          </a:p>
        </p:txBody>
      </p:sp>
      <p:sp>
        <p:nvSpPr>
          <p:cNvPr id="25" name="Text 22"/>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UC-5 · AUTONOMOUS CHANGE EXECUTION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Module-by-module walkthrough (1 of 2)</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92840" cy="914400"/>
        </p:xfrm>
        <a:graphic>
          <a:graphicData uri="http://schemas.openxmlformats.org/drawingml/2006/table">
            <a:tbl>
              <a:tblPr/>
              <a:tblGrid>
                <a:gridCol w="1417320"/>
                <a:gridCol w="1965960"/>
                <a:gridCol w="2286000"/>
                <a:gridCol w="1737360"/>
                <a:gridCol w="1600200"/>
                <a:gridCol w="228600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Module</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Receives</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Question it answers</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Adds</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Sends next</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If information is missing</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r>
              <a:tr h="365760">
                <a:tc>
                  <a:txBody>
                    <a:bodyPr/>
                    <a:lstStyle/>
                    <a:p>
                      <a:pPr indent="0" marL="0">
                        <a:buNone/>
                      </a:pPr>
                      <a:r>
                        <a:rPr lang="en-US" sz="960" b="1" dirty="0">
                          <a:solidFill>
                            <a:srgbClr val="2A2170"/>
                          </a:solidFill>
                          <a:latin typeface="Calibri" pitchFamily="34" charset="0"/>
                          <a:ea typeface="Calibri" pitchFamily="34" charset="-122"/>
                          <a:cs typeface="Calibri" pitchFamily="34" charset="-120"/>
                        </a:rPr>
                        <a:t>Decision Authority</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Proposed change, delegated authority, constraints</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Is there a binding decision within delegated scope, by a non-AI principal?</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A binding decision record</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To ActionGate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No delegated authority → no binding decision; stop</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365760">
                <a:tc>
                  <a:txBody>
                    <a:bodyPr/>
                    <a:lstStyle/>
                    <a:p>
                      <a:pPr indent="0" marL="0">
                        <a:buNone/>
                      </a:pPr>
                      <a:r>
                        <a:rPr lang="en-US" sz="960" b="1" dirty="0">
                          <a:solidFill>
                            <a:srgbClr val="2A2170"/>
                          </a:solidFill>
                          <a:latin typeface="Calibri" pitchFamily="34" charset="0"/>
                          <a:ea typeface="Calibri" pitchFamily="34" charset="-122"/>
                          <a:cs typeface="Calibri" pitchFamily="34" charset="-120"/>
                        </a:rPr>
                        <a:t>ActionGate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Decision record, cluster identity, proposed action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Is this the exact authorized action, still valid?</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An exact-target action authorization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To Action Clearance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Mismatch or uncertainty → INDETERMINATE; stop</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365760">
                <a:tc>
                  <a:txBody>
                    <a:bodyPr/>
                    <a:lstStyle/>
                    <a:p>
                      <a:pPr indent="0" marL="0">
                        <a:buNone/>
                      </a:pPr>
                      <a:r>
                        <a:rPr lang="en-US" sz="960" b="1" dirty="0">
                          <a:solidFill>
                            <a:srgbClr val="2A2170"/>
                          </a:solidFill>
                          <a:latin typeface="Calibri" pitchFamily="34" charset="0"/>
                          <a:ea typeface="Calibri" pitchFamily="34" charset="-122"/>
                          <a:cs typeface="Calibri" pitchFamily="34" charset="-120"/>
                        </a:rPr>
                        <a:t>Action Clearance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The authorization + current live conditions</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Is it operationally safe right now?</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A CLEAR / HOLD / BLOCK / ESCALATE verdict</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To Agent Runtime (on CLEAR)</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Unsafe or unknown live state → HOLD / BLOCK</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Each module reads or references business context and emits a SEPARATE governance artifact — it does not rewrite CHG0048217.</a:t>
            </a:r>
            <a:endParaRPr lang="en-US" sz="850" dirty="0"/>
          </a:p>
        </p:txBody>
      </p:sp>
      <p:sp>
        <p:nvSpPr>
          <p:cNvPr id="7" name="Text 3"/>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UC-5 · AUTONOMOUS CHANGE EXECUTION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Module-by-module walkthrough (2 of 2)</a:t>
            </a:r>
            <a:endParaRPr lang="en-US" sz="2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92840" cy="914400"/>
        </p:xfrm>
        <a:graphic>
          <a:graphicData uri="http://schemas.openxmlformats.org/drawingml/2006/table">
            <a:tbl>
              <a:tblPr/>
              <a:tblGrid>
                <a:gridCol w="1417320"/>
                <a:gridCol w="1965960"/>
                <a:gridCol w="2286000"/>
                <a:gridCol w="1737360"/>
                <a:gridCol w="1600200"/>
                <a:gridCol w="228600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Module</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Receives</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Question it answers</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Adds</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Sends next</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If information is missing</a:t>
                      </a:r>
                      <a:endParaRPr lang="en-US" sz="10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r>
              <a:tr h="365760">
                <a:tc>
                  <a:txBody>
                    <a:bodyPr/>
                    <a:lstStyle/>
                    <a:p>
                      <a:pPr indent="0" marL="0">
                        <a:buNone/>
                      </a:pPr>
                      <a:r>
                        <a:rPr lang="en-US" sz="960" b="1" dirty="0">
                          <a:solidFill>
                            <a:srgbClr val="2A2170"/>
                          </a:solidFill>
                          <a:latin typeface="Calibri" pitchFamily="34" charset="0"/>
                          <a:ea typeface="Calibri" pitchFamily="34" charset="-122"/>
                          <a:cs typeface="Calibri" pitchFamily="34" charset="-120"/>
                        </a:rPr>
                        <a:t>Agent Runtime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The governed request (on CLEAR)</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How is execution coordinated safely?</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An execution receipt; owns canonical execution state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Invokes Cloud Scaling Operations; carries receipt to RA-8</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No governance wired → fails closed; blocks</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365760">
                <a:tc>
                  <a:txBody>
                    <a:bodyPr/>
                    <a:lstStyle/>
                    <a:p>
                      <a:pPr indent="0" marL="0">
                        <a:buNone/>
                      </a:pPr>
                      <a:r>
                        <a:rPr lang="en-US" sz="960" b="1" dirty="0">
                          <a:solidFill>
                            <a:srgbClr val="2A2170"/>
                          </a:solidFill>
                          <a:latin typeface="Calibri" pitchFamily="34" charset="0"/>
                          <a:ea typeface="Calibri" pitchFamily="34" charset="-122"/>
                          <a:cs typeface="Calibri" pitchFamily="34" charset="-120"/>
                        </a:rPr>
                        <a:t>Cloud Scaling Operations</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A scaling instruction + external execution authorization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Is it ready, and bounded to the authorization?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Execution outcome + audit</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Returns result to Agent Runtime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No execution authorization → dry-run only; no live change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365760">
                <a:tc>
                  <a:txBody>
                    <a:bodyPr/>
                    <a:lstStyle/>
                    <a:p>
                      <a:pPr indent="0" marL="0">
                        <a:buNone/>
                      </a:pPr>
                      <a:r>
                        <a:rPr lang="en-US" sz="960" b="1" dirty="0">
                          <a:solidFill>
                            <a:srgbClr val="2A2170"/>
                          </a:solidFill>
                          <a:latin typeface="Calibri" pitchFamily="34" charset="0"/>
                          <a:ea typeface="Calibri" pitchFamily="34" charset="-122"/>
                          <a:cs typeface="Calibri" pitchFamily="34" charset="-120"/>
                        </a:rPr>
                        <a:t>RA-8 Execution Assurance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Authorized action, receipt, observed cluster state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Did only the authorized instances change, within scope?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matched / mismatch / partial / unknown</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Status + receipt refs to ServiceNow</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60" dirty="0">
                          <a:solidFill>
                            <a:srgbClr val="1E2340"/>
                          </a:solidFill>
                          <a:latin typeface="Calibri" pitchFamily="34" charset="0"/>
                          <a:ea typeface="Calibri" pitchFamily="34" charset="-122"/>
                          <a:cs typeface="Calibri" pitchFamily="34" charset="-120"/>
                        </a:rPr>
                        <a:t>Cannot verify → uncertain / manual review; never auto-authorize</a:t>
                      </a:r>
                      <a:endParaRPr lang="en-US" sz="9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Each module reads or references business context and emits a SEPARATE governance artifact — it does not rewrite CHG0048217.</a:t>
            </a:r>
            <a:endParaRPr lang="en-US" sz="850" dirty="0"/>
          </a:p>
        </p:txBody>
      </p:sp>
      <p:sp>
        <p:nvSpPr>
          <p:cNvPr id="7" name="Text 3"/>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UC-5 · AUTONOMOUS CHANGE EXECUTION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Business outcome, and the Cloud Scaling maturity picture</a:t>
            </a:r>
            <a:endParaRPr lang="en-US" sz="2600" dirty="0"/>
          </a:p>
        </p:txBody>
      </p:sp>
      <p:sp>
        <p:nvSpPr>
          <p:cNvPr id="4" name="Shape 2"/>
          <p:cNvSpPr/>
          <p:nvPr/>
        </p:nvSpPr>
        <p:spPr>
          <a:xfrm>
            <a:off x="548640" y="1371600"/>
            <a:ext cx="5486400" cy="2788920"/>
          </a:xfrm>
          <a:prstGeom prst="roundRect">
            <a:avLst>
              <a:gd name="adj" fmla="val 1967"/>
            </a:avLst>
          </a:prstGeom>
          <a:solidFill>
            <a:srgbClr val="FFFFFF"/>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713232" y="1481328"/>
            <a:ext cx="5157216" cy="310896"/>
          </a:xfrm>
          <a:prstGeom prst="rect">
            <a:avLst/>
          </a:prstGeom>
          <a:noFill/>
          <a:ln/>
        </p:spPr>
        <p:txBody>
          <a:bodyPr wrap="square" lIns="0" tIns="0" rIns="0" bIns="0" rtlCol="0" anchor="ctr"/>
          <a:lstStyle/>
          <a:p>
            <a:pPr algn="l" indent="0" marL="0">
              <a:buNone/>
            </a:pPr>
            <a:r>
              <a:rPr lang="en-US" sz="1250" b="1" dirty="0">
                <a:solidFill>
                  <a:srgbClr val="2A2170"/>
                </a:solidFill>
                <a:latin typeface="Calibri" pitchFamily="34" charset="0"/>
                <a:ea typeface="Calibri" pitchFamily="34" charset="-122"/>
                <a:cs typeface="Calibri" pitchFamily="34" charset="-120"/>
              </a:rPr>
              <a:t>Business &amp; pilot outcome</a:t>
            </a:r>
            <a:endParaRPr lang="en-US" sz="1250" dirty="0"/>
          </a:p>
        </p:txBody>
      </p:sp>
      <p:sp>
        <p:nvSpPr>
          <p:cNvPr id="6" name="Text 4"/>
          <p:cNvSpPr/>
          <p:nvPr/>
        </p:nvSpPr>
        <p:spPr>
          <a:xfrm>
            <a:off x="713232" y="1828800"/>
            <a:ext cx="5157216" cy="2221992"/>
          </a:xfrm>
          <a:prstGeom prst="rect">
            <a:avLst/>
          </a:prstGeom>
          <a:noFill/>
          <a:ln/>
        </p:spPr>
        <p:txBody>
          <a:bodyPr wrap="square" lIns="0" tIns="0" rIns="0" bIns="0" rtlCol="0" anchor="t"/>
          <a:lstStyle/>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Benefit: latency relief without waiting on a human</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Risk prevented: wrong cluster, freeze-time change, cost overrun</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Evidence produced: decision · authorization · clearance · receipt · effect-match — one lineage per change</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ServiceNow retains: change record, CMDB, windows, execution pathway</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Ugence contributes: exact-action authority, independent clearance, effect reconciliation</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Pilot metrics: change success rate; rollback frequency; unauthorized-target attempts blocked; effect-match rate</a:t>
            </a:r>
            <a:endParaRPr lang="en-US" sz="1050" dirty="0"/>
          </a:p>
        </p:txBody>
      </p:sp>
      <p:sp>
        <p:nvSpPr>
          <p:cNvPr id="7" name="Shape 5"/>
          <p:cNvSpPr/>
          <p:nvPr/>
        </p:nvSpPr>
        <p:spPr>
          <a:xfrm>
            <a:off x="6172200" y="1371600"/>
            <a:ext cx="5486400" cy="2788920"/>
          </a:xfrm>
          <a:prstGeom prst="roundRect">
            <a:avLst>
              <a:gd name="adj" fmla="val 1967"/>
            </a:avLst>
          </a:prstGeom>
          <a:solidFill>
            <a:srgbClr val="FFFFFF"/>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8" name="Text 6"/>
          <p:cNvSpPr/>
          <p:nvPr/>
        </p:nvSpPr>
        <p:spPr>
          <a:xfrm>
            <a:off x="6336792" y="1481328"/>
            <a:ext cx="5157216" cy="310896"/>
          </a:xfrm>
          <a:prstGeom prst="rect">
            <a:avLst/>
          </a:prstGeom>
          <a:noFill/>
          <a:ln/>
        </p:spPr>
        <p:txBody>
          <a:bodyPr wrap="square" lIns="0" tIns="0" rIns="0" bIns="0" rtlCol="0" anchor="ctr"/>
          <a:lstStyle/>
          <a:p>
            <a:pPr algn="l" indent="0" marL="0">
              <a:buNone/>
            </a:pPr>
            <a:r>
              <a:rPr lang="en-US" sz="1250" b="1" dirty="0">
                <a:solidFill>
                  <a:srgbClr val="173A5A"/>
                </a:solidFill>
                <a:latin typeface="Calibri" pitchFamily="34" charset="0"/>
                <a:ea typeface="Calibri" pitchFamily="34" charset="-122"/>
                <a:cs typeface="Calibri" pitchFamily="34" charset="-120"/>
              </a:rPr>
              <a:t>Possible governed-value measures</a:t>
            </a:r>
            <a:endParaRPr lang="en-US" sz="1250" dirty="0"/>
          </a:p>
        </p:txBody>
      </p:sp>
      <p:sp>
        <p:nvSpPr>
          <p:cNvPr id="9" name="Shape 7"/>
          <p:cNvSpPr/>
          <p:nvPr/>
        </p:nvSpPr>
        <p:spPr>
          <a:xfrm>
            <a:off x="9866376" y="1499616"/>
            <a:ext cx="1645920" cy="237744"/>
          </a:xfrm>
          <a:prstGeom prst="roundRect">
            <a:avLst>
              <a:gd name="adj" fmla="val 50000"/>
            </a:avLst>
          </a:prstGeom>
          <a:solidFill>
            <a:srgbClr val="2B6CB0"/>
          </a:solidFill>
          <a:ln w="12700">
            <a:solidFill>
              <a:srgbClr val="2B6CB0"/>
            </a:solidFill>
            <a:prstDash val="solid"/>
          </a:ln>
        </p:spPr>
      </p:sp>
      <p:sp>
        <p:nvSpPr>
          <p:cNvPr id="10" name="Text 8"/>
          <p:cNvSpPr/>
          <p:nvPr/>
        </p:nvSpPr>
        <p:spPr>
          <a:xfrm>
            <a:off x="9866376" y="1499616"/>
            <a:ext cx="164592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UNDER DEVELOPMENT</a:t>
            </a:r>
            <a:endParaRPr lang="en-US" sz="800" dirty="0"/>
          </a:p>
        </p:txBody>
      </p:sp>
      <p:sp>
        <p:nvSpPr>
          <p:cNvPr id="11" name="Text 9"/>
          <p:cNvSpPr/>
          <p:nvPr/>
        </p:nvSpPr>
        <p:spPr>
          <a:xfrm>
            <a:off x="6336792" y="1828800"/>
            <a:ext cx="5157216" cy="2221992"/>
          </a:xfrm>
          <a:prstGeom prst="rect">
            <a:avLst/>
          </a:prstGeom>
          <a:noFill/>
          <a:ln/>
        </p:spPr>
        <p:txBody>
          <a:bodyPr wrap="square" lIns="0" tIns="0" rIns="0" bIns="0" rtlCol="0" anchor="t"/>
          <a:lstStyle/>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A developing, cross-cutting capability (not an authorization gate):</a:t>
            </a:r>
            <a:endParaRPr lang="en-US" sz="1050" dirty="0"/>
          </a:p>
          <a:p>
            <a:pPr algn="l" indent="0" marL="0">
              <a:lnSpc>
                <a:spcPct val="102000"/>
              </a:lnSpc>
              <a:buNone/>
            </a:pP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Infrastructure cost held within the ceiling</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Service availability preserved</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Latency improvement attributed to the governed action</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No change-window, risk or availability violation</a:t>
            </a:r>
            <a:endParaRPr lang="en-US" sz="1050" dirty="0"/>
          </a:p>
          <a:p>
            <a:pPr algn="l" indent="0" marL="0">
              <a:lnSpc>
                <a:spcPct val="102000"/>
              </a:lnSpc>
              <a:buNone/>
            </a:pP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ServiceNow AI Control Tower already measures adoption, business impact, realized value and ROI.</a:t>
            </a:r>
            <a:endParaRPr lang="en-US" sz="1050" dirty="0"/>
          </a:p>
        </p:txBody>
      </p:sp>
      <p:sp>
        <p:nvSpPr>
          <p:cNvPr id="12" name="Shape 10"/>
          <p:cNvSpPr/>
          <p:nvPr/>
        </p:nvSpPr>
        <p:spPr>
          <a:xfrm>
            <a:off x="548640" y="4343400"/>
            <a:ext cx="11064240" cy="1783080"/>
          </a:xfrm>
          <a:prstGeom prst="roundRect">
            <a:avLst>
              <a:gd name="adj" fmla="val 3590"/>
            </a:avLst>
          </a:prstGeom>
          <a:solidFill>
            <a:srgbClr val="EEF1F4"/>
          </a:solidFill>
          <a:ln w="12700">
            <a:solidFill>
              <a:srgbClr val="D8DEE9"/>
            </a:solidFill>
            <a:prstDash val="solid"/>
          </a:ln>
        </p:spPr>
      </p:sp>
      <p:sp>
        <p:nvSpPr>
          <p:cNvPr id="13" name="Text 11"/>
          <p:cNvSpPr/>
          <p:nvPr/>
        </p:nvSpPr>
        <p:spPr>
          <a:xfrm>
            <a:off x="731520" y="4434840"/>
            <a:ext cx="10607040" cy="310896"/>
          </a:xfrm>
          <a:prstGeom prst="rect">
            <a:avLst/>
          </a:prstGeom>
          <a:noFill/>
          <a:ln/>
        </p:spPr>
        <p:txBody>
          <a:bodyPr wrap="square" rtlCol="0" anchor="ctr"/>
          <a:lstStyle/>
          <a:p>
            <a:pPr indent="0" marL="0">
              <a:buNone/>
            </a:pPr>
            <a:r>
              <a:rPr lang="en-US" sz="1250" b="1" dirty="0">
                <a:solidFill>
                  <a:srgbClr val="1E2340"/>
                </a:solidFill>
                <a:latin typeface="Calibri" pitchFamily="34" charset="0"/>
                <a:ea typeface="Calibri" pitchFamily="34" charset="-122"/>
                <a:cs typeface="Calibri" pitchFamily="34" charset="-120"/>
              </a:rPr>
              <a:t>Cloud Scaling maturity — four separate dimensions (do not conflate)</a:t>
            </a:r>
            <a:endParaRPr lang="en-US" sz="1250" dirty="0"/>
          </a:p>
        </p:txBody>
      </p:sp>
      <p:sp>
        <p:nvSpPr>
          <p:cNvPr id="14" name="Shape 12"/>
          <p:cNvSpPr/>
          <p:nvPr/>
        </p:nvSpPr>
        <p:spPr>
          <a:xfrm>
            <a:off x="731520" y="4828032"/>
            <a:ext cx="2578608" cy="1170432"/>
          </a:xfrm>
          <a:prstGeom prst="roundRect">
            <a:avLst>
              <a:gd name="adj" fmla="val 4688"/>
            </a:avLst>
          </a:prstGeom>
          <a:solidFill>
            <a:srgbClr val="FFFFFF"/>
          </a:solidFill>
          <a:ln w="12700">
            <a:solidFill>
              <a:srgbClr val="D8DEE9"/>
            </a:solidFill>
            <a:prstDash val="solid"/>
          </a:ln>
        </p:spPr>
      </p:sp>
      <p:sp>
        <p:nvSpPr>
          <p:cNvPr id="15" name="Text 13"/>
          <p:cNvSpPr/>
          <p:nvPr/>
        </p:nvSpPr>
        <p:spPr>
          <a:xfrm>
            <a:off x="859536" y="4937760"/>
            <a:ext cx="2331720" cy="566928"/>
          </a:xfrm>
          <a:prstGeom prst="rect">
            <a:avLst/>
          </a:prstGeom>
          <a:noFill/>
          <a:ln/>
        </p:spPr>
        <p:txBody>
          <a:bodyPr wrap="square" lIns="0" tIns="0" rIns="0" bIns="0" rtlCol="0" anchor="t"/>
          <a:lstStyle/>
          <a:p>
            <a:pPr indent="0" marL="0">
              <a:lnSpc>
                <a:spcPct val="100000"/>
              </a:lnSpc>
              <a:buNone/>
            </a:pPr>
            <a:r>
              <a:rPr lang="en-US" sz="1050" b="1" dirty="0">
                <a:solidFill>
                  <a:srgbClr val="1E2340"/>
                </a:solidFill>
                <a:latin typeface="Calibri" pitchFamily="34" charset="0"/>
                <a:ea typeface="Calibri" pitchFamily="34" charset="-122"/>
                <a:cs typeface="Calibri" pitchFamily="34" charset="-120"/>
              </a:rPr>
              <a:t>Core Cloud Scaling Controller</a:t>
            </a:r>
            <a:endParaRPr lang="en-US" sz="1050" dirty="0"/>
          </a:p>
        </p:txBody>
      </p:sp>
      <p:sp>
        <p:nvSpPr>
          <p:cNvPr id="16" name="Shape 14"/>
          <p:cNvSpPr/>
          <p:nvPr/>
        </p:nvSpPr>
        <p:spPr>
          <a:xfrm>
            <a:off x="859536" y="5541264"/>
            <a:ext cx="2286000" cy="237744"/>
          </a:xfrm>
          <a:prstGeom prst="roundRect">
            <a:avLst>
              <a:gd name="adj" fmla="val 50000"/>
            </a:avLst>
          </a:prstGeom>
          <a:solidFill>
            <a:srgbClr val="2E7D5B"/>
          </a:solidFill>
          <a:ln w="12700">
            <a:solidFill>
              <a:srgbClr val="2E7D5B"/>
            </a:solidFill>
            <a:prstDash val="solid"/>
          </a:ln>
        </p:spPr>
      </p:sp>
      <p:sp>
        <p:nvSpPr>
          <p:cNvPr id="17" name="Text 15"/>
          <p:cNvSpPr/>
          <p:nvPr/>
        </p:nvSpPr>
        <p:spPr>
          <a:xfrm>
            <a:off x="859536" y="5541264"/>
            <a:ext cx="22860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IMPLEMENTED</a:t>
            </a:r>
            <a:endParaRPr lang="en-US" sz="800" dirty="0"/>
          </a:p>
        </p:txBody>
      </p:sp>
      <p:sp>
        <p:nvSpPr>
          <p:cNvPr id="18" name="Shape 16"/>
          <p:cNvSpPr/>
          <p:nvPr/>
        </p:nvSpPr>
        <p:spPr>
          <a:xfrm>
            <a:off x="3474720" y="4828032"/>
            <a:ext cx="2578608" cy="1170432"/>
          </a:xfrm>
          <a:prstGeom prst="roundRect">
            <a:avLst>
              <a:gd name="adj" fmla="val 4688"/>
            </a:avLst>
          </a:prstGeom>
          <a:solidFill>
            <a:srgbClr val="FFFFFF"/>
          </a:solidFill>
          <a:ln w="12700">
            <a:solidFill>
              <a:srgbClr val="D8DEE9"/>
            </a:solidFill>
            <a:prstDash val="solid"/>
          </a:ln>
        </p:spPr>
      </p:sp>
      <p:sp>
        <p:nvSpPr>
          <p:cNvPr id="19" name="Text 17"/>
          <p:cNvSpPr/>
          <p:nvPr/>
        </p:nvSpPr>
        <p:spPr>
          <a:xfrm>
            <a:off x="3602736" y="4937760"/>
            <a:ext cx="2331720" cy="566928"/>
          </a:xfrm>
          <a:prstGeom prst="rect">
            <a:avLst/>
          </a:prstGeom>
          <a:noFill/>
          <a:ln/>
        </p:spPr>
        <p:txBody>
          <a:bodyPr wrap="square" lIns="0" tIns="0" rIns="0" bIns="0" rtlCol="0" anchor="t"/>
          <a:lstStyle/>
          <a:p>
            <a:pPr indent="0" marL="0">
              <a:lnSpc>
                <a:spcPct val="100000"/>
              </a:lnSpc>
              <a:buNone/>
            </a:pPr>
            <a:r>
              <a:rPr lang="en-US" sz="1050" b="1" dirty="0">
                <a:solidFill>
                  <a:srgbClr val="1E2340"/>
                </a:solidFill>
                <a:latin typeface="Calibri" pitchFamily="34" charset="0"/>
                <a:ea typeface="Calibri" pitchFamily="34" charset="-122"/>
                <a:cs typeface="Calibri" pitchFamily="34" charset="-120"/>
              </a:rPr>
              <a:t>Production validation</a:t>
            </a:r>
            <a:endParaRPr lang="en-US" sz="1050" dirty="0"/>
          </a:p>
        </p:txBody>
      </p:sp>
      <p:sp>
        <p:nvSpPr>
          <p:cNvPr id="20" name="Shape 18"/>
          <p:cNvSpPr/>
          <p:nvPr/>
        </p:nvSpPr>
        <p:spPr>
          <a:xfrm>
            <a:off x="3602736" y="5541264"/>
            <a:ext cx="2286000" cy="237744"/>
          </a:xfrm>
          <a:prstGeom prst="roundRect">
            <a:avLst>
              <a:gd name="adj" fmla="val 50000"/>
            </a:avLst>
          </a:prstGeom>
          <a:solidFill>
            <a:srgbClr val="B7791F"/>
          </a:solidFill>
          <a:ln w="12700">
            <a:solidFill>
              <a:srgbClr val="B7791F"/>
            </a:solidFill>
            <a:prstDash val="solid"/>
          </a:ln>
        </p:spPr>
      </p:sp>
      <p:sp>
        <p:nvSpPr>
          <p:cNvPr id="21" name="Text 19"/>
          <p:cNvSpPr/>
          <p:nvPr/>
        </p:nvSpPr>
        <p:spPr>
          <a:xfrm>
            <a:off x="3602736" y="5541264"/>
            <a:ext cx="22860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PILOT PENDING</a:t>
            </a:r>
            <a:endParaRPr lang="en-US" sz="800" dirty="0"/>
          </a:p>
        </p:txBody>
      </p:sp>
      <p:sp>
        <p:nvSpPr>
          <p:cNvPr id="22" name="Shape 20"/>
          <p:cNvSpPr/>
          <p:nvPr/>
        </p:nvSpPr>
        <p:spPr>
          <a:xfrm>
            <a:off x="6217920" y="4828032"/>
            <a:ext cx="2578608" cy="1170432"/>
          </a:xfrm>
          <a:prstGeom prst="roundRect">
            <a:avLst>
              <a:gd name="adj" fmla="val 4688"/>
            </a:avLst>
          </a:prstGeom>
          <a:solidFill>
            <a:srgbClr val="FFFFFF"/>
          </a:solidFill>
          <a:ln w="12700">
            <a:solidFill>
              <a:srgbClr val="D8DEE9"/>
            </a:solidFill>
            <a:prstDash val="solid"/>
          </a:ln>
        </p:spPr>
      </p:sp>
      <p:sp>
        <p:nvSpPr>
          <p:cNvPr id="23" name="Text 21"/>
          <p:cNvSpPr/>
          <p:nvPr/>
        </p:nvSpPr>
        <p:spPr>
          <a:xfrm>
            <a:off x="6345936" y="4937760"/>
            <a:ext cx="2331720" cy="566928"/>
          </a:xfrm>
          <a:prstGeom prst="rect">
            <a:avLst/>
          </a:prstGeom>
          <a:noFill/>
          <a:ln/>
        </p:spPr>
        <p:txBody>
          <a:bodyPr wrap="square" lIns="0" tIns="0" rIns="0" bIns="0" rtlCol="0" anchor="t"/>
          <a:lstStyle/>
          <a:p>
            <a:pPr indent="0" marL="0">
              <a:lnSpc>
                <a:spcPct val="100000"/>
              </a:lnSpc>
              <a:buNone/>
            </a:pPr>
            <a:r>
              <a:rPr lang="en-US" sz="1050" b="1" dirty="0">
                <a:solidFill>
                  <a:srgbClr val="1E2340"/>
                </a:solidFill>
                <a:latin typeface="Calibri" pitchFamily="34" charset="0"/>
                <a:ea typeface="Calibri" pitchFamily="34" charset="-122"/>
                <a:cs typeface="Calibri" pitchFamily="34" charset="-120"/>
              </a:rPr>
              <a:t>Additional agentic-AI capabilities</a:t>
            </a:r>
            <a:endParaRPr lang="en-US" sz="1050" dirty="0"/>
          </a:p>
        </p:txBody>
      </p:sp>
      <p:sp>
        <p:nvSpPr>
          <p:cNvPr id="24" name="Shape 22"/>
          <p:cNvSpPr/>
          <p:nvPr/>
        </p:nvSpPr>
        <p:spPr>
          <a:xfrm>
            <a:off x="6345936" y="5541264"/>
            <a:ext cx="2286000" cy="237744"/>
          </a:xfrm>
          <a:prstGeom prst="roundRect">
            <a:avLst>
              <a:gd name="adj" fmla="val 50000"/>
            </a:avLst>
          </a:prstGeom>
          <a:solidFill>
            <a:srgbClr val="2B6CB0"/>
          </a:solidFill>
          <a:ln w="12700">
            <a:solidFill>
              <a:srgbClr val="2B6CB0"/>
            </a:solidFill>
            <a:prstDash val="solid"/>
          </a:ln>
        </p:spPr>
      </p:sp>
      <p:sp>
        <p:nvSpPr>
          <p:cNvPr id="25" name="Text 23"/>
          <p:cNvSpPr/>
          <p:nvPr/>
        </p:nvSpPr>
        <p:spPr>
          <a:xfrm>
            <a:off x="6345936" y="5541264"/>
            <a:ext cx="22860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UNDER DEVELOPMENT</a:t>
            </a:r>
            <a:endParaRPr lang="en-US" sz="800" dirty="0"/>
          </a:p>
        </p:txBody>
      </p:sp>
      <p:sp>
        <p:nvSpPr>
          <p:cNvPr id="26" name="Shape 24"/>
          <p:cNvSpPr/>
          <p:nvPr/>
        </p:nvSpPr>
        <p:spPr>
          <a:xfrm>
            <a:off x="8961120" y="4828032"/>
            <a:ext cx="2578608" cy="1170432"/>
          </a:xfrm>
          <a:prstGeom prst="roundRect">
            <a:avLst>
              <a:gd name="adj" fmla="val 4688"/>
            </a:avLst>
          </a:prstGeom>
          <a:solidFill>
            <a:srgbClr val="FFFFFF"/>
          </a:solidFill>
          <a:ln w="12700">
            <a:solidFill>
              <a:srgbClr val="D8DEE9"/>
            </a:solidFill>
            <a:prstDash val="solid"/>
          </a:ln>
        </p:spPr>
      </p:sp>
      <p:sp>
        <p:nvSpPr>
          <p:cNvPr id="27" name="Text 25"/>
          <p:cNvSpPr/>
          <p:nvPr/>
        </p:nvSpPr>
        <p:spPr>
          <a:xfrm>
            <a:off x="9089136" y="4937760"/>
            <a:ext cx="2331720" cy="566928"/>
          </a:xfrm>
          <a:prstGeom prst="rect">
            <a:avLst/>
          </a:prstGeom>
          <a:noFill/>
          <a:ln/>
        </p:spPr>
        <p:txBody>
          <a:bodyPr wrap="square" lIns="0" tIns="0" rIns="0" bIns="0" rtlCol="0" anchor="t"/>
          <a:lstStyle/>
          <a:p>
            <a:pPr indent="0" marL="0">
              <a:lnSpc>
                <a:spcPct val="100000"/>
              </a:lnSpc>
              <a:buNone/>
            </a:pPr>
            <a:r>
              <a:rPr lang="en-US" sz="1050" b="1" dirty="0">
                <a:solidFill>
                  <a:srgbClr val="1E2340"/>
                </a:solidFill>
                <a:latin typeface="Calibri" pitchFamily="34" charset="0"/>
                <a:ea typeface="Calibri" pitchFamily="34" charset="-122"/>
                <a:cs typeface="Calibri" pitchFamily="34" charset="-120"/>
              </a:rPr>
              <a:t>ServiceNow integration</a:t>
            </a:r>
            <a:endParaRPr lang="en-US" sz="1050" dirty="0"/>
          </a:p>
        </p:txBody>
      </p:sp>
      <p:sp>
        <p:nvSpPr>
          <p:cNvPr id="28" name="Shape 26"/>
          <p:cNvSpPr/>
          <p:nvPr/>
        </p:nvSpPr>
        <p:spPr>
          <a:xfrm>
            <a:off x="9089136" y="5541264"/>
            <a:ext cx="2286000" cy="237744"/>
          </a:xfrm>
          <a:prstGeom prst="roundRect">
            <a:avLst>
              <a:gd name="adj" fmla="val 50000"/>
            </a:avLst>
          </a:prstGeom>
          <a:solidFill>
            <a:srgbClr val="5145C7"/>
          </a:solidFill>
          <a:ln w="12700">
            <a:solidFill>
              <a:srgbClr val="5145C7"/>
            </a:solidFill>
            <a:prstDash val="solid"/>
          </a:ln>
        </p:spPr>
      </p:sp>
      <p:sp>
        <p:nvSpPr>
          <p:cNvPr id="29" name="Text 27"/>
          <p:cNvSpPr/>
          <p:nvPr/>
        </p:nvSpPr>
        <p:spPr>
          <a:xfrm>
            <a:off x="9089136" y="5541264"/>
            <a:ext cx="22860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30" name="Text 28"/>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The core controller is IMPLEMENTED and awaiting pilot validation — it is not downgraded because additional capabilities or pilot validation remain pending.</a:t>
            </a:r>
            <a:endParaRPr lang="en-US" sz="850" dirty="0"/>
          </a:p>
        </p:txBody>
      </p:sp>
      <p:sp>
        <p:nvSpPr>
          <p:cNvPr id="32" name="Text 29"/>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V</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Additional enterprise scenarios</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UC-11 · UC-6 · UC-3 · UC-4 — each at both levels</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UC-11 · VULNERABILITY REMEDIATION &amp; EMERGENCY PATCHING</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The problem and the data entering the workflow</a:t>
            </a:r>
            <a:endParaRPr lang="en-US" sz="2600" dirty="0"/>
          </a:p>
        </p:txBody>
      </p:sp>
      <p:sp>
        <p:nvSpPr>
          <p:cNvPr id="4" name="Text 2"/>
          <p:cNvSpPr/>
          <p:nvPr/>
        </p:nvSpPr>
        <p:spPr>
          <a:xfrm>
            <a:off x="548640" y="1325880"/>
            <a:ext cx="5486400" cy="1371600"/>
          </a:xfrm>
          <a:prstGeom prst="rect">
            <a:avLst/>
          </a:prstGeom>
          <a:noFill/>
          <a:ln/>
        </p:spPr>
        <p:txBody>
          <a:bodyPr wrap="square" rtlCol="0" anchor="ctr"/>
          <a:lstStyle/>
          <a:p>
            <a:pPr indent="0" marL="0">
              <a:lnSpc>
                <a:spcPct val="110000"/>
              </a:lnSpc>
              <a:buNone/>
            </a:pPr>
            <a:r>
              <a:rPr lang="en-US" sz="1200" dirty="0">
                <a:solidFill>
                  <a:srgbClr val="1E2340"/>
                </a:solidFill>
                <a:latin typeface="Calibri" pitchFamily="34" charset="0"/>
                <a:ea typeface="Calibri" pitchFamily="34" charset="-122"/>
                <a:cs typeface="Calibri" pitchFamily="34" charset="-120"/>
              </a:rPr>
              <a:t>An AI agent proposes to deploy an emergency patch to production servers. Speed matters — but patching the wrong set of servers, patching a business-critical system at the wrong moment, or continuing after the risk picture worsens mid-rollout can cause the very outage the patch was meant to prevent.</a:t>
            </a:r>
            <a:endParaRPr lang="en-US" sz="1200" dirty="0"/>
          </a:p>
        </p:txBody>
      </p:sp>
      <p:sp>
        <p:nvSpPr>
          <p:cNvPr id="5" name="Text 3"/>
          <p:cNvSpPr/>
          <p:nvPr/>
        </p:nvSpPr>
        <p:spPr>
          <a:xfrm>
            <a:off x="548640" y="2743200"/>
            <a:ext cx="5486400" cy="1005840"/>
          </a:xfrm>
          <a:prstGeom prst="rect">
            <a:avLst/>
          </a:prstGeom>
          <a:noFill/>
          <a:ln/>
        </p:spPr>
        <p:txBody>
          <a:bodyPr wrap="square" rtlCol="0" anchor="ctr"/>
          <a:lstStyle/>
          <a:p>
            <a:pPr indent="0" marL="0">
              <a:lnSpc>
                <a:spcPct val="105000"/>
              </a:lnSpc>
              <a:buNone/>
            </a:pPr>
            <a:r>
              <a:rPr lang="en-US" sz="1050" b="1" dirty="0">
                <a:solidFill>
                  <a:srgbClr val="1E2340"/>
                </a:solidFill>
                <a:latin typeface="Calibri" pitchFamily="34" charset="0"/>
                <a:ea typeface="Calibri" pitchFamily="34" charset="-122"/>
                <a:cs typeface="Calibri" pitchFamily="34" charset="-120"/>
              </a:rPr>
              <a:t>Illustrative:  </a:t>
            </a:r>
            <a:pPr indent="0" marL="0">
              <a:lnSpc>
                <a:spcPct val="105000"/>
              </a:lnSpc>
              <a:buNone/>
            </a:pPr>
            <a:r>
              <a:rPr lang="en-US" sz="1050" i="1" dirty="0">
                <a:solidFill>
                  <a:srgbClr val="1E2340"/>
                </a:solidFill>
                <a:latin typeface="Calibri" pitchFamily="34" charset="0"/>
                <a:ea typeface="Calibri" pitchFamily="34" charset="-122"/>
                <a:cs typeface="Calibri" pitchFamily="34" charset="-120"/>
              </a:rPr>
              <a:t>VUL0007731 → remediation task → change record · critical RCE on a web tier · 40 CIs in “payments-web” · emergency patch · staged rollout · ability to stop mid-flight.</a:t>
            </a:r>
            <a:endParaRPr lang="en-US" sz="1050" dirty="0"/>
          </a:p>
        </p:txBody>
      </p:sp>
      <p:sp>
        <p:nvSpPr>
          <p:cNvPr id="6" name="Text 4"/>
          <p:cNvSpPr/>
          <p:nvPr/>
        </p:nvSpPr>
        <p:spPr>
          <a:xfrm>
            <a:off x="548640" y="3794760"/>
            <a:ext cx="5486400" cy="274320"/>
          </a:xfrm>
          <a:prstGeom prst="rect">
            <a:avLst/>
          </a:prstGeom>
          <a:noFill/>
          <a:ln/>
        </p:spPr>
        <p:txBody>
          <a:bodyPr wrap="square" rtlCol="0" anchor="ctr"/>
          <a:lstStyle/>
          <a:p>
            <a:pPr indent="0" marL="0">
              <a:buNone/>
            </a:pPr>
            <a:r>
              <a:rPr lang="en-US" sz="1200" b="1" dirty="0">
                <a:solidFill>
                  <a:srgbClr val="2A2170"/>
                </a:solidFill>
                <a:latin typeface="Calibri" pitchFamily="34" charset="0"/>
                <a:ea typeface="Calibri" pitchFamily="34" charset="-122"/>
                <a:cs typeface="Calibri" pitchFamily="34" charset="-120"/>
              </a:rPr>
              <a:t>Why staged rollout matters</a:t>
            </a:r>
            <a:endParaRPr lang="en-US" sz="1200" dirty="0"/>
          </a:p>
        </p:txBody>
      </p:sp>
      <p:sp>
        <p:nvSpPr>
          <p:cNvPr id="7" name="Text 5"/>
          <p:cNvSpPr/>
          <p:nvPr/>
        </p:nvSpPr>
        <p:spPr>
          <a:xfrm>
            <a:off x="594360" y="4114800"/>
            <a:ext cx="5394960" cy="1463040"/>
          </a:xfrm>
          <a:prstGeom prst="rect">
            <a:avLst/>
          </a:prstGeom>
          <a:noFill/>
          <a:ln/>
        </p:spPr>
        <p:txBody>
          <a:bodyPr wrap="square" rtlCol="0" anchor="ctr"/>
          <a:lstStyle/>
          <a:p>
            <a:pPr marL="152400" indent="-152400">
              <a:spcAft>
                <a:spcPts val="500"/>
              </a:spcAft>
              <a:buSzPct val="100000"/>
              <a:buChar char="•"/>
            </a:pPr>
            <a:r>
              <a:rPr lang="en-US" sz="1050" dirty="0">
                <a:solidFill>
                  <a:srgbClr val="1E2340"/>
                </a:solidFill>
                <a:latin typeface="Calibri" pitchFamily="34" charset="0"/>
                <a:ea typeface="Calibri" pitchFamily="34" charset="-122"/>
                <a:cs typeface="Calibri" pitchFamily="34" charset="-120"/>
              </a:rPr>
              <a:t>Each stage is cleared for live conditions and business-criticality before it runs</a:t>
            </a:r>
            <a:endParaRPr lang="en-US" sz="1050" dirty="0"/>
          </a:p>
          <a:p>
            <a:pPr marL="152400" indent="-152400">
              <a:spcAft>
                <a:spcPts val="500"/>
              </a:spcAft>
              <a:buSzPct val="100000"/>
              <a:buChar char="•"/>
            </a:pPr>
            <a:r>
              <a:rPr lang="en-US" sz="1050" dirty="0">
                <a:solidFill>
                  <a:srgbClr val="1E2340"/>
                </a:solidFill>
                <a:latin typeface="Calibri" pitchFamily="34" charset="0"/>
                <a:ea typeface="Calibri" pitchFamily="34" charset="-122"/>
                <a:cs typeface="Calibri" pitchFamily="34" charset="-120"/>
              </a:rPr>
              <a:t>If the risk posture worsens, authority can be revoked before the next server is touched</a:t>
            </a:r>
            <a:endParaRPr lang="en-US" sz="1050" dirty="0"/>
          </a:p>
          <a:p>
            <a:pPr marL="152400" indent="-152400">
              <a:spcAft>
                <a:spcPts val="500"/>
              </a:spcAft>
              <a:buSzPct val="100000"/>
              <a:buChar char="•"/>
            </a:pPr>
            <a:r>
              <a:rPr lang="en-US" sz="1050" dirty="0">
                <a:solidFill>
                  <a:srgbClr val="1E2340"/>
                </a:solidFill>
                <a:latin typeface="Calibri" pitchFamily="34" charset="0"/>
                <a:ea typeface="Calibri" pitchFamily="34" charset="-122"/>
                <a:cs typeface="Calibri" pitchFamily="34" charset="-120"/>
              </a:rPr>
              <a:t>Only the authorized configuration items are ever changed</a:t>
            </a:r>
            <a:endParaRPr lang="en-US" sz="10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172200" y="1325880"/>
          <a:ext cx="5440680" cy="914400"/>
        </p:xfrm>
        <a:graphic>
          <a:graphicData uri="http://schemas.openxmlformats.org/drawingml/2006/table">
            <a:tbl>
              <a:tblPr/>
              <a:tblGrid>
                <a:gridCol w="1600200"/>
                <a:gridCol w="2286000"/>
                <a:gridCol w="1554480"/>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 category</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Example</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Source</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r>
              <a:tr h="0">
                <a:tc>
                  <a:txBody>
                    <a:bodyPr/>
                    <a:lstStyle/>
                    <a:p>
                      <a:pPr indent="0" marL="0">
                        <a:buNone/>
                      </a:pPr>
                      <a:r>
                        <a:rPr lang="en-US" sz="900" b="1" dirty="0">
                          <a:solidFill>
                            <a:srgbClr val="2A2170"/>
                          </a:solidFill>
                          <a:latin typeface="Calibri" pitchFamily="34" charset="0"/>
                          <a:ea typeface="Calibri" pitchFamily="34" charset="-122"/>
                          <a:cs typeface="Calibri" pitchFamily="34" charset="-120"/>
                        </a:rPr>
                        <a:t>Business record</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00" dirty="0">
                          <a:solidFill>
                            <a:srgbClr val="1E2340"/>
                          </a:solidFill>
                          <a:latin typeface="Calibri" pitchFamily="34" charset="0"/>
                          <a:ea typeface="Calibri" pitchFamily="34" charset="-122"/>
                          <a:cs typeface="Calibri" pitchFamily="34" charset="-120"/>
                        </a:rPr>
                        <a:t>Remediation task + change record, approval state</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00" dirty="0">
                          <a:solidFill>
                            <a:srgbClr val="1E2340"/>
                          </a:solidFill>
                          <a:latin typeface="Calibri" pitchFamily="34" charset="0"/>
                          <a:ea typeface="Calibri" pitchFamily="34" charset="-122"/>
                          <a:cs typeface="Calibri" pitchFamily="34" charset="-120"/>
                        </a:rPr>
                        <a:t>ServiceNow Vulnerability Response + Change</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A2170"/>
                          </a:solidFill>
                          <a:latin typeface="Calibri" pitchFamily="34" charset="0"/>
                          <a:ea typeface="Calibri" pitchFamily="34" charset="-122"/>
                          <a:cs typeface="Calibri" pitchFamily="34" charset="-120"/>
                        </a:rPr>
                        <a:t>Target context</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00" dirty="0">
                          <a:solidFill>
                            <a:srgbClr val="1E2340"/>
                          </a:solidFill>
                          <a:latin typeface="Calibri" pitchFamily="34" charset="0"/>
                          <a:ea typeface="Calibri" pitchFamily="34" charset="-122"/>
                          <a:cs typeface="Calibri" pitchFamily="34" charset="-120"/>
                        </a:rPr>
                        <a:t>40 CIs in payments-web, the patch</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00" dirty="0">
                          <a:solidFill>
                            <a:srgbClr val="1E2340"/>
                          </a:solidFill>
                          <a:latin typeface="Calibri" pitchFamily="34" charset="0"/>
                          <a:ea typeface="Calibri" pitchFamily="34" charset="-122"/>
                          <a:cs typeface="Calibri" pitchFamily="34" charset="-120"/>
                        </a:rPr>
                        <a:t>CMDB / Security Operations</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0">
                <a:tc>
                  <a:txBody>
                    <a:bodyPr/>
                    <a:lstStyle/>
                    <a:p>
                      <a:pPr indent="0" marL="0">
                        <a:buNone/>
                      </a:pPr>
                      <a:r>
                        <a:rPr lang="en-US" sz="900" b="1" dirty="0">
                          <a:solidFill>
                            <a:srgbClr val="2A2170"/>
                          </a:solidFill>
                          <a:latin typeface="Calibri" pitchFamily="34" charset="0"/>
                          <a:ea typeface="Calibri" pitchFamily="34" charset="-122"/>
                          <a:cs typeface="Calibri" pitchFamily="34" charset="-120"/>
                        </a:rPr>
                        <a:t>Live conditions</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00" dirty="0">
                          <a:solidFill>
                            <a:srgbClr val="1E2340"/>
                          </a:solidFill>
                          <a:latin typeface="Calibri" pitchFamily="34" charset="0"/>
                          <a:ea typeface="Calibri" pitchFamily="34" charset="-122"/>
                          <a:cs typeface="Calibri" pitchFamily="34" charset="-120"/>
                        </a:rPr>
                        <a:t>Business-criticality, maintenance window, risk posture</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00" dirty="0">
                          <a:solidFill>
                            <a:srgbClr val="1E2340"/>
                          </a:solidFill>
                          <a:latin typeface="Calibri" pitchFamily="34" charset="0"/>
                          <a:ea typeface="Calibri" pitchFamily="34" charset="-122"/>
                          <a:cs typeface="Calibri" pitchFamily="34" charset="-120"/>
                        </a:rPr>
                        <a:t>ServiceNow + telemetry</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A2170"/>
                          </a:solidFill>
                          <a:latin typeface="Calibri" pitchFamily="34" charset="0"/>
                          <a:ea typeface="Calibri" pitchFamily="34" charset="-122"/>
                          <a:cs typeface="Calibri" pitchFamily="34" charset="-120"/>
                        </a:rPr>
                        <a:t>Governance context</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00" dirty="0">
                          <a:solidFill>
                            <a:srgbClr val="1E2340"/>
                          </a:solidFill>
                          <a:latin typeface="Calibri" pitchFamily="34" charset="0"/>
                          <a:ea typeface="Calibri" pitchFamily="34" charset="-122"/>
                          <a:cs typeface="Calibri" pitchFamily="34" charset="-120"/>
                        </a:rPr>
                        <a:t>Delegated emergency-patch authority, expiry, revocability</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00" dirty="0">
                          <a:solidFill>
                            <a:srgbClr val="1E2340"/>
                          </a:solidFill>
                          <a:latin typeface="Calibri" pitchFamily="34" charset="0"/>
                          <a:ea typeface="Calibri" pitchFamily="34" charset="-122"/>
                          <a:cs typeface="Calibri" pitchFamily="34" charset="-120"/>
                        </a:rPr>
                        <a:t>Approved enterprise policy</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bl>
          </a:graphicData>
        </a:graphic>
      </p:graphicFrame>
      <p:sp>
        <p:nvSpPr>
          <p:cNvPr id="9" name="Text 6"/>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ServiceNow Vulnerability Response creates remediation tasks and links them to change for approval and emergency workflows. Illustrative example.</a:t>
            </a:r>
            <a:endParaRPr lang="en-US" sz="850" dirty="0"/>
          </a:p>
        </p:txBody>
      </p:sp>
      <p:sp>
        <p:nvSpPr>
          <p:cNvPr id="11" name="Text 7"/>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UC-11 · VULNERABILITY REMEDIATION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Technical module workflow — with mid-rollout revocation</a:t>
            </a:r>
            <a:endParaRPr lang="en-US" sz="2600" dirty="0"/>
          </a:p>
        </p:txBody>
      </p:sp>
      <p:sp>
        <p:nvSpPr>
          <p:cNvPr id="4" name="Shape 2"/>
          <p:cNvSpPr/>
          <p:nvPr/>
        </p:nvSpPr>
        <p:spPr>
          <a:xfrm>
            <a:off x="548640" y="1170432"/>
            <a:ext cx="201168" cy="146304"/>
          </a:xfrm>
          <a:prstGeom prst="roundRect">
            <a:avLst>
              <a:gd name="adj" fmla="val 18750"/>
            </a:avLst>
          </a:prstGeom>
          <a:solidFill>
            <a:srgbClr val="E7F3EC"/>
          </a:solidFill>
          <a:ln w="12700">
            <a:solidFill>
              <a:srgbClr val="2E7D5B"/>
            </a:solidFill>
            <a:prstDash val="solid"/>
          </a:ln>
        </p:spPr>
      </p:sp>
      <p:sp>
        <p:nvSpPr>
          <p:cNvPr id="5" name="Text 3"/>
          <p:cNvSpPr/>
          <p:nvPr/>
        </p:nvSpPr>
        <p:spPr>
          <a:xfrm>
            <a:off x="804672" y="1124712"/>
            <a:ext cx="10972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ServiceNow</a:t>
            </a:r>
            <a:endParaRPr lang="en-US" sz="850" dirty="0"/>
          </a:p>
        </p:txBody>
      </p:sp>
      <p:sp>
        <p:nvSpPr>
          <p:cNvPr id="6" name="Shape 4"/>
          <p:cNvSpPr/>
          <p:nvPr/>
        </p:nvSpPr>
        <p:spPr>
          <a:xfrm>
            <a:off x="2039112" y="1170432"/>
            <a:ext cx="201168" cy="146304"/>
          </a:xfrm>
          <a:prstGeom prst="roundRect">
            <a:avLst>
              <a:gd name="adj" fmla="val 18750"/>
            </a:avLst>
          </a:prstGeom>
          <a:solidFill>
            <a:srgbClr val="ECEAFB"/>
          </a:solidFill>
          <a:ln w="12700">
            <a:solidFill>
              <a:srgbClr val="5145C7"/>
            </a:solidFill>
            <a:prstDash val="solid"/>
          </a:ln>
        </p:spPr>
      </p:sp>
      <p:sp>
        <p:nvSpPr>
          <p:cNvPr id="7" name="Text 5"/>
          <p:cNvSpPr/>
          <p:nvPr/>
        </p:nvSpPr>
        <p:spPr>
          <a:xfrm>
            <a:off x="2295144" y="1124712"/>
            <a:ext cx="15544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decision</a:t>
            </a:r>
            <a:endParaRPr lang="en-US" sz="850" dirty="0"/>
          </a:p>
        </p:txBody>
      </p:sp>
      <p:sp>
        <p:nvSpPr>
          <p:cNvPr id="8" name="Shape 6"/>
          <p:cNvSpPr/>
          <p:nvPr/>
        </p:nvSpPr>
        <p:spPr>
          <a:xfrm>
            <a:off x="3986784" y="1170432"/>
            <a:ext cx="201168" cy="146304"/>
          </a:xfrm>
          <a:prstGeom prst="roundRect">
            <a:avLst>
              <a:gd name="adj" fmla="val 18750"/>
            </a:avLst>
          </a:prstGeom>
          <a:solidFill>
            <a:srgbClr val="E4EFF7"/>
          </a:solidFill>
          <a:ln w="12700">
            <a:solidFill>
              <a:srgbClr val="2B6CB0"/>
            </a:solidFill>
            <a:prstDash val="solid"/>
          </a:ln>
        </p:spPr>
      </p:sp>
      <p:sp>
        <p:nvSpPr>
          <p:cNvPr id="9" name="Text 7"/>
          <p:cNvSpPr/>
          <p:nvPr/>
        </p:nvSpPr>
        <p:spPr>
          <a:xfrm>
            <a:off x="4242816" y="1124712"/>
            <a:ext cx="16459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execution</a:t>
            </a:r>
            <a:endParaRPr lang="en-US" sz="850" dirty="0"/>
          </a:p>
        </p:txBody>
      </p:sp>
      <p:sp>
        <p:nvSpPr>
          <p:cNvPr id="10" name="Shape 8"/>
          <p:cNvSpPr/>
          <p:nvPr/>
        </p:nvSpPr>
        <p:spPr>
          <a:xfrm>
            <a:off x="6025896" y="1170432"/>
            <a:ext cx="201168" cy="146304"/>
          </a:xfrm>
          <a:prstGeom prst="roundRect">
            <a:avLst>
              <a:gd name="adj" fmla="val 18750"/>
            </a:avLst>
          </a:prstGeom>
          <a:solidFill>
            <a:srgbClr val="EEF1F4"/>
          </a:solidFill>
          <a:ln w="12700">
            <a:solidFill>
              <a:srgbClr val="6B7280"/>
            </a:solidFill>
            <a:prstDash val="solid"/>
          </a:ln>
        </p:spPr>
      </p:sp>
      <p:sp>
        <p:nvSpPr>
          <p:cNvPr id="11" name="Text 9"/>
          <p:cNvSpPr/>
          <p:nvPr/>
        </p:nvSpPr>
        <p:spPr>
          <a:xfrm>
            <a:off x="6281928" y="1124712"/>
            <a:ext cx="7315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External</a:t>
            </a:r>
            <a:endParaRPr lang="en-US" sz="850" dirty="0"/>
          </a:p>
        </p:txBody>
      </p:sp>
      <p:sp>
        <p:nvSpPr>
          <p:cNvPr id="12" name="Shape 10"/>
          <p:cNvSpPr/>
          <p:nvPr/>
        </p:nvSpPr>
        <p:spPr>
          <a:xfrm>
            <a:off x="7150608" y="1170432"/>
            <a:ext cx="201168" cy="146304"/>
          </a:xfrm>
          <a:prstGeom prst="roundRect">
            <a:avLst>
              <a:gd name="adj" fmla="val 18750"/>
            </a:avLst>
          </a:prstGeom>
          <a:solidFill>
            <a:srgbClr val="FBEBE9"/>
          </a:solidFill>
          <a:ln w="12700">
            <a:solidFill>
              <a:srgbClr val="C0392B"/>
            </a:solidFill>
            <a:prstDash val="solid"/>
          </a:ln>
        </p:spPr>
      </p:sp>
      <p:sp>
        <p:nvSpPr>
          <p:cNvPr id="13" name="Text 11"/>
          <p:cNvSpPr/>
          <p:nvPr/>
        </p:nvSpPr>
        <p:spPr>
          <a:xfrm>
            <a:off x="7406640" y="1124712"/>
            <a:ext cx="6400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Stop</a:t>
            </a:r>
            <a:endParaRPr lang="en-US" sz="850" dirty="0"/>
          </a:p>
        </p:txBody>
      </p:sp>
      <p:sp>
        <p:nvSpPr>
          <p:cNvPr id="14" name="Shape 12"/>
          <p:cNvSpPr/>
          <p:nvPr/>
        </p:nvSpPr>
        <p:spPr>
          <a:xfrm>
            <a:off x="3383280" y="1444752"/>
            <a:ext cx="274320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3410712" y="1444752"/>
            <a:ext cx="2688336" cy="457200"/>
          </a:xfrm>
          <a:prstGeom prst="rect">
            <a:avLst/>
          </a:prstGeom>
          <a:noFill/>
          <a:ln/>
        </p:spPr>
        <p:txBody>
          <a:bodyPr wrap="square" lIns="12700" tIns="12700" rIns="12700" bIns="12700" rtlCol="0" anchor="ctr"/>
          <a:lstStyle/>
          <a:p>
            <a:pPr algn="ctr" indent="0" marL="0">
              <a:lnSpc>
                <a:spcPct val="92000"/>
              </a:lnSpc>
              <a:buNone/>
            </a:pPr>
            <a:r>
              <a:rPr lang="en-US" sz="1000" b="1" dirty="0">
                <a:solidFill>
                  <a:srgbClr val="14532D"/>
                </a:solidFill>
                <a:latin typeface="Calibri" pitchFamily="34" charset="0"/>
                <a:ea typeface="Calibri" pitchFamily="34" charset="-122"/>
                <a:cs typeface="Calibri" pitchFamily="34" charset="-120"/>
              </a:rPr>
              <a:t>ServiceNow Vuln. Response + Change</a:t>
            </a:r>
            <a:endParaRPr lang="en-US" sz="1000" dirty="0"/>
          </a:p>
        </p:txBody>
      </p:sp>
      <p:sp>
        <p:nvSpPr>
          <p:cNvPr id="16" name="Shape 14"/>
          <p:cNvSpPr/>
          <p:nvPr/>
        </p:nvSpPr>
        <p:spPr>
          <a:xfrm>
            <a:off x="3383280" y="2139696"/>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7" name="Text 15"/>
          <p:cNvSpPr/>
          <p:nvPr/>
        </p:nvSpPr>
        <p:spPr>
          <a:xfrm>
            <a:off x="3410712" y="2139696"/>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Decision Authority</a:t>
            </a:r>
            <a:endParaRPr lang="en-US" sz="1050" dirty="0"/>
          </a:p>
        </p:txBody>
      </p:sp>
      <p:sp>
        <p:nvSpPr>
          <p:cNvPr id="18" name="Shape 16"/>
          <p:cNvSpPr/>
          <p:nvPr/>
        </p:nvSpPr>
        <p:spPr>
          <a:xfrm>
            <a:off x="3383280" y="2834640"/>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3410712" y="283464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ActionGate</a:t>
            </a:r>
            <a:endParaRPr lang="en-US" sz="1050" dirty="0"/>
          </a:p>
        </p:txBody>
      </p:sp>
      <p:sp>
        <p:nvSpPr>
          <p:cNvPr id="20" name="Shape 18"/>
          <p:cNvSpPr/>
          <p:nvPr/>
        </p:nvSpPr>
        <p:spPr>
          <a:xfrm>
            <a:off x="3383280" y="3529584"/>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21" name="Text 19"/>
          <p:cNvSpPr/>
          <p:nvPr/>
        </p:nvSpPr>
        <p:spPr>
          <a:xfrm>
            <a:off x="3410712" y="3529584"/>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Action Clearance (ACP)</a:t>
            </a:r>
            <a:endParaRPr lang="en-US" sz="1050" dirty="0"/>
          </a:p>
        </p:txBody>
      </p:sp>
      <p:sp>
        <p:nvSpPr>
          <p:cNvPr id="22" name="Shape 20"/>
          <p:cNvSpPr/>
          <p:nvPr/>
        </p:nvSpPr>
        <p:spPr>
          <a:xfrm>
            <a:off x="3383280" y="4224528"/>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3" name="Text 21"/>
          <p:cNvSpPr/>
          <p:nvPr/>
        </p:nvSpPr>
        <p:spPr>
          <a:xfrm>
            <a:off x="3410712" y="4224528"/>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Agent Runtime · staged rollout</a:t>
            </a:r>
            <a:endParaRPr lang="en-US" sz="1050" dirty="0"/>
          </a:p>
        </p:txBody>
      </p:sp>
      <p:sp>
        <p:nvSpPr>
          <p:cNvPr id="24" name="Shape 22"/>
          <p:cNvSpPr/>
          <p:nvPr/>
        </p:nvSpPr>
        <p:spPr>
          <a:xfrm>
            <a:off x="3383280" y="4919472"/>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5" name="Text 23"/>
          <p:cNvSpPr/>
          <p:nvPr/>
        </p:nvSpPr>
        <p:spPr>
          <a:xfrm>
            <a:off x="3410712" y="4919472"/>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RA-8 Execution Assurance</a:t>
            </a:r>
            <a:endParaRPr lang="en-US" sz="1050" dirty="0"/>
          </a:p>
        </p:txBody>
      </p:sp>
      <p:sp>
        <p:nvSpPr>
          <p:cNvPr id="26" name="Shape 24"/>
          <p:cNvSpPr/>
          <p:nvPr/>
        </p:nvSpPr>
        <p:spPr>
          <a:xfrm>
            <a:off x="3383280" y="5614416"/>
            <a:ext cx="2743200" cy="548640"/>
          </a:xfrm>
          <a:prstGeom prst="roundRect">
            <a:avLst>
              <a:gd name="adj" fmla="val 11667"/>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27" name="Text 25"/>
          <p:cNvSpPr/>
          <p:nvPr/>
        </p:nvSpPr>
        <p:spPr>
          <a:xfrm>
            <a:off x="3410712" y="5614416"/>
            <a:ext cx="2688336" cy="548640"/>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14532D"/>
                </a:solidFill>
                <a:latin typeface="Calibri" pitchFamily="34" charset="0"/>
                <a:ea typeface="Calibri" pitchFamily="34" charset="-122"/>
                <a:cs typeface="Calibri" pitchFamily="34" charset="-120"/>
              </a:rPr>
              <a:t>ServiceNow Remediation + Change record</a:t>
            </a:r>
            <a:endParaRPr lang="en-US" sz="950" dirty="0"/>
          </a:p>
        </p:txBody>
      </p:sp>
      <p:sp>
        <p:nvSpPr>
          <p:cNvPr id="28" name="Shape 26"/>
          <p:cNvSpPr/>
          <p:nvPr/>
        </p:nvSpPr>
        <p:spPr>
          <a:xfrm>
            <a:off x="4754880" y="1901952"/>
            <a:ext cx="914" cy="237744"/>
          </a:xfrm>
          <a:prstGeom prst="line">
            <a:avLst/>
          </a:prstGeom>
          <a:noFill/>
          <a:ln w="22225">
            <a:solidFill>
              <a:srgbClr val="4B5563"/>
            </a:solidFill>
            <a:prstDash val="solid"/>
            <a:tailEnd type="triangle"/>
          </a:ln>
        </p:spPr>
      </p:sp>
      <p:sp>
        <p:nvSpPr>
          <p:cNvPr id="29" name="Text 27"/>
          <p:cNvSpPr/>
          <p:nvPr/>
        </p:nvSpPr>
        <p:spPr>
          <a:xfrm>
            <a:off x="3794760" y="190195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remediation task + approval</a:t>
            </a:r>
            <a:endParaRPr lang="en-US" sz="800" dirty="0"/>
          </a:p>
        </p:txBody>
      </p:sp>
      <p:sp>
        <p:nvSpPr>
          <p:cNvPr id="30" name="Shape 28"/>
          <p:cNvSpPr/>
          <p:nvPr/>
        </p:nvSpPr>
        <p:spPr>
          <a:xfrm>
            <a:off x="4754880" y="2596896"/>
            <a:ext cx="914" cy="237744"/>
          </a:xfrm>
          <a:prstGeom prst="line">
            <a:avLst/>
          </a:prstGeom>
          <a:noFill/>
          <a:ln w="22225">
            <a:solidFill>
              <a:srgbClr val="4B5563"/>
            </a:solidFill>
            <a:prstDash val="solid"/>
            <a:tailEnd type="triangle"/>
          </a:ln>
        </p:spPr>
      </p:sp>
      <p:sp>
        <p:nvSpPr>
          <p:cNvPr id="31" name="Text 29"/>
          <p:cNvSpPr/>
          <p:nvPr/>
        </p:nvSpPr>
        <p:spPr>
          <a:xfrm>
            <a:off x="3794760" y="259689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binding decision record</a:t>
            </a:r>
            <a:endParaRPr lang="en-US" sz="800" dirty="0"/>
          </a:p>
        </p:txBody>
      </p:sp>
      <p:sp>
        <p:nvSpPr>
          <p:cNvPr id="32" name="Shape 30"/>
          <p:cNvSpPr/>
          <p:nvPr/>
        </p:nvSpPr>
        <p:spPr>
          <a:xfrm>
            <a:off x="4754880" y="3291840"/>
            <a:ext cx="914" cy="237744"/>
          </a:xfrm>
          <a:prstGeom prst="line">
            <a:avLst/>
          </a:prstGeom>
          <a:noFill/>
          <a:ln w="22225">
            <a:solidFill>
              <a:srgbClr val="4B5563"/>
            </a:solidFill>
            <a:prstDash val="solid"/>
            <a:tailEnd type="triangle"/>
          </a:ln>
        </p:spPr>
      </p:sp>
      <p:sp>
        <p:nvSpPr>
          <p:cNvPr id="33" name="Text 31"/>
          <p:cNvSpPr/>
          <p:nvPr/>
        </p:nvSpPr>
        <p:spPr>
          <a:xfrm>
            <a:off x="3794760" y="3291840"/>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exact CI-set + patch authorization</a:t>
            </a:r>
            <a:endParaRPr lang="en-US" sz="800" dirty="0"/>
          </a:p>
        </p:txBody>
      </p:sp>
      <p:sp>
        <p:nvSpPr>
          <p:cNvPr id="34" name="Shape 32"/>
          <p:cNvSpPr/>
          <p:nvPr/>
        </p:nvSpPr>
        <p:spPr>
          <a:xfrm>
            <a:off x="4754880" y="3986784"/>
            <a:ext cx="914" cy="237744"/>
          </a:xfrm>
          <a:prstGeom prst="line">
            <a:avLst/>
          </a:prstGeom>
          <a:noFill/>
          <a:ln w="22225">
            <a:solidFill>
              <a:srgbClr val="4B5563"/>
            </a:solidFill>
            <a:prstDash val="solid"/>
            <a:tailEnd type="triangle"/>
          </a:ln>
        </p:spPr>
      </p:sp>
      <p:sp>
        <p:nvSpPr>
          <p:cNvPr id="35" name="Text 33"/>
          <p:cNvSpPr/>
          <p:nvPr/>
        </p:nvSpPr>
        <p:spPr>
          <a:xfrm>
            <a:off x="3794760" y="398678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CLEAR per stage</a:t>
            </a:r>
            <a:endParaRPr lang="en-US" sz="800" dirty="0"/>
          </a:p>
        </p:txBody>
      </p:sp>
      <p:sp>
        <p:nvSpPr>
          <p:cNvPr id="36" name="Shape 34"/>
          <p:cNvSpPr/>
          <p:nvPr/>
        </p:nvSpPr>
        <p:spPr>
          <a:xfrm>
            <a:off x="4754880" y="4681728"/>
            <a:ext cx="914" cy="237744"/>
          </a:xfrm>
          <a:prstGeom prst="line">
            <a:avLst/>
          </a:prstGeom>
          <a:noFill/>
          <a:ln w="22225">
            <a:solidFill>
              <a:srgbClr val="4B5563"/>
            </a:solidFill>
            <a:prstDash val="solid"/>
            <a:tailEnd type="triangle"/>
          </a:ln>
        </p:spPr>
      </p:sp>
      <p:sp>
        <p:nvSpPr>
          <p:cNvPr id="37" name="Text 35"/>
          <p:cNvSpPr/>
          <p:nvPr/>
        </p:nvSpPr>
        <p:spPr>
          <a:xfrm>
            <a:off x="3794760" y="468172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execution receipts</a:t>
            </a:r>
            <a:endParaRPr lang="en-US" sz="800" dirty="0"/>
          </a:p>
        </p:txBody>
      </p:sp>
      <p:sp>
        <p:nvSpPr>
          <p:cNvPr id="38" name="Shape 36"/>
          <p:cNvSpPr/>
          <p:nvPr/>
        </p:nvSpPr>
        <p:spPr>
          <a:xfrm>
            <a:off x="4754880" y="5376672"/>
            <a:ext cx="914" cy="237744"/>
          </a:xfrm>
          <a:prstGeom prst="line">
            <a:avLst/>
          </a:prstGeom>
          <a:noFill/>
          <a:ln w="22225">
            <a:solidFill>
              <a:srgbClr val="4B5563"/>
            </a:solidFill>
            <a:prstDash val="solid"/>
            <a:tailEnd type="triangle"/>
          </a:ln>
        </p:spPr>
      </p:sp>
      <p:sp>
        <p:nvSpPr>
          <p:cNvPr id="39" name="Text 37"/>
          <p:cNvSpPr/>
          <p:nvPr/>
        </p:nvSpPr>
        <p:spPr>
          <a:xfrm>
            <a:off x="3794760" y="537667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matched / partial</a:t>
            </a:r>
            <a:endParaRPr lang="en-US" sz="800" dirty="0"/>
          </a:p>
        </p:txBody>
      </p:sp>
      <p:sp>
        <p:nvSpPr>
          <p:cNvPr id="40" name="Shape 38"/>
          <p:cNvSpPr/>
          <p:nvPr/>
        </p:nvSpPr>
        <p:spPr>
          <a:xfrm>
            <a:off x="685800" y="4151376"/>
            <a:ext cx="1737360" cy="566928"/>
          </a:xfrm>
          <a:prstGeom prst="can">
            <a:avLst/>
          </a:prstGeom>
          <a:solidFill>
            <a:srgbClr val="EEF1F4"/>
          </a:solidFill>
          <a:ln w="19050">
            <a:solidFill>
              <a:srgbClr val="6B7280"/>
            </a:solidFill>
            <a:prstDash val="solid"/>
          </a:ln>
          <a:effectLst>
            <a:outerShdw sx="100000" sy="100000" kx="0" ky="0" algn="bl" rotWithShape="0" blurRad="50800" dist="19050" dir="5400000">
              <a:srgbClr val="8A94A6">
                <a:alpha val="28000"/>
              </a:srgbClr>
            </a:outerShdw>
          </a:effectLst>
        </p:spPr>
      </p:sp>
      <p:sp>
        <p:nvSpPr>
          <p:cNvPr id="41" name="Text 39"/>
          <p:cNvSpPr/>
          <p:nvPr/>
        </p:nvSpPr>
        <p:spPr>
          <a:xfrm>
            <a:off x="713232" y="4206240"/>
            <a:ext cx="1682496" cy="493776"/>
          </a:xfrm>
          <a:prstGeom prst="rect">
            <a:avLst/>
          </a:prstGeom>
          <a:noFill/>
          <a:ln/>
        </p:spPr>
        <p:txBody>
          <a:bodyPr wrap="square" lIns="12700" tIns="12700" rIns="12700" bIns="12700" rtlCol="0" anchor="ctr"/>
          <a:lstStyle/>
          <a:p>
            <a:pPr algn="ctr" indent="0" marL="0">
              <a:lnSpc>
                <a:spcPct val="92000"/>
              </a:lnSpc>
              <a:buNone/>
            </a:pPr>
            <a:r>
              <a:rPr lang="en-US" sz="900" b="1" dirty="0">
                <a:solidFill>
                  <a:srgbClr val="374151"/>
                </a:solidFill>
                <a:latin typeface="Calibri" pitchFamily="34" charset="0"/>
                <a:ea typeface="Calibri" pitchFamily="34" charset="-122"/>
                <a:cs typeface="Calibri" pitchFamily="34" charset="-120"/>
              </a:rPr>
              <a:t>40 CIs</a:t>
            </a:r>
            <a:endParaRPr lang="en-US" sz="900" dirty="0"/>
          </a:p>
          <a:p>
            <a:pPr algn="ctr" indent="0" marL="0">
              <a:lnSpc>
                <a:spcPct val="92000"/>
              </a:lnSpc>
              <a:buNone/>
            </a:pPr>
            <a:r>
              <a:rPr lang="en-US" sz="900" b="1" dirty="0">
                <a:solidFill>
                  <a:srgbClr val="374151"/>
                </a:solidFill>
                <a:latin typeface="Calibri" pitchFamily="34" charset="0"/>
                <a:ea typeface="Calibri" pitchFamily="34" charset="-122"/>
                <a:cs typeface="Calibri" pitchFamily="34" charset="-120"/>
              </a:rPr>
              <a:t>payments-web</a:t>
            </a:r>
            <a:endParaRPr lang="en-US" sz="900" dirty="0"/>
          </a:p>
        </p:txBody>
      </p:sp>
      <p:sp>
        <p:nvSpPr>
          <p:cNvPr id="42" name="Shape 40"/>
          <p:cNvSpPr/>
          <p:nvPr/>
        </p:nvSpPr>
        <p:spPr>
          <a:xfrm flipH="1">
            <a:off x="2423160" y="4361688"/>
            <a:ext cx="960120" cy="914"/>
          </a:xfrm>
          <a:prstGeom prst="line">
            <a:avLst/>
          </a:prstGeom>
          <a:noFill/>
          <a:ln w="22225">
            <a:solidFill>
              <a:srgbClr val="4B5563"/>
            </a:solidFill>
            <a:prstDash val="solid"/>
            <a:tailEnd type="triangle"/>
          </a:ln>
        </p:spPr>
      </p:sp>
      <p:sp>
        <p:nvSpPr>
          <p:cNvPr id="43" name="Text 41"/>
          <p:cNvSpPr/>
          <p:nvPr/>
        </p:nvSpPr>
        <p:spPr>
          <a:xfrm>
            <a:off x="2331720" y="4242816"/>
            <a:ext cx="114300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6B7280"/>
                </a:solidFill>
                <a:latin typeface="Calibri" pitchFamily="34" charset="0"/>
                <a:ea typeface="Calibri" pitchFamily="34" charset="-122"/>
                <a:cs typeface="Calibri" pitchFamily="34" charset="-120"/>
              </a:rPr>
              <a:t>staged patch</a:t>
            </a:r>
            <a:endParaRPr lang="en-US" sz="700" dirty="0"/>
          </a:p>
        </p:txBody>
      </p:sp>
      <p:sp>
        <p:nvSpPr>
          <p:cNvPr id="44" name="Shape 42"/>
          <p:cNvSpPr/>
          <p:nvPr/>
        </p:nvSpPr>
        <p:spPr>
          <a:xfrm>
            <a:off x="2423160" y="4599432"/>
            <a:ext cx="960120" cy="914"/>
          </a:xfrm>
          <a:prstGeom prst="line">
            <a:avLst/>
          </a:prstGeom>
          <a:noFill/>
          <a:ln w="22225">
            <a:solidFill>
              <a:srgbClr val="4B5563"/>
            </a:solidFill>
            <a:prstDash val="solid"/>
            <a:tailEnd type="triangle"/>
          </a:ln>
        </p:spPr>
      </p:sp>
      <p:sp>
        <p:nvSpPr>
          <p:cNvPr id="45" name="Text 43"/>
          <p:cNvSpPr/>
          <p:nvPr/>
        </p:nvSpPr>
        <p:spPr>
          <a:xfrm>
            <a:off x="2217420" y="4480560"/>
            <a:ext cx="137160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6B7280"/>
                </a:solidFill>
                <a:latin typeface="Calibri" pitchFamily="34" charset="0"/>
                <a:ea typeface="Calibri" pitchFamily="34" charset="-122"/>
                <a:cs typeface="Calibri" pitchFamily="34" charset="-120"/>
              </a:rPr>
              <a:t>per-stage outcome</a:t>
            </a:r>
            <a:endParaRPr lang="en-US" sz="700" dirty="0"/>
          </a:p>
        </p:txBody>
      </p:sp>
      <p:sp>
        <p:nvSpPr>
          <p:cNvPr id="46" name="Shape 44"/>
          <p:cNvSpPr/>
          <p:nvPr/>
        </p:nvSpPr>
        <p:spPr>
          <a:xfrm>
            <a:off x="548640" y="3456432"/>
            <a:ext cx="2103120" cy="603504"/>
          </a:xfrm>
          <a:prstGeom prst="roundRect">
            <a:avLst>
              <a:gd name="adj" fmla="val 10606"/>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47" name="Text 45"/>
          <p:cNvSpPr/>
          <p:nvPr/>
        </p:nvSpPr>
        <p:spPr>
          <a:xfrm>
            <a:off x="576072" y="3456432"/>
            <a:ext cx="2048256" cy="603504"/>
          </a:xfrm>
          <a:prstGeom prst="rect">
            <a:avLst/>
          </a:prstGeom>
          <a:noFill/>
          <a:ln/>
        </p:spPr>
        <p:txBody>
          <a:bodyPr wrap="square" lIns="12700" tIns="12700" rIns="12700" bIns="12700" rtlCol="0" anchor="ctr"/>
          <a:lstStyle/>
          <a:p>
            <a:pPr algn="ctr" indent="0" marL="0">
              <a:lnSpc>
                <a:spcPct val="92000"/>
              </a:lnSpc>
              <a:buNone/>
            </a:pPr>
            <a:r>
              <a:rPr lang="en-US" sz="850" b="1" dirty="0">
                <a:solidFill>
                  <a:srgbClr val="2A2170"/>
                </a:solidFill>
                <a:latin typeface="Calibri" pitchFamily="34" charset="0"/>
                <a:ea typeface="Calibri" pitchFamily="34" charset="-122"/>
                <a:cs typeface="Calibri" pitchFamily="34" charset="-120"/>
              </a:rPr>
              <a:t>RA-6 Authority lifecycle</a:t>
            </a:r>
            <a:endParaRPr lang="en-US" sz="850" dirty="0"/>
          </a:p>
          <a:p>
            <a:pPr algn="ctr" indent="0" marL="0">
              <a:lnSpc>
                <a:spcPct val="92000"/>
              </a:lnSpc>
              <a:buNone/>
            </a:pPr>
            <a:r>
              <a:rPr lang="en-US" sz="850" b="1" dirty="0">
                <a:solidFill>
                  <a:srgbClr val="2A2170"/>
                </a:solidFill>
                <a:latin typeface="Calibri" pitchFamily="34" charset="0"/>
                <a:ea typeface="Calibri" pitchFamily="34" charset="-122"/>
                <a:cs typeface="Calibri" pitchFamily="34" charset="-120"/>
              </a:rPr>
              <a:t>revoke / supersede / expire</a:t>
            </a:r>
            <a:endParaRPr lang="en-US" sz="850" dirty="0"/>
          </a:p>
        </p:txBody>
      </p:sp>
      <p:sp>
        <p:nvSpPr>
          <p:cNvPr id="48" name="Shape 46"/>
          <p:cNvSpPr/>
          <p:nvPr/>
        </p:nvSpPr>
        <p:spPr>
          <a:xfrm>
            <a:off x="2651760" y="3758184"/>
            <a:ext cx="731520" cy="914"/>
          </a:xfrm>
          <a:prstGeom prst="line">
            <a:avLst/>
          </a:prstGeom>
          <a:noFill/>
          <a:ln w="22225">
            <a:solidFill>
              <a:srgbClr val="B7791F"/>
            </a:solidFill>
            <a:prstDash val="dash"/>
            <a:tailEnd type="triangle"/>
          </a:ln>
        </p:spPr>
      </p:sp>
      <p:sp>
        <p:nvSpPr>
          <p:cNvPr id="49" name="Text 47"/>
          <p:cNvSpPr/>
          <p:nvPr/>
        </p:nvSpPr>
        <p:spPr>
          <a:xfrm>
            <a:off x="2308860" y="3639312"/>
            <a:ext cx="141732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B7791F"/>
                </a:solidFill>
                <a:latin typeface="Calibri" pitchFamily="34" charset="0"/>
                <a:ea typeface="Calibri" pitchFamily="34" charset="-122"/>
                <a:cs typeface="Calibri" pitchFamily="34" charset="-120"/>
              </a:rPr>
              <a:t>risk changed → revoke</a:t>
            </a:r>
            <a:endParaRPr lang="en-US" sz="700" dirty="0"/>
          </a:p>
        </p:txBody>
      </p:sp>
      <p:sp>
        <p:nvSpPr>
          <p:cNvPr id="50" name="Shape 48"/>
          <p:cNvSpPr/>
          <p:nvPr/>
        </p:nvSpPr>
        <p:spPr>
          <a:xfrm>
            <a:off x="8092440" y="2834640"/>
            <a:ext cx="2286000" cy="1152144"/>
          </a:xfrm>
          <a:prstGeom prst="roundRect">
            <a:avLst>
              <a:gd name="adj" fmla="val 4762"/>
            </a:avLst>
          </a:prstGeom>
          <a:solidFill>
            <a:srgbClr val="FBEBE9"/>
          </a:solidFill>
          <a:ln w="15875">
            <a:solidFill>
              <a:srgbClr val="C0392B"/>
            </a:solidFill>
            <a:prstDash val="solid"/>
          </a:ln>
        </p:spPr>
      </p:sp>
      <p:sp>
        <p:nvSpPr>
          <p:cNvPr id="51" name="Text 49"/>
          <p:cNvSpPr/>
          <p:nvPr/>
        </p:nvSpPr>
        <p:spPr>
          <a:xfrm>
            <a:off x="8183880" y="2834640"/>
            <a:ext cx="2103120" cy="1152144"/>
          </a:xfrm>
          <a:prstGeom prst="rect">
            <a:avLst/>
          </a:prstGeom>
          <a:noFill/>
          <a:ln/>
        </p:spPr>
        <p:txBody>
          <a:bodyPr wrap="square" lIns="25400" tIns="25400" rIns="25400" bIns="25400" rtlCol="0" anchor="ctr"/>
          <a:lstStyle/>
          <a:p>
            <a:pPr algn="ctr" indent="0" marL="0">
              <a:buNone/>
            </a:pPr>
            <a:r>
              <a:rPr lang="en-US" sz="1000" b="1" dirty="0">
                <a:solidFill>
                  <a:srgbClr val="7A2016"/>
                </a:solidFill>
                <a:latin typeface="Calibri" pitchFamily="34" charset="0"/>
                <a:ea typeface="Calibri" pitchFamily="34" charset="-122"/>
                <a:cs typeface="Calibri" pitchFamily="34" charset="-120"/>
              </a:rPr>
              <a:t>HOLD / BLOCK / ESCALATE</a:t>
            </a:r>
            <a:endParaRPr lang="en-US" sz="1000" dirty="0"/>
          </a:p>
          <a:p>
            <a:pPr algn="ctr" indent="0" marL="0">
              <a:buNone/>
            </a:pPr>
            <a:r>
              <a:rPr lang="en-US" sz="1000" b="1" dirty="0">
                <a:solidFill>
                  <a:srgbClr val="7A2016"/>
                </a:solidFill>
                <a:latin typeface="Calibri" pitchFamily="34" charset="0"/>
                <a:ea typeface="Calibri" pitchFamily="34" charset="-122"/>
                <a:cs typeface="Calibri" pitchFamily="34" charset="-120"/>
              </a:rPr>
              <a:t>remaining stages stopped</a:t>
            </a:r>
            <a:endParaRPr lang="en-US" sz="1000" dirty="0"/>
          </a:p>
        </p:txBody>
      </p:sp>
      <p:sp>
        <p:nvSpPr>
          <p:cNvPr id="52" name="Shape 50"/>
          <p:cNvSpPr/>
          <p:nvPr/>
        </p:nvSpPr>
        <p:spPr>
          <a:xfrm>
            <a:off x="6126480" y="3063240"/>
            <a:ext cx="1965960" cy="914"/>
          </a:xfrm>
          <a:prstGeom prst="line">
            <a:avLst/>
          </a:prstGeom>
          <a:noFill/>
          <a:ln w="22225">
            <a:solidFill>
              <a:srgbClr val="C0392B"/>
            </a:solidFill>
            <a:prstDash val="solid"/>
            <a:tailEnd type="triangle"/>
          </a:ln>
        </p:spPr>
      </p:sp>
      <p:sp>
        <p:nvSpPr>
          <p:cNvPr id="53" name="Text 51"/>
          <p:cNvSpPr/>
          <p:nvPr/>
        </p:nvSpPr>
        <p:spPr>
          <a:xfrm>
            <a:off x="6377940" y="2944368"/>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DENIED / INDET.</a:t>
            </a:r>
            <a:endParaRPr lang="en-US" sz="750" dirty="0"/>
          </a:p>
        </p:txBody>
      </p:sp>
      <p:sp>
        <p:nvSpPr>
          <p:cNvPr id="54" name="Shape 52"/>
          <p:cNvSpPr/>
          <p:nvPr/>
        </p:nvSpPr>
        <p:spPr>
          <a:xfrm>
            <a:off x="6126480" y="3758184"/>
            <a:ext cx="1965960" cy="914"/>
          </a:xfrm>
          <a:prstGeom prst="line">
            <a:avLst/>
          </a:prstGeom>
          <a:noFill/>
          <a:ln w="22225">
            <a:solidFill>
              <a:srgbClr val="C0392B"/>
            </a:solidFill>
            <a:prstDash val="solid"/>
            <a:tailEnd type="triangle"/>
          </a:ln>
        </p:spPr>
      </p:sp>
      <p:sp>
        <p:nvSpPr>
          <p:cNvPr id="55" name="Text 53"/>
          <p:cNvSpPr/>
          <p:nvPr/>
        </p:nvSpPr>
        <p:spPr>
          <a:xfrm>
            <a:off x="6423660" y="3639312"/>
            <a:ext cx="137160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HOLD / BLOCK</a:t>
            </a:r>
            <a:endParaRPr lang="en-US" sz="750" dirty="0"/>
          </a:p>
        </p:txBody>
      </p:sp>
      <p:sp>
        <p:nvSpPr>
          <p:cNvPr id="56" name="Shape 54"/>
          <p:cNvSpPr/>
          <p:nvPr/>
        </p:nvSpPr>
        <p:spPr>
          <a:xfrm>
            <a:off x="9235440" y="3986784"/>
            <a:ext cx="914" cy="1901952"/>
          </a:xfrm>
          <a:prstGeom prst="line">
            <a:avLst/>
          </a:prstGeom>
          <a:noFill/>
          <a:ln w="22225">
            <a:solidFill>
              <a:srgbClr val="4B5563"/>
            </a:solidFill>
            <a:prstDash val="solid"/>
            <a:tailEnd type="triangle"/>
          </a:ln>
        </p:spPr>
      </p:sp>
      <p:sp>
        <p:nvSpPr>
          <p:cNvPr id="57" name="Text 55"/>
          <p:cNvSpPr/>
          <p:nvPr/>
        </p:nvSpPr>
        <p:spPr>
          <a:xfrm>
            <a:off x="8503920" y="4818888"/>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6B7280"/>
                </a:solidFill>
                <a:latin typeface="Calibri" pitchFamily="34" charset="0"/>
                <a:ea typeface="Calibri" pitchFamily="34" charset="-122"/>
                <a:cs typeface="Calibri" pitchFamily="34" charset="-120"/>
              </a:rPr>
              <a:t>reason + evidence</a:t>
            </a:r>
            <a:endParaRPr lang="en-US" sz="750" dirty="0"/>
          </a:p>
        </p:txBody>
      </p:sp>
      <p:sp>
        <p:nvSpPr>
          <p:cNvPr id="58" name="Shape 56"/>
          <p:cNvSpPr/>
          <p:nvPr/>
        </p:nvSpPr>
        <p:spPr>
          <a:xfrm flipH="1">
            <a:off x="6126480" y="5888736"/>
            <a:ext cx="3108960" cy="914"/>
          </a:xfrm>
          <a:prstGeom prst="line">
            <a:avLst/>
          </a:prstGeom>
          <a:noFill/>
          <a:ln w="22225">
            <a:solidFill>
              <a:srgbClr val="4B5563"/>
            </a:solidFill>
            <a:prstDash val="solid"/>
            <a:tailEnd type="triangle"/>
          </a:ln>
        </p:spPr>
      </p:sp>
      <p:sp>
        <p:nvSpPr>
          <p:cNvPr id="59" name="Text 57"/>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Revocation is bounded-latency: it stops the next stage at the pre-effect recheck, not one already in progress. Illustrative example.</a:t>
            </a:r>
            <a:endParaRPr lang="en-US" sz="850" dirty="0"/>
          </a:p>
        </p:txBody>
      </p:sp>
      <p:sp>
        <p:nvSpPr>
          <p:cNvPr id="61" name="Text 58"/>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UC-11 · VULNERABILITY REMEDIATION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Human-control boundary, and business &amp; pilot metrics</a:t>
            </a:r>
            <a:endParaRPr lang="en-US" sz="2600" dirty="0"/>
          </a:p>
        </p:txBody>
      </p:sp>
      <p:sp>
        <p:nvSpPr>
          <p:cNvPr id="4" name="Shape 2"/>
          <p:cNvSpPr/>
          <p:nvPr/>
        </p:nvSpPr>
        <p:spPr>
          <a:xfrm>
            <a:off x="548640" y="1371600"/>
            <a:ext cx="5486400" cy="4663440"/>
          </a:xfrm>
          <a:prstGeom prst="roundRect">
            <a:avLst>
              <a:gd name="adj" fmla="val 1176"/>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713232" y="1481328"/>
            <a:ext cx="5157216" cy="310896"/>
          </a:xfrm>
          <a:prstGeom prst="rect">
            <a:avLst/>
          </a:prstGeom>
          <a:noFill/>
          <a:ln/>
        </p:spPr>
        <p:txBody>
          <a:bodyPr wrap="square" lIns="0" tIns="0" rIns="0" bIns="0" rtlCol="0" anchor="ctr"/>
          <a:lstStyle/>
          <a:p>
            <a:pPr algn="l" indent="0" marL="0">
              <a:buNone/>
            </a:pPr>
            <a:r>
              <a:rPr lang="en-US" sz="1250" b="1" dirty="0">
                <a:solidFill>
                  <a:srgbClr val="2A2170"/>
                </a:solidFill>
                <a:latin typeface="Calibri" pitchFamily="34" charset="0"/>
                <a:ea typeface="Calibri" pitchFamily="34" charset="-122"/>
                <a:cs typeface="Calibri" pitchFamily="34" charset="-120"/>
              </a:rPr>
              <a:t>Human-control boundary</a:t>
            </a:r>
            <a:endParaRPr lang="en-US" sz="1250" dirty="0"/>
          </a:p>
        </p:txBody>
      </p:sp>
      <p:sp>
        <p:nvSpPr>
          <p:cNvPr id="6" name="Text 4"/>
          <p:cNvSpPr/>
          <p:nvPr/>
        </p:nvSpPr>
        <p:spPr>
          <a:xfrm>
            <a:off x="713232" y="1828800"/>
            <a:ext cx="5157216" cy="4096512"/>
          </a:xfrm>
          <a:prstGeom prst="rect">
            <a:avLst/>
          </a:prstGeom>
          <a:noFill/>
          <a:ln/>
        </p:spPr>
        <p:txBody>
          <a:bodyPr wrap="square" lIns="0" tIns="0" rIns="0" bIns="0" rtlCol="0" anchor="t"/>
          <a:lstStyle/>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Autonomous: per-stage clearance and patching INSIDE the authorized CI set and window</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Forces HOLD / ESCALATE: peak-trading or criticality hold, window closed, expired authority, a revocation signal</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Human-binding: the emergency-patch authority delegation; any CI outside the authorized set</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Limits: named CI set, staged rollout, reversibility, revocability mid-flight</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Fail-closed: missing approval, evidence, clearance or execution confirmation is never permission</a:t>
            </a:r>
            <a:endParaRPr lang="en-US" sz="1100" dirty="0"/>
          </a:p>
        </p:txBody>
      </p:sp>
      <p:sp>
        <p:nvSpPr>
          <p:cNvPr id="7" name="Shape 5"/>
          <p:cNvSpPr/>
          <p:nvPr/>
        </p:nvSpPr>
        <p:spPr>
          <a:xfrm>
            <a:off x="6172200" y="1371600"/>
            <a:ext cx="5486400" cy="4663440"/>
          </a:xfrm>
          <a:prstGeom prst="roundRect">
            <a:avLst>
              <a:gd name="adj" fmla="val 1176"/>
            </a:avLst>
          </a:prstGeom>
          <a:solidFill>
            <a:srgbClr val="FFFFFF"/>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8" name="Text 6"/>
          <p:cNvSpPr/>
          <p:nvPr/>
        </p:nvSpPr>
        <p:spPr>
          <a:xfrm>
            <a:off x="6336792" y="1481328"/>
            <a:ext cx="5157216" cy="310896"/>
          </a:xfrm>
          <a:prstGeom prst="rect">
            <a:avLst/>
          </a:prstGeom>
          <a:noFill/>
          <a:ln/>
        </p:spPr>
        <p:txBody>
          <a:bodyPr wrap="square" lIns="0" tIns="0" rIns="0" bIns="0" rtlCol="0" anchor="ctr"/>
          <a:lstStyle/>
          <a:p>
            <a:pPr algn="l" indent="0" marL="0">
              <a:buNone/>
            </a:pPr>
            <a:r>
              <a:rPr lang="en-US" sz="1250" b="1" dirty="0">
                <a:solidFill>
                  <a:srgbClr val="173A5A"/>
                </a:solidFill>
                <a:latin typeface="Calibri" pitchFamily="34" charset="0"/>
                <a:ea typeface="Calibri" pitchFamily="34" charset="-122"/>
                <a:cs typeface="Calibri" pitchFamily="34" charset="-120"/>
              </a:rPr>
              <a:t>Business outcome &amp; pilot metrics</a:t>
            </a:r>
            <a:endParaRPr lang="en-US" sz="1250" dirty="0"/>
          </a:p>
        </p:txBody>
      </p:sp>
      <p:sp>
        <p:nvSpPr>
          <p:cNvPr id="9" name="Text 7"/>
          <p:cNvSpPr/>
          <p:nvPr/>
        </p:nvSpPr>
        <p:spPr>
          <a:xfrm>
            <a:off x="6336792" y="1828800"/>
            <a:ext cx="5157216" cy="4096512"/>
          </a:xfrm>
          <a:prstGeom prst="rect">
            <a:avLst/>
          </a:prstGeom>
          <a:noFill/>
          <a:ln/>
        </p:spPr>
        <p:txBody>
          <a:bodyPr wrap="square" lIns="0" tIns="0" rIns="0" bIns="0" rtlCol="0" anchor="t"/>
          <a:lstStyle/>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Benefit:  faster mean-time-to-remediation for critical vulnerabilities.</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Risk prevented:  out-of-scope or business-critical systems patched at the wrong moment; runaway rollout after risk worsens.</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Evidence:  per-stage authorization, clearance, receipts, revocation record, effect-match.</a:t>
            </a:r>
            <a:endParaRPr lang="en-US" sz="1050" dirty="0"/>
          </a:p>
          <a:p>
            <a:pPr algn="l" indent="0" marL="0">
              <a:lnSpc>
                <a:spcPct val="102000"/>
              </a:lnSpc>
              <a:buNone/>
            </a:pP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Possible pilot metrics:</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Mean-time-to-remediation</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Unauthorized-target attempts blocked</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 of stages correctly stopped on revocation</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Effect-match rate</a:t>
            </a:r>
            <a:endParaRPr lang="en-US" sz="1050" dirty="0"/>
          </a:p>
          <a:p>
            <a:pPr algn="l" indent="0" marL="0">
              <a:lnSpc>
                <a:spcPct val="102000"/>
              </a:lnSpc>
              <a:buNone/>
            </a:pP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Governed-value (developing):  exposure-window reduction attributed to governed remediation, with preserved availability.</a:t>
            </a:r>
            <a:endParaRPr lang="en-US" sz="1050" dirty="0"/>
          </a:p>
        </p:txBody>
      </p:sp>
      <p:sp>
        <p:nvSpPr>
          <p:cNvPr id="10" name="Text 8"/>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Governed-value attribution is a developing, cross-cutting capability — not an authorization gate.</a:t>
            </a:r>
            <a:endParaRPr lang="en-US" sz="850" dirty="0"/>
          </a:p>
        </p:txBody>
      </p:sp>
      <p:sp>
        <p:nvSpPr>
          <p:cNvPr id="12" name="Text 9"/>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30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UC-6 · ACCESS PROVISIONING WITH SEGREGATION OF DUTIES</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The problem, and the business journey</a:t>
            </a:r>
            <a:endParaRPr lang="en-US" sz="2600" dirty="0"/>
          </a:p>
        </p:txBody>
      </p:sp>
      <p:sp>
        <p:nvSpPr>
          <p:cNvPr id="4" name="Text 2"/>
          <p:cNvSpPr/>
          <p:nvPr/>
        </p:nvSpPr>
        <p:spPr>
          <a:xfrm>
            <a:off x="548640" y="1325880"/>
            <a:ext cx="5486400" cy="1554480"/>
          </a:xfrm>
          <a:prstGeom prst="rect">
            <a:avLst/>
          </a:prstGeom>
          <a:noFill/>
          <a:ln/>
        </p:spPr>
        <p:txBody>
          <a:bodyPr wrap="square" rtlCol="0" anchor="ctr"/>
          <a:lstStyle/>
          <a:p>
            <a:pPr indent="0" marL="0">
              <a:lnSpc>
                <a:spcPct val="112000"/>
              </a:lnSpc>
              <a:buNone/>
            </a:pPr>
            <a:r>
              <a:rPr lang="en-US" sz="1200" dirty="0">
                <a:solidFill>
                  <a:srgbClr val="1E2340"/>
                </a:solidFill>
                <a:latin typeface="Calibri" pitchFamily="34" charset="0"/>
                <a:ea typeface="Calibri" pitchFamily="34" charset="-122"/>
                <a:cs typeface="Calibri" pitchFamily="34" charset="-120"/>
              </a:rPr>
              <a:t>An employee asks a self-service assistant for elevated access — for example, the ability to both create and approve payments. An AI agent could fulfil it in seconds. But granting an entitlement that breaks segregation of duties, or that the requester’s current risk posture should block, can create fraud exposure that is hard to unwind.</a:t>
            </a:r>
            <a:endParaRPr lang="en-US" sz="1200" dirty="0"/>
          </a:p>
        </p:txBody>
      </p:sp>
      <p:sp>
        <p:nvSpPr>
          <p:cNvPr id="5" name="Text 3"/>
          <p:cNvSpPr/>
          <p:nvPr/>
        </p:nvSpPr>
        <p:spPr>
          <a:xfrm>
            <a:off x="548640" y="2971800"/>
            <a:ext cx="5486400" cy="914400"/>
          </a:xfrm>
          <a:prstGeom prst="rect">
            <a:avLst/>
          </a:prstGeom>
          <a:noFill/>
          <a:ln/>
        </p:spPr>
        <p:txBody>
          <a:bodyPr wrap="square" rtlCol="0" anchor="ctr"/>
          <a:lstStyle/>
          <a:p>
            <a:pPr indent="0" marL="0">
              <a:lnSpc>
                <a:spcPct val="105000"/>
              </a:lnSpc>
              <a:buNone/>
            </a:pPr>
            <a:r>
              <a:rPr lang="en-US" sz="1050" b="1" dirty="0">
                <a:solidFill>
                  <a:srgbClr val="1E2340"/>
                </a:solidFill>
                <a:latin typeface="Calibri" pitchFamily="34" charset="0"/>
                <a:ea typeface="Calibri" pitchFamily="34" charset="-122"/>
                <a:cs typeface="Calibri" pitchFamily="34" charset="-120"/>
              </a:rPr>
              <a:t>Illustrative:  </a:t>
            </a:r>
            <a:pPr indent="0" marL="0">
              <a:lnSpc>
                <a:spcPct val="105000"/>
              </a:lnSpc>
              <a:buNone/>
            </a:pPr>
            <a:r>
              <a:rPr lang="en-US" sz="1050" i="1" dirty="0">
                <a:solidFill>
                  <a:srgbClr val="1E2340"/>
                </a:solidFill>
                <a:latin typeface="Calibri" pitchFamily="34" charset="0"/>
                <a:ea typeface="Calibri" pitchFamily="34" charset="-122"/>
                <a:cs typeface="Calibri" pitchFamily="34" charset="-120"/>
              </a:rPr>
              <a:t>RITM0102934 · a finance analyst who already holds “create payment” requests “approve payment” in the ERP · an SoD rule prohibits one person holding both.</a:t>
            </a:r>
            <a:endParaRPr lang="en-US" sz="1050" dirty="0"/>
          </a:p>
        </p:txBody>
      </p:sp>
      <p:sp>
        <p:nvSpPr>
          <p:cNvPr id="6" name="Text 4"/>
          <p:cNvSpPr/>
          <p:nvPr/>
        </p:nvSpPr>
        <p:spPr>
          <a:xfrm>
            <a:off x="548640" y="3977640"/>
            <a:ext cx="5486400" cy="1005840"/>
          </a:xfrm>
          <a:prstGeom prst="rect">
            <a:avLst/>
          </a:prstGeom>
          <a:noFill/>
          <a:ln/>
        </p:spPr>
        <p:txBody>
          <a:bodyPr wrap="square" rtlCol="0" anchor="ctr"/>
          <a:lstStyle/>
          <a:p>
            <a:pPr indent="0" marL="0">
              <a:lnSpc>
                <a:spcPct val="108000"/>
              </a:lnSpc>
              <a:buNone/>
            </a:pPr>
            <a:r>
              <a:rPr lang="en-US" sz="1050" i="1" dirty="0">
                <a:solidFill>
                  <a:srgbClr val="6B7280"/>
                </a:solidFill>
                <a:latin typeface="Calibri" pitchFamily="34" charset="0"/>
                <a:ea typeface="Calibri" pitchFamily="34" charset="-122"/>
                <a:cs typeface="Calibri" pitchFamily="34" charset="-120"/>
              </a:rPr>
              <a:t>ServiceNow already provides Service Catalog request fulfilment, entitlement management, and Veza-based identity and least-privilege controls. Ugence proposes exact-entitlement authorization and an independent SoD clearance.</a:t>
            </a:r>
            <a:endParaRPr lang="en-US" sz="1050" dirty="0"/>
          </a:p>
        </p:txBody>
      </p:sp>
      <p:sp>
        <p:nvSpPr>
          <p:cNvPr id="7" name="Shape 5"/>
          <p:cNvSpPr/>
          <p:nvPr/>
        </p:nvSpPr>
        <p:spPr>
          <a:xfrm>
            <a:off x="7635240" y="1371600"/>
            <a:ext cx="246888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8" name="Text 6"/>
          <p:cNvSpPr/>
          <p:nvPr/>
        </p:nvSpPr>
        <p:spPr>
          <a:xfrm>
            <a:off x="7662672" y="1371600"/>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Employee requests elevated access</a:t>
            </a:r>
            <a:endParaRPr lang="en-US" sz="1050" dirty="0"/>
          </a:p>
        </p:txBody>
      </p:sp>
      <p:sp>
        <p:nvSpPr>
          <p:cNvPr id="9" name="Shape 7"/>
          <p:cNvSpPr/>
          <p:nvPr/>
        </p:nvSpPr>
        <p:spPr>
          <a:xfrm>
            <a:off x="7635240" y="2103120"/>
            <a:ext cx="246888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0" name="Text 8"/>
          <p:cNvSpPr/>
          <p:nvPr/>
        </p:nvSpPr>
        <p:spPr>
          <a:xfrm>
            <a:off x="7662672" y="2103120"/>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Approval confirmed for this exact entitlement</a:t>
            </a:r>
            <a:endParaRPr lang="en-US" sz="1050" dirty="0"/>
          </a:p>
        </p:txBody>
      </p:sp>
      <p:sp>
        <p:nvSpPr>
          <p:cNvPr id="11" name="Shape 9"/>
          <p:cNvSpPr/>
          <p:nvPr/>
        </p:nvSpPr>
        <p:spPr>
          <a:xfrm>
            <a:off x="7635240" y="2834640"/>
            <a:ext cx="246888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12" name="Text 10"/>
          <p:cNvSpPr/>
          <p:nvPr/>
        </p:nvSpPr>
        <p:spPr>
          <a:xfrm>
            <a:off x="7662672" y="2834640"/>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Any conflict? safe now?</a:t>
            </a:r>
            <a:endParaRPr lang="en-US" sz="1050" dirty="0"/>
          </a:p>
        </p:txBody>
      </p:sp>
      <p:sp>
        <p:nvSpPr>
          <p:cNvPr id="13" name="Shape 11"/>
          <p:cNvSpPr/>
          <p:nvPr/>
        </p:nvSpPr>
        <p:spPr>
          <a:xfrm>
            <a:off x="7635240" y="3566160"/>
            <a:ext cx="246888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14" name="Text 12"/>
          <p:cNvSpPr/>
          <p:nvPr/>
        </p:nvSpPr>
        <p:spPr>
          <a:xfrm>
            <a:off x="7662672" y="3566160"/>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Granted, or blocked for review</a:t>
            </a:r>
            <a:endParaRPr lang="en-US" sz="1050" dirty="0"/>
          </a:p>
        </p:txBody>
      </p:sp>
      <p:sp>
        <p:nvSpPr>
          <p:cNvPr id="15" name="Shape 13"/>
          <p:cNvSpPr/>
          <p:nvPr/>
        </p:nvSpPr>
        <p:spPr>
          <a:xfrm>
            <a:off x="7635240" y="4297680"/>
            <a:ext cx="246888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6" name="Text 14"/>
          <p:cNvSpPr/>
          <p:nvPr/>
        </p:nvSpPr>
        <p:spPr>
          <a:xfrm>
            <a:off x="7662672" y="4297680"/>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Result returned to the request</a:t>
            </a:r>
            <a:endParaRPr lang="en-US" sz="1050" dirty="0"/>
          </a:p>
        </p:txBody>
      </p:sp>
      <p:sp>
        <p:nvSpPr>
          <p:cNvPr id="17" name="Shape 15"/>
          <p:cNvSpPr/>
          <p:nvPr/>
        </p:nvSpPr>
        <p:spPr>
          <a:xfrm>
            <a:off x="8869680" y="1828800"/>
            <a:ext cx="914" cy="274320"/>
          </a:xfrm>
          <a:prstGeom prst="line">
            <a:avLst/>
          </a:prstGeom>
          <a:noFill/>
          <a:ln w="22225">
            <a:solidFill>
              <a:srgbClr val="4B5563"/>
            </a:solidFill>
            <a:prstDash val="solid"/>
            <a:tailEnd type="triangle"/>
          </a:ln>
        </p:spPr>
      </p:sp>
      <p:sp>
        <p:nvSpPr>
          <p:cNvPr id="18" name="Text 16"/>
          <p:cNvSpPr/>
          <p:nvPr/>
        </p:nvSpPr>
        <p:spPr>
          <a:xfrm>
            <a:off x="7909560" y="184708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self-service</a:t>
            </a:r>
            <a:endParaRPr lang="en-US" sz="800" dirty="0"/>
          </a:p>
        </p:txBody>
      </p:sp>
      <p:sp>
        <p:nvSpPr>
          <p:cNvPr id="19" name="Shape 17"/>
          <p:cNvSpPr/>
          <p:nvPr/>
        </p:nvSpPr>
        <p:spPr>
          <a:xfrm>
            <a:off x="8869680" y="2560320"/>
            <a:ext cx="914" cy="274320"/>
          </a:xfrm>
          <a:prstGeom prst="line">
            <a:avLst/>
          </a:prstGeom>
          <a:noFill/>
          <a:ln w="22225">
            <a:solidFill>
              <a:srgbClr val="4B5563"/>
            </a:solidFill>
            <a:prstDash val="solid"/>
            <a:tailEnd type="triangle"/>
          </a:ln>
        </p:spPr>
      </p:sp>
      <p:sp>
        <p:nvSpPr>
          <p:cNvPr id="20" name="Text 18"/>
          <p:cNvSpPr/>
          <p:nvPr/>
        </p:nvSpPr>
        <p:spPr>
          <a:xfrm>
            <a:off x="7909560" y="257860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delegated</a:t>
            </a:r>
            <a:endParaRPr lang="en-US" sz="800" dirty="0"/>
          </a:p>
        </p:txBody>
      </p:sp>
      <p:sp>
        <p:nvSpPr>
          <p:cNvPr id="21" name="Shape 19"/>
          <p:cNvSpPr/>
          <p:nvPr/>
        </p:nvSpPr>
        <p:spPr>
          <a:xfrm>
            <a:off x="8869680" y="3291840"/>
            <a:ext cx="914" cy="274320"/>
          </a:xfrm>
          <a:prstGeom prst="line">
            <a:avLst/>
          </a:prstGeom>
          <a:noFill/>
          <a:ln w="22225">
            <a:solidFill>
              <a:srgbClr val="4B5563"/>
            </a:solidFill>
            <a:prstDash val="solid"/>
            <a:tailEnd type="triangle"/>
          </a:ln>
        </p:spPr>
      </p:sp>
      <p:sp>
        <p:nvSpPr>
          <p:cNvPr id="22" name="Text 20"/>
          <p:cNvSpPr/>
          <p:nvPr/>
        </p:nvSpPr>
        <p:spPr>
          <a:xfrm>
            <a:off x="7909560" y="331012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SoD + risk posture</a:t>
            </a:r>
            <a:endParaRPr lang="en-US" sz="800" dirty="0"/>
          </a:p>
        </p:txBody>
      </p:sp>
      <p:sp>
        <p:nvSpPr>
          <p:cNvPr id="23" name="Shape 21"/>
          <p:cNvSpPr/>
          <p:nvPr/>
        </p:nvSpPr>
        <p:spPr>
          <a:xfrm>
            <a:off x="8869680" y="4023360"/>
            <a:ext cx="914" cy="274320"/>
          </a:xfrm>
          <a:prstGeom prst="line">
            <a:avLst/>
          </a:prstGeom>
          <a:noFill/>
          <a:ln w="22225">
            <a:solidFill>
              <a:srgbClr val="4B5563"/>
            </a:solidFill>
            <a:prstDash val="solid"/>
            <a:tailEnd type="triangle"/>
          </a:ln>
        </p:spPr>
      </p:sp>
      <p:sp>
        <p:nvSpPr>
          <p:cNvPr id="24" name="Text 22"/>
          <p:cNvSpPr/>
          <p:nvPr/>
        </p:nvSpPr>
        <p:spPr>
          <a:xfrm>
            <a:off x="7909560" y="404164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auditable either way</a:t>
            </a:r>
            <a:endParaRPr lang="en-US" sz="800" dirty="0"/>
          </a:p>
        </p:txBody>
      </p:sp>
      <p:sp>
        <p:nvSpPr>
          <p:cNvPr id="25" name="Text 23"/>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Illustrative example — not a customer deployment.</a:t>
            </a:r>
            <a:endParaRPr lang="en-US" sz="850" dirty="0"/>
          </a:p>
        </p:txBody>
      </p:sp>
      <p:sp>
        <p:nvSpPr>
          <p:cNvPr id="27" name="Text 24"/>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31</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UC-6 · ACCESS PROVISIONING</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Technical module workflow — segregation-of-duties veto</a:t>
            </a:r>
            <a:endParaRPr lang="en-US" sz="2600" dirty="0"/>
          </a:p>
        </p:txBody>
      </p:sp>
      <p:sp>
        <p:nvSpPr>
          <p:cNvPr id="4" name="Shape 2"/>
          <p:cNvSpPr/>
          <p:nvPr/>
        </p:nvSpPr>
        <p:spPr>
          <a:xfrm>
            <a:off x="548640" y="1170432"/>
            <a:ext cx="201168" cy="146304"/>
          </a:xfrm>
          <a:prstGeom prst="roundRect">
            <a:avLst>
              <a:gd name="adj" fmla="val 18750"/>
            </a:avLst>
          </a:prstGeom>
          <a:solidFill>
            <a:srgbClr val="E7F3EC"/>
          </a:solidFill>
          <a:ln w="12700">
            <a:solidFill>
              <a:srgbClr val="2E7D5B"/>
            </a:solidFill>
            <a:prstDash val="solid"/>
          </a:ln>
        </p:spPr>
      </p:sp>
      <p:sp>
        <p:nvSpPr>
          <p:cNvPr id="5" name="Text 3"/>
          <p:cNvSpPr/>
          <p:nvPr/>
        </p:nvSpPr>
        <p:spPr>
          <a:xfrm>
            <a:off x="804672" y="1124712"/>
            <a:ext cx="10972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ServiceNow</a:t>
            </a:r>
            <a:endParaRPr lang="en-US" sz="850" dirty="0"/>
          </a:p>
        </p:txBody>
      </p:sp>
      <p:sp>
        <p:nvSpPr>
          <p:cNvPr id="6" name="Shape 4"/>
          <p:cNvSpPr/>
          <p:nvPr/>
        </p:nvSpPr>
        <p:spPr>
          <a:xfrm>
            <a:off x="2039112" y="1170432"/>
            <a:ext cx="201168" cy="146304"/>
          </a:xfrm>
          <a:prstGeom prst="roundRect">
            <a:avLst>
              <a:gd name="adj" fmla="val 18750"/>
            </a:avLst>
          </a:prstGeom>
          <a:solidFill>
            <a:srgbClr val="ECEAFB"/>
          </a:solidFill>
          <a:ln w="12700">
            <a:solidFill>
              <a:srgbClr val="5145C7"/>
            </a:solidFill>
            <a:prstDash val="solid"/>
          </a:ln>
        </p:spPr>
      </p:sp>
      <p:sp>
        <p:nvSpPr>
          <p:cNvPr id="7" name="Text 5"/>
          <p:cNvSpPr/>
          <p:nvPr/>
        </p:nvSpPr>
        <p:spPr>
          <a:xfrm>
            <a:off x="2295144" y="1124712"/>
            <a:ext cx="15544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decision</a:t>
            </a:r>
            <a:endParaRPr lang="en-US" sz="850" dirty="0"/>
          </a:p>
        </p:txBody>
      </p:sp>
      <p:sp>
        <p:nvSpPr>
          <p:cNvPr id="8" name="Shape 6"/>
          <p:cNvSpPr/>
          <p:nvPr/>
        </p:nvSpPr>
        <p:spPr>
          <a:xfrm>
            <a:off x="3986784" y="1170432"/>
            <a:ext cx="201168" cy="146304"/>
          </a:xfrm>
          <a:prstGeom prst="roundRect">
            <a:avLst>
              <a:gd name="adj" fmla="val 18750"/>
            </a:avLst>
          </a:prstGeom>
          <a:solidFill>
            <a:srgbClr val="E4EFF7"/>
          </a:solidFill>
          <a:ln w="12700">
            <a:solidFill>
              <a:srgbClr val="2B6CB0"/>
            </a:solidFill>
            <a:prstDash val="solid"/>
          </a:ln>
        </p:spPr>
      </p:sp>
      <p:sp>
        <p:nvSpPr>
          <p:cNvPr id="9" name="Text 7"/>
          <p:cNvSpPr/>
          <p:nvPr/>
        </p:nvSpPr>
        <p:spPr>
          <a:xfrm>
            <a:off x="4242816" y="1124712"/>
            <a:ext cx="16459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execution</a:t>
            </a:r>
            <a:endParaRPr lang="en-US" sz="850" dirty="0"/>
          </a:p>
        </p:txBody>
      </p:sp>
      <p:sp>
        <p:nvSpPr>
          <p:cNvPr id="10" name="Shape 8"/>
          <p:cNvSpPr/>
          <p:nvPr/>
        </p:nvSpPr>
        <p:spPr>
          <a:xfrm>
            <a:off x="6025896" y="1170432"/>
            <a:ext cx="201168" cy="146304"/>
          </a:xfrm>
          <a:prstGeom prst="roundRect">
            <a:avLst>
              <a:gd name="adj" fmla="val 18750"/>
            </a:avLst>
          </a:prstGeom>
          <a:solidFill>
            <a:srgbClr val="EEF1F4"/>
          </a:solidFill>
          <a:ln w="12700">
            <a:solidFill>
              <a:srgbClr val="6B7280"/>
            </a:solidFill>
            <a:prstDash val="solid"/>
          </a:ln>
        </p:spPr>
      </p:sp>
      <p:sp>
        <p:nvSpPr>
          <p:cNvPr id="11" name="Text 9"/>
          <p:cNvSpPr/>
          <p:nvPr/>
        </p:nvSpPr>
        <p:spPr>
          <a:xfrm>
            <a:off x="6281928" y="1124712"/>
            <a:ext cx="7315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External</a:t>
            </a:r>
            <a:endParaRPr lang="en-US" sz="850" dirty="0"/>
          </a:p>
        </p:txBody>
      </p:sp>
      <p:sp>
        <p:nvSpPr>
          <p:cNvPr id="12" name="Shape 10"/>
          <p:cNvSpPr/>
          <p:nvPr/>
        </p:nvSpPr>
        <p:spPr>
          <a:xfrm>
            <a:off x="7150608" y="1170432"/>
            <a:ext cx="201168" cy="146304"/>
          </a:xfrm>
          <a:prstGeom prst="roundRect">
            <a:avLst>
              <a:gd name="adj" fmla="val 18750"/>
            </a:avLst>
          </a:prstGeom>
          <a:solidFill>
            <a:srgbClr val="FBEBE9"/>
          </a:solidFill>
          <a:ln w="12700">
            <a:solidFill>
              <a:srgbClr val="C0392B"/>
            </a:solidFill>
            <a:prstDash val="solid"/>
          </a:ln>
        </p:spPr>
      </p:sp>
      <p:sp>
        <p:nvSpPr>
          <p:cNvPr id="13" name="Text 11"/>
          <p:cNvSpPr/>
          <p:nvPr/>
        </p:nvSpPr>
        <p:spPr>
          <a:xfrm>
            <a:off x="7406640" y="1124712"/>
            <a:ext cx="6400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Stop</a:t>
            </a:r>
            <a:endParaRPr lang="en-US" sz="850" dirty="0"/>
          </a:p>
        </p:txBody>
      </p:sp>
      <p:sp>
        <p:nvSpPr>
          <p:cNvPr id="14" name="Shape 12"/>
          <p:cNvSpPr/>
          <p:nvPr/>
        </p:nvSpPr>
        <p:spPr>
          <a:xfrm>
            <a:off x="3383280" y="1444752"/>
            <a:ext cx="274320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3410712" y="1444752"/>
            <a:ext cx="2688336" cy="457200"/>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14532D"/>
                </a:solidFill>
                <a:latin typeface="Calibri" pitchFamily="34" charset="0"/>
                <a:ea typeface="Calibri" pitchFamily="34" charset="-122"/>
                <a:cs typeface="Calibri" pitchFamily="34" charset="-120"/>
              </a:rPr>
              <a:t>ServiceNow Service Catalog · RITM0102934</a:t>
            </a:r>
            <a:endParaRPr lang="en-US" sz="950" dirty="0"/>
          </a:p>
        </p:txBody>
      </p:sp>
      <p:sp>
        <p:nvSpPr>
          <p:cNvPr id="16" name="Shape 14"/>
          <p:cNvSpPr/>
          <p:nvPr/>
        </p:nvSpPr>
        <p:spPr>
          <a:xfrm>
            <a:off x="3383280" y="2139696"/>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7" name="Text 15"/>
          <p:cNvSpPr/>
          <p:nvPr/>
        </p:nvSpPr>
        <p:spPr>
          <a:xfrm>
            <a:off x="3410712" y="2139696"/>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Decision Authority</a:t>
            </a:r>
            <a:endParaRPr lang="en-US" sz="1050" dirty="0"/>
          </a:p>
        </p:txBody>
      </p:sp>
      <p:sp>
        <p:nvSpPr>
          <p:cNvPr id="18" name="Shape 16"/>
          <p:cNvSpPr/>
          <p:nvPr/>
        </p:nvSpPr>
        <p:spPr>
          <a:xfrm>
            <a:off x="3383280" y="2834640"/>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3410712" y="283464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ActionGate</a:t>
            </a:r>
            <a:endParaRPr lang="en-US" sz="1050" dirty="0"/>
          </a:p>
        </p:txBody>
      </p:sp>
      <p:sp>
        <p:nvSpPr>
          <p:cNvPr id="20" name="Shape 18"/>
          <p:cNvSpPr/>
          <p:nvPr/>
        </p:nvSpPr>
        <p:spPr>
          <a:xfrm>
            <a:off x="3383280" y="3529584"/>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21" name="Text 19"/>
          <p:cNvSpPr/>
          <p:nvPr/>
        </p:nvSpPr>
        <p:spPr>
          <a:xfrm>
            <a:off x="3410712" y="3529584"/>
            <a:ext cx="2688336" cy="457200"/>
          </a:xfrm>
          <a:prstGeom prst="rect">
            <a:avLst/>
          </a:prstGeom>
          <a:noFill/>
          <a:ln/>
        </p:spPr>
        <p:txBody>
          <a:bodyPr wrap="square" lIns="12700" tIns="12700" rIns="12700" bIns="12700" rtlCol="0" anchor="ctr"/>
          <a:lstStyle/>
          <a:p>
            <a:pPr algn="ctr" indent="0" marL="0">
              <a:lnSpc>
                <a:spcPct val="92000"/>
              </a:lnSpc>
              <a:buNone/>
            </a:pPr>
            <a:r>
              <a:rPr lang="en-US" sz="1000" b="1" dirty="0">
                <a:solidFill>
                  <a:srgbClr val="2A2170"/>
                </a:solidFill>
                <a:latin typeface="Calibri" pitchFamily="34" charset="0"/>
                <a:ea typeface="Calibri" pitchFamily="34" charset="-122"/>
                <a:cs typeface="Calibri" pitchFamily="34" charset="-120"/>
              </a:rPr>
              <a:t>Action Clearance · SoD + risk veto</a:t>
            </a:r>
            <a:endParaRPr lang="en-US" sz="1000" dirty="0"/>
          </a:p>
        </p:txBody>
      </p:sp>
      <p:sp>
        <p:nvSpPr>
          <p:cNvPr id="22" name="Shape 20"/>
          <p:cNvSpPr/>
          <p:nvPr/>
        </p:nvSpPr>
        <p:spPr>
          <a:xfrm>
            <a:off x="3383280" y="4224528"/>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3" name="Text 21"/>
          <p:cNvSpPr/>
          <p:nvPr/>
        </p:nvSpPr>
        <p:spPr>
          <a:xfrm>
            <a:off x="3410712" y="4224528"/>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Agent Runtime · provisioning</a:t>
            </a:r>
            <a:endParaRPr lang="en-US" sz="1050" dirty="0"/>
          </a:p>
        </p:txBody>
      </p:sp>
      <p:sp>
        <p:nvSpPr>
          <p:cNvPr id="24" name="Shape 22"/>
          <p:cNvSpPr/>
          <p:nvPr/>
        </p:nvSpPr>
        <p:spPr>
          <a:xfrm>
            <a:off x="3383280" y="4919472"/>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5" name="Text 23"/>
          <p:cNvSpPr/>
          <p:nvPr/>
        </p:nvSpPr>
        <p:spPr>
          <a:xfrm>
            <a:off x="3410712" y="4919472"/>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RA-8 Execution Assurance</a:t>
            </a:r>
            <a:endParaRPr lang="en-US" sz="1050" dirty="0"/>
          </a:p>
        </p:txBody>
      </p:sp>
      <p:sp>
        <p:nvSpPr>
          <p:cNvPr id="26" name="Shape 24"/>
          <p:cNvSpPr/>
          <p:nvPr/>
        </p:nvSpPr>
        <p:spPr>
          <a:xfrm>
            <a:off x="3383280" y="5614416"/>
            <a:ext cx="274320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27" name="Text 25"/>
          <p:cNvSpPr/>
          <p:nvPr/>
        </p:nvSpPr>
        <p:spPr>
          <a:xfrm>
            <a:off x="3410712" y="5614416"/>
            <a:ext cx="2688336" cy="457200"/>
          </a:xfrm>
          <a:prstGeom prst="rect">
            <a:avLst/>
          </a:prstGeom>
          <a:noFill/>
          <a:ln/>
        </p:spPr>
        <p:txBody>
          <a:bodyPr wrap="square" lIns="12700" tIns="12700" rIns="12700" bIns="12700" rtlCol="0" anchor="ctr"/>
          <a:lstStyle/>
          <a:p>
            <a:pPr algn="ctr" indent="0" marL="0">
              <a:lnSpc>
                <a:spcPct val="92000"/>
              </a:lnSpc>
              <a:buNone/>
            </a:pPr>
            <a:r>
              <a:rPr lang="en-US" sz="1000" b="1" dirty="0">
                <a:solidFill>
                  <a:srgbClr val="14532D"/>
                </a:solidFill>
                <a:latin typeface="Calibri" pitchFamily="34" charset="0"/>
                <a:ea typeface="Calibri" pitchFamily="34" charset="-122"/>
                <a:cs typeface="Calibri" pitchFamily="34" charset="-120"/>
              </a:rPr>
              <a:t>ServiceNow Request record</a:t>
            </a:r>
            <a:endParaRPr lang="en-US" sz="1000" dirty="0"/>
          </a:p>
        </p:txBody>
      </p:sp>
      <p:sp>
        <p:nvSpPr>
          <p:cNvPr id="28" name="Shape 26"/>
          <p:cNvSpPr/>
          <p:nvPr/>
        </p:nvSpPr>
        <p:spPr>
          <a:xfrm>
            <a:off x="4754880" y="1901952"/>
            <a:ext cx="914" cy="237744"/>
          </a:xfrm>
          <a:prstGeom prst="line">
            <a:avLst/>
          </a:prstGeom>
          <a:noFill/>
          <a:ln w="22225">
            <a:solidFill>
              <a:srgbClr val="4B5563"/>
            </a:solidFill>
            <a:prstDash val="solid"/>
            <a:tailEnd type="triangle"/>
          </a:ln>
        </p:spPr>
      </p:sp>
      <p:sp>
        <p:nvSpPr>
          <p:cNvPr id="29" name="Text 27"/>
          <p:cNvSpPr/>
          <p:nvPr/>
        </p:nvSpPr>
        <p:spPr>
          <a:xfrm>
            <a:off x="3794760" y="190195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access request + approval</a:t>
            </a:r>
            <a:endParaRPr lang="en-US" sz="800" dirty="0"/>
          </a:p>
        </p:txBody>
      </p:sp>
      <p:sp>
        <p:nvSpPr>
          <p:cNvPr id="30" name="Shape 28"/>
          <p:cNvSpPr/>
          <p:nvPr/>
        </p:nvSpPr>
        <p:spPr>
          <a:xfrm>
            <a:off x="4754880" y="2596896"/>
            <a:ext cx="914" cy="237744"/>
          </a:xfrm>
          <a:prstGeom prst="line">
            <a:avLst/>
          </a:prstGeom>
          <a:noFill/>
          <a:ln w="22225">
            <a:solidFill>
              <a:srgbClr val="4B5563"/>
            </a:solidFill>
            <a:prstDash val="solid"/>
            <a:tailEnd type="triangle"/>
          </a:ln>
        </p:spPr>
      </p:sp>
      <p:sp>
        <p:nvSpPr>
          <p:cNvPr id="31" name="Text 29"/>
          <p:cNvSpPr/>
          <p:nvPr/>
        </p:nvSpPr>
        <p:spPr>
          <a:xfrm>
            <a:off x="3794760" y="259689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binding decision record</a:t>
            </a:r>
            <a:endParaRPr lang="en-US" sz="800" dirty="0"/>
          </a:p>
        </p:txBody>
      </p:sp>
      <p:sp>
        <p:nvSpPr>
          <p:cNvPr id="32" name="Shape 30"/>
          <p:cNvSpPr/>
          <p:nvPr/>
        </p:nvSpPr>
        <p:spPr>
          <a:xfrm>
            <a:off x="4754880" y="3291840"/>
            <a:ext cx="914" cy="237744"/>
          </a:xfrm>
          <a:prstGeom prst="line">
            <a:avLst/>
          </a:prstGeom>
          <a:noFill/>
          <a:ln w="22225">
            <a:solidFill>
              <a:srgbClr val="4B5563"/>
            </a:solidFill>
            <a:prstDash val="solid"/>
            <a:tailEnd type="triangle"/>
          </a:ln>
        </p:spPr>
      </p:sp>
      <p:sp>
        <p:nvSpPr>
          <p:cNvPr id="33" name="Text 31"/>
          <p:cNvSpPr/>
          <p:nvPr/>
        </p:nvSpPr>
        <p:spPr>
          <a:xfrm>
            <a:off x="3794760" y="3291840"/>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exact-entitlement authorization</a:t>
            </a:r>
            <a:endParaRPr lang="en-US" sz="800" dirty="0"/>
          </a:p>
        </p:txBody>
      </p:sp>
      <p:sp>
        <p:nvSpPr>
          <p:cNvPr id="34" name="Shape 32"/>
          <p:cNvSpPr/>
          <p:nvPr/>
        </p:nvSpPr>
        <p:spPr>
          <a:xfrm>
            <a:off x="4754880" y="3986784"/>
            <a:ext cx="914" cy="237744"/>
          </a:xfrm>
          <a:prstGeom prst="line">
            <a:avLst/>
          </a:prstGeom>
          <a:noFill/>
          <a:ln w="22225">
            <a:solidFill>
              <a:srgbClr val="4B5563"/>
            </a:solidFill>
            <a:prstDash val="solid"/>
            <a:tailEnd type="triangle"/>
          </a:ln>
        </p:spPr>
      </p:sp>
      <p:sp>
        <p:nvSpPr>
          <p:cNvPr id="35" name="Text 33"/>
          <p:cNvSpPr/>
          <p:nvPr/>
        </p:nvSpPr>
        <p:spPr>
          <a:xfrm>
            <a:off x="3794760" y="398678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CLEAR</a:t>
            </a:r>
            <a:endParaRPr lang="en-US" sz="800" dirty="0"/>
          </a:p>
        </p:txBody>
      </p:sp>
      <p:sp>
        <p:nvSpPr>
          <p:cNvPr id="36" name="Shape 34"/>
          <p:cNvSpPr/>
          <p:nvPr/>
        </p:nvSpPr>
        <p:spPr>
          <a:xfrm>
            <a:off x="4754880" y="4681728"/>
            <a:ext cx="914" cy="237744"/>
          </a:xfrm>
          <a:prstGeom prst="line">
            <a:avLst/>
          </a:prstGeom>
          <a:noFill/>
          <a:ln w="22225">
            <a:solidFill>
              <a:srgbClr val="4B5563"/>
            </a:solidFill>
            <a:prstDash val="solid"/>
            <a:tailEnd type="triangle"/>
          </a:ln>
        </p:spPr>
      </p:sp>
      <p:sp>
        <p:nvSpPr>
          <p:cNvPr id="37" name="Text 35"/>
          <p:cNvSpPr/>
          <p:nvPr/>
        </p:nvSpPr>
        <p:spPr>
          <a:xfrm>
            <a:off x="3794760" y="468172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execution receipt</a:t>
            </a:r>
            <a:endParaRPr lang="en-US" sz="800" dirty="0"/>
          </a:p>
        </p:txBody>
      </p:sp>
      <p:sp>
        <p:nvSpPr>
          <p:cNvPr id="38" name="Shape 36"/>
          <p:cNvSpPr/>
          <p:nvPr/>
        </p:nvSpPr>
        <p:spPr>
          <a:xfrm>
            <a:off x="4754880" y="5376672"/>
            <a:ext cx="914" cy="237744"/>
          </a:xfrm>
          <a:prstGeom prst="line">
            <a:avLst/>
          </a:prstGeom>
          <a:noFill/>
          <a:ln w="22225">
            <a:solidFill>
              <a:srgbClr val="4B5563"/>
            </a:solidFill>
            <a:prstDash val="solid"/>
            <a:tailEnd type="triangle"/>
          </a:ln>
        </p:spPr>
      </p:sp>
      <p:sp>
        <p:nvSpPr>
          <p:cNvPr id="39" name="Text 37"/>
          <p:cNvSpPr/>
          <p:nvPr/>
        </p:nvSpPr>
        <p:spPr>
          <a:xfrm>
            <a:off x="3794760" y="537667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only authorized entitlement granted</a:t>
            </a:r>
            <a:endParaRPr lang="en-US" sz="800" dirty="0"/>
          </a:p>
        </p:txBody>
      </p:sp>
      <p:sp>
        <p:nvSpPr>
          <p:cNvPr id="40" name="Shape 38"/>
          <p:cNvSpPr/>
          <p:nvPr/>
        </p:nvSpPr>
        <p:spPr>
          <a:xfrm>
            <a:off x="777240" y="4178808"/>
            <a:ext cx="1737360" cy="548640"/>
          </a:xfrm>
          <a:prstGeom prst="can">
            <a:avLst/>
          </a:prstGeom>
          <a:solidFill>
            <a:srgbClr val="EEF1F4"/>
          </a:solidFill>
          <a:ln w="19050">
            <a:solidFill>
              <a:srgbClr val="6B7280"/>
            </a:solidFill>
            <a:prstDash val="solid"/>
          </a:ln>
          <a:effectLst>
            <a:outerShdw sx="100000" sy="100000" kx="0" ky="0" algn="bl" rotWithShape="0" blurRad="50800" dist="19050" dir="5400000">
              <a:srgbClr val="8A94A6">
                <a:alpha val="28000"/>
              </a:srgbClr>
            </a:outerShdw>
          </a:effectLst>
        </p:spPr>
      </p:sp>
      <p:sp>
        <p:nvSpPr>
          <p:cNvPr id="41" name="Text 39"/>
          <p:cNvSpPr/>
          <p:nvPr/>
        </p:nvSpPr>
        <p:spPr>
          <a:xfrm>
            <a:off x="804672" y="4233672"/>
            <a:ext cx="1682496" cy="475488"/>
          </a:xfrm>
          <a:prstGeom prst="rect">
            <a:avLst/>
          </a:prstGeom>
          <a:noFill/>
          <a:ln/>
        </p:spPr>
        <p:txBody>
          <a:bodyPr wrap="square" lIns="12700" tIns="12700" rIns="12700" bIns="12700" rtlCol="0" anchor="ctr"/>
          <a:lstStyle/>
          <a:p>
            <a:pPr algn="ctr" indent="0" marL="0">
              <a:lnSpc>
                <a:spcPct val="92000"/>
              </a:lnSpc>
              <a:buNone/>
            </a:pPr>
            <a:r>
              <a:rPr lang="en-US" sz="900" b="1" dirty="0">
                <a:solidFill>
                  <a:srgbClr val="374151"/>
                </a:solidFill>
                <a:latin typeface="Calibri" pitchFamily="34" charset="0"/>
                <a:ea typeface="Calibri" pitchFamily="34" charset="-122"/>
                <a:cs typeface="Calibri" pitchFamily="34" charset="-120"/>
              </a:rPr>
              <a:t>ERP entitlement</a:t>
            </a:r>
            <a:endParaRPr lang="en-US" sz="900" dirty="0"/>
          </a:p>
          <a:p>
            <a:pPr algn="ctr" indent="0" marL="0">
              <a:lnSpc>
                <a:spcPct val="92000"/>
              </a:lnSpc>
              <a:buNone/>
            </a:pPr>
            <a:r>
              <a:rPr lang="en-US" sz="900" b="1" dirty="0">
                <a:solidFill>
                  <a:srgbClr val="374151"/>
                </a:solidFill>
                <a:latin typeface="Calibri" pitchFamily="34" charset="0"/>
                <a:ea typeface="Calibri" pitchFamily="34" charset="-122"/>
                <a:cs typeface="Calibri" pitchFamily="34" charset="-120"/>
              </a:rPr>
              <a:t>system</a:t>
            </a:r>
            <a:endParaRPr lang="en-US" sz="900" dirty="0"/>
          </a:p>
        </p:txBody>
      </p:sp>
      <p:sp>
        <p:nvSpPr>
          <p:cNvPr id="42" name="Shape 40"/>
          <p:cNvSpPr/>
          <p:nvPr/>
        </p:nvSpPr>
        <p:spPr>
          <a:xfrm flipH="1">
            <a:off x="2514600" y="4379976"/>
            <a:ext cx="868680" cy="914"/>
          </a:xfrm>
          <a:prstGeom prst="line">
            <a:avLst/>
          </a:prstGeom>
          <a:noFill/>
          <a:ln w="22225">
            <a:solidFill>
              <a:srgbClr val="4B5563"/>
            </a:solidFill>
            <a:prstDash val="solid"/>
            <a:tailEnd type="triangle"/>
          </a:ln>
        </p:spPr>
      </p:sp>
      <p:sp>
        <p:nvSpPr>
          <p:cNvPr id="43" name="Text 41"/>
          <p:cNvSpPr/>
          <p:nvPr/>
        </p:nvSpPr>
        <p:spPr>
          <a:xfrm>
            <a:off x="2468880" y="4261104"/>
            <a:ext cx="96012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6B7280"/>
                </a:solidFill>
                <a:latin typeface="Calibri" pitchFamily="34" charset="0"/>
                <a:ea typeface="Calibri" pitchFamily="34" charset="-122"/>
                <a:cs typeface="Calibri" pitchFamily="34" charset="-120"/>
              </a:rPr>
              <a:t>provision</a:t>
            </a:r>
            <a:endParaRPr lang="en-US" sz="700" dirty="0"/>
          </a:p>
        </p:txBody>
      </p:sp>
      <p:sp>
        <p:nvSpPr>
          <p:cNvPr id="44" name="Shape 42"/>
          <p:cNvSpPr/>
          <p:nvPr/>
        </p:nvSpPr>
        <p:spPr>
          <a:xfrm>
            <a:off x="2514600" y="4599432"/>
            <a:ext cx="868680" cy="914"/>
          </a:xfrm>
          <a:prstGeom prst="line">
            <a:avLst/>
          </a:prstGeom>
          <a:noFill/>
          <a:ln w="22225">
            <a:solidFill>
              <a:srgbClr val="4B5563"/>
            </a:solidFill>
            <a:prstDash val="solid"/>
            <a:tailEnd type="triangle"/>
          </a:ln>
        </p:spPr>
      </p:sp>
      <p:sp>
        <p:nvSpPr>
          <p:cNvPr id="45" name="Text 43"/>
          <p:cNvSpPr/>
          <p:nvPr/>
        </p:nvSpPr>
        <p:spPr>
          <a:xfrm>
            <a:off x="2468880" y="4480560"/>
            <a:ext cx="96012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6B7280"/>
                </a:solidFill>
                <a:latin typeface="Calibri" pitchFamily="34" charset="0"/>
                <a:ea typeface="Calibri" pitchFamily="34" charset="-122"/>
                <a:cs typeface="Calibri" pitchFamily="34" charset="-120"/>
              </a:rPr>
              <a:t>outcome</a:t>
            </a:r>
            <a:endParaRPr lang="en-US" sz="700" dirty="0"/>
          </a:p>
        </p:txBody>
      </p:sp>
      <p:sp>
        <p:nvSpPr>
          <p:cNvPr id="46" name="Shape 44"/>
          <p:cNvSpPr/>
          <p:nvPr/>
        </p:nvSpPr>
        <p:spPr>
          <a:xfrm>
            <a:off x="8092440" y="2834640"/>
            <a:ext cx="2286000" cy="1152144"/>
          </a:xfrm>
          <a:prstGeom prst="roundRect">
            <a:avLst>
              <a:gd name="adj" fmla="val 4762"/>
            </a:avLst>
          </a:prstGeom>
          <a:solidFill>
            <a:srgbClr val="FBEBE9"/>
          </a:solidFill>
          <a:ln w="15875">
            <a:solidFill>
              <a:srgbClr val="C0392B"/>
            </a:solidFill>
            <a:prstDash val="solid"/>
          </a:ln>
        </p:spPr>
      </p:sp>
      <p:sp>
        <p:nvSpPr>
          <p:cNvPr id="47" name="Text 45"/>
          <p:cNvSpPr/>
          <p:nvPr/>
        </p:nvSpPr>
        <p:spPr>
          <a:xfrm>
            <a:off x="8183880" y="2834640"/>
            <a:ext cx="2103120" cy="1152144"/>
          </a:xfrm>
          <a:prstGeom prst="rect">
            <a:avLst/>
          </a:prstGeom>
          <a:noFill/>
          <a:ln/>
        </p:spPr>
        <p:txBody>
          <a:bodyPr wrap="square" lIns="25400" tIns="25400" rIns="25400" bIns="25400" rtlCol="0" anchor="ctr"/>
          <a:lstStyle/>
          <a:p>
            <a:pPr algn="ctr" indent="0" marL="0">
              <a:buNone/>
            </a:pPr>
            <a:r>
              <a:rPr lang="en-US" sz="1000" b="1" dirty="0">
                <a:solidFill>
                  <a:srgbClr val="7A2016"/>
                </a:solidFill>
                <a:latin typeface="Calibri" pitchFamily="34" charset="0"/>
                <a:ea typeface="Calibri" pitchFamily="34" charset="-122"/>
                <a:cs typeface="Calibri" pitchFamily="34" charset="-120"/>
              </a:rPr>
              <a:t>BLOCK / ESCALATE</a:t>
            </a:r>
            <a:endParaRPr lang="en-US" sz="1000" dirty="0"/>
          </a:p>
          <a:p>
            <a:pPr algn="ctr" indent="0" marL="0">
              <a:buNone/>
            </a:pPr>
            <a:r>
              <a:rPr lang="en-US" sz="1000" b="1" dirty="0">
                <a:solidFill>
                  <a:srgbClr val="7A2016"/>
                </a:solidFill>
                <a:latin typeface="Calibri" pitchFamily="34" charset="0"/>
                <a:ea typeface="Calibri" pitchFamily="34" charset="-122"/>
                <a:cs typeface="Calibri" pitchFamily="34" charset="-120"/>
              </a:rPr>
              <a:t>no grant · human review</a:t>
            </a:r>
            <a:endParaRPr lang="en-US" sz="1000" dirty="0"/>
          </a:p>
        </p:txBody>
      </p:sp>
      <p:sp>
        <p:nvSpPr>
          <p:cNvPr id="48" name="Shape 46"/>
          <p:cNvSpPr/>
          <p:nvPr/>
        </p:nvSpPr>
        <p:spPr>
          <a:xfrm>
            <a:off x="6126480" y="3063240"/>
            <a:ext cx="1965960" cy="914"/>
          </a:xfrm>
          <a:prstGeom prst="line">
            <a:avLst/>
          </a:prstGeom>
          <a:noFill/>
          <a:ln w="22225">
            <a:solidFill>
              <a:srgbClr val="C0392B"/>
            </a:solidFill>
            <a:prstDash val="solid"/>
            <a:tailEnd type="triangle"/>
          </a:ln>
        </p:spPr>
      </p:sp>
      <p:sp>
        <p:nvSpPr>
          <p:cNvPr id="49" name="Text 47"/>
          <p:cNvSpPr/>
          <p:nvPr/>
        </p:nvSpPr>
        <p:spPr>
          <a:xfrm>
            <a:off x="6377940" y="2944368"/>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DENIED / INDET.</a:t>
            </a:r>
            <a:endParaRPr lang="en-US" sz="750" dirty="0"/>
          </a:p>
        </p:txBody>
      </p:sp>
      <p:sp>
        <p:nvSpPr>
          <p:cNvPr id="50" name="Shape 48"/>
          <p:cNvSpPr/>
          <p:nvPr/>
        </p:nvSpPr>
        <p:spPr>
          <a:xfrm>
            <a:off x="6126480" y="3758184"/>
            <a:ext cx="1965960" cy="914"/>
          </a:xfrm>
          <a:prstGeom prst="line">
            <a:avLst/>
          </a:prstGeom>
          <a:noFill/>
          <a:ln w="22225">
            <a:solidFill>
              <a:srgbClr val="C0392B"/>
            </a:solidFill>
            <a:prstDash val="solid"/>
            <a:tailEnd type="triangle"/>
          </a:ln>
        </p:spPr>
      </p:sp>
      <p:sp>
        <p:nvSpPr>
          <p:cNvPr id="51" name="Text 49"/>
          <p:cNvSpPr/>
          <p:nvPr/>
        </p:nvSpPr>
        <p:spPr>
          <a:xfrm>
            <a:off x="6286500" y="3639312"/>
            <a:ext cx="164592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SoD conflict → BLOCK</a:t>
            </a:r>
            <a:endParaRPr lang="en-US" sz="750" dirty="0"/>
          </a:p>
        </p:txBody>
      </p:sp>
      <p:sp>
        <p:nvSpPr>
          <p:cNvPr id="52" name="Shape 50"/>
          <p:cNvSpPr/>
          <p:nvPr/>
        </p:nvSpPr>
        <p:spPr>
          <a:xfrm>
            <a:off x="9235440" y="3986784"/>
            <a:ext cx="914" cy="1856232"/>
          </a:xfrm>
          <a:prstGeom prst="line">
            <a:avLst/>
          </a:prstGeom>
          <a:noFill/>
          <a:ln w="22225">
            <a:solidFill>
              <a:srgbClr val="4B5563"/>
            </a:solidFill>
            <a:prstDash val="solid"/>
            <a:tailEnd type="triangle"/>
          </a:ln>
        </p:spPr>
      </p:sp>
      <p:sp>
        <p:nvSpPr>
          <p:cNvPr id="53" name="Text 51"/>
          <p:cNvSpPr/>
          <p:nvPr/>
        </p:nvSpPr>
        <p:spPr>
          <a:xfrm>
            <a:off x="8366760" y="4796028"/>
            <a:ext cx="173736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6B7280"/>
                </a:solidFill>
                <a:latin typeface="Calibri" pitchFamily="34" charset="0"/>
                <a:ea typeface="Calibri" pitchFamily="34" charset="-122"/>
                <a:cs typeface="Calibri" pitchFamily="34" charset="-120"/>
              </a:rPr>
              <a:t>SoD reason + evidence</a:t>
            </a:r>
            <a:endParaRPr lang="en-US" sz="750" dirty="0"/>
          </a:p>
        </p:txBody>
      </p:sp>
      <p:sp>
        <p:nvSpPr>
          <p:cNvPr id="54" name="Shape 52"/>
          <p:cNvSpPr/>
          <p:nvPr/>
        </p:nvSpPr>
        <p:spPr>
          <a:xfrm flipH="1">
            <a:off x="6126480" y="5843016"/>
            <a:ext cx="3108960" cy="914"/>
          </a:xfrm>
          <a:prstGeom prst="line">
            <a:avLst/>
          </a:prstGeom>
          <a:noFill/>
          <a:ln w="22225">
            <a:solidFill>
              <a:srgbClr val="4B5563"/>
            </a:solidFill>
            <a:prstDash val="solid"/>
            <a:tailEnd type="triangle"/>
          </a:ln>
        </p:spPr>
      </p:sp>
      <p:sp>
        <p:nvSpPr>
          <p:cNvPr id="55" name="Text 53"/>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The decisive control is the SoD conflict at clearance time — the action can be perfectly authorized and still be blocked. Illustrative.</a:t>
            </a:r>
            <a:endParaRPr lang="en-US" sz="850" dirty="0"/>
          </a:p>
        </p:txBody>
      </p:sp>
      <p:sp>
        <p:nvSpPr>
          <p:cNvPr id="57" name="Text 54"/>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32</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UC-6 · ACCESS PROVISIONING</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Human-control boundary, and business &amp; pilot metrics</a:t>
            </a:r>
            <a:endParaRPr lang="en-US" sz="2600" dirty="0"/>
          </a:p>
        </p:txBody>
      </p:sp>
      <p:sp>
        <p:nvSpPr>
          <p:cNvPr id="4" name="Shape 2"/>
          <p:cNvSpPr/>
          <p:nvPr/>
        </p:nvSpPr>
        <p:spPr>
          <a:xfrm>
            <a:off x="548640" y="1371600"/>
            <a:ext cx="5486400" cy="4663440"/>
          </a:xfrm>
          <a:prstGeom prst="roundRect">
            <a:avLst>
              <a:gd name="adj" fmla="val 1176"/>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713232" y="1481328"/>
            <a:ext cx="5157216" cy="310896"/>
          </a:xfrm>
          <a:prstGeom prst="rect">
            <a:avLst/>
          </a:prstGeom>
          <a:noFill/>
          <a:ln/>
        </p:spPr>
        <p:txBody>
          <a:bodyPr wrap="square" lIns="0" tIns="0" rIns="0" bIns="0" rtlCol="0" anchor="ctr"/>
          <a:lstStyle/>
          <a:p>
            <a:pPr algn="l" indent="0" marL="0">
              <a:buNone/>
            </a:pPr>
            <a:r>
              <a:rPr lang="en-US" sz="1250" b="1" dirty="0">
                <a:solidFill>
                  <a:srgbClr val="2A2170"/>
                </a:solidFill>
                <a:latin typeface="Calibri" pitchFamily="34" charset="0"/>
                <a:ea typeface="Calibri" pitchFamily="34" charset="-122"/>
                <a:cs typeface="Calibri" pitchFamily="34" charset="-120"/>
              </a:rPr>
              <a:t>Human-control boundary</a:t>
            </a:r>
            <a:endParaRPr lang="en-US" sz="1250" dirty="0"/>
          </a:p>
        </p:txBody>
      </p:sp>
      <p:sp>
        <p:nvSpPr>
          <p:cNvPr id="6" name="Text 4"/>
          <p:cNvSpPr/>
          <p:nvPr/>
        </p:nvSpPr>
        <p:spPr>
          <a:xfrm>
            <a:off x="713232" y="1828800"/>
            <a:ext cx="5157216" cy="4096512"/>
          </a:xfrm>
          <a:prstGeom prst="rect">
            <a:avLst/>
          </a:prstGeom>
          <a:noFill/>
          <a:ln/>
        </p:spPr>
        <p:txBody>
          <a:bodyPr wrap="square" lIns="0" tIns="0" rIns="0" bIns="0" rtlCol="0" anchor="t"/>
          <a:lstStyle/>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Autonomous: fulfilling entitlements with NO SoD conflict and a clear risk posture</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Forces HOLD / ESCALATE / BLOCK: any SoD conflict, elevated risk posture, disabled account, expired authority</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Human-binding: the access-grant authority delegation; any entitlement outside scope</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Limits: exactly one entitlement per authorization; reversibility; SoD rule as a hard veto</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Fail-closed: if SoD state or approval cannot be established, the request is not treated as permitted</a:t>
            </a:r>
            <a:endParaRPr lang="en-US" sz="1100" dirty="0"/>
          </a:p>
        </p:txBody>
      </p:sp>
      <p:sp>
        <p:nvSpPr>
          <p:cNvPr id="7" name="Shape 5"/>
          <p:cNvSpPr/>
          <p:nvPr/>
        </p:nvSpPr>
        <p:spPr>
          <a:xfrm>
            <a:off x="6172200" y="1371600"/>
            <a:ext cx="5486400" cy="4663440"/>
          </a:xfrm>
          <a:prstGeom prst="roundRect">
            <a:avLst>
              <a:gd name="adj" fmla="val 1176"/>
            </a:avLst>
          </a:prstGeom>
          <a:solidFill>
            <a:srgbClr val="FFFFFF"/>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8" name="Text 6"/>
          <p:cNvSpPr/>
          <p:nvPr/>
        </p:nvSpPr>
        <p:spPr>
          <a:xfrm>
            <a:off x="6336792" y="1481328"/>
            <a:ext cx="5157216" cy="310896"/>
          </a:xfrm>
          <a:prstGeom prst="rect">
            <a:avLst/>
          </a:prstGeom>
          <a:noFill/>
          <a:ln/>
        </p:spPr>
        <p:txBody>
          <a:bodyPr wrap="square" lIns="0" tIns="0" rIns="0" bIns="0" rtlCol="0" anchor="ctr"/>
          <a:lstStyle/>
          <a:p>
            <a:pPr algn="l" indent="0" marL="0">
              <a:buNone/>
            </a:pPr>
            <a:r>
              <a:rPr lang="en-US" sz="1250" b="1" dirty="0">
                <a:solidFill>
                  <a:srgbClr val="173A5A"/>
                </a:solidFill>
                <a:latin typeface="Calibri" pitchFamily="34" charset="0"/>
                <a:ea typeface="Calibri" pitchFamily="34" charset="-122"/>
                <a:cs typeface="Calibri" pitchFamily="34" charset="-120"/>
              </a:rPr>
              <a:t>Business outcome &amp; pilot metrics</a:t>
            </a:r>
            <a:endParaRPr lang="en-US" sz="1250" dirty="0"/>
          </a:p>
        </p:txBody>
      </p:sp>
      <p:sp>
        <p:nvSpPr>
          <p:cNvPr id="9" name="Text 7"/>
          <p:cNvSpPr/>
          <p:nvPr/>
        </p:nvSpPr>
        <p:spPr>
          <a:xfrm>
            <a:off x="6336792" y="1828800"/>
            <a:ext cx="5157216" cy="4096512"/>
          </a:xfrm>
          <a:prstGeom prst="rect">
            <a:avLst/>
          </a:prstGeom>
          <a:noFill/>
          <a:ln/>
        </p:spPr>
        <p:txBody>
          <a:bodyPr wrap="square" lIns="0" tIns="0" rIns="0" bIns="0" rtlCol="0" anchor="t"/>
          <a:lstStyle/>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Benefit:  fast self-service access without a queue.</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Risk prevented:  SoD violations and fraud exposure; silent AI self-grant.</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Evidence:  decision, exact-entitlement authorization, SoD clearance, effect-match (or a clean “no change” on block).</a:t>
            </a:r>
            <a:endParaRPr lang="en-US" sz="1050" dirty="0"/>
          </a:p>
          <a:p>
            <a:pPr algn="l" indent="0" marL="0">
              <a:lnSpc>
                <a:spcPct val="102000"/>
              </a:lnSpc>
              <a:buNone/>
            </a:pP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Possible pilot metrics:</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Access-policy violations prevented</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 of grants with matched effect</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Time saved per request</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Unauthorized-entitlement attempts blocked</a:t>
            </a:r>
            <a:endParaRPr lang="en-US" sz="1050" dirty="0"/>
          </a:p>
          <a:p>
            <a:pPr algn="l" indent="0" marL="0">
              <a:lnSpc>
                <a:spcPct val="102000"/>
              </a:lnSpc>
              <a:buNone/>
            </a:pP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Governed-value (developing):  fraud-exposure reduction attributed to blocked SoD conflicts, with preserved compliance.</a:t>
            </a:r>
            <a:endParaRPr lang="en-US" sz="1050" dirty="0"/>
          </a:p>
        </p:txBody>
      </p:sp>
      <p:sp>
        <p:nvSpPr>
          <p:cNvPr id="10" name="Text 8"/>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Governed-value attribution is a developing, cross-cutting capability — not an authorization gate.</a:t>
            </a:r>
            <a:endParaRPr lang="en-US" sz="850" dirty="0"/>
          </a:p>
        </p:txBody>
      </p:sp>
      <p:sp>
        <p:nvSpPr>
          <p:cNvPr id="12" name="Text 9"/>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33</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UC-3 · HIGH-RISK AI ACTION ENFORCEMENT</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A concrete, regulated illustrative example</a:t>
            </a:r>
            <a:endParaRPr lang="en-US" sz="2600" dirty="0"/>
          </a:p>
        </p:txBody>
      </p:sp>
      <p:sp>
        <p:nvSpPr>
          <p:cNvPr id="4" name="Shape 2"/>
          <p:cNvSpPr/>
          <p:nvPr/>
        </p:nvSpPr>
        <p:spPr>
          <a:xfrm>
            <a:off x="548640" y="1325880"/>
            <a:ext cx="11064240" cy="914400"/>
          </a:xfrm>
          <a:prstGeom prst="roundRect">
            <a:avLst>
              <a:gd name="adj" fmla="val 6000"/>
            </a:avLst>
          </a:prstGeom>
          <a:solidFill>
            <a:srgbClr val="ECEAFB"/>
          </a:solidFill>
          <a:ln w="12700">
            <a:solidFill>
              <a:srgbClr val="5145C7"/>
            </a:solidFill>
            <a:prstDash val="solid"/>
          </a:ln>
        </p:spPr>
      </p:sp>
      <p:sp>
        <p:nvSpPr>
          <p:cNvPr id="5" name="Text 3"/>
          <p:cNvSpPr/>
          <p:nvPr/>
        </p:nvSpPr>
        <p:spPr>
          <a:xfrm>
            <a:off x="777240" y="1371600"/>
            <a:ext cx="10607040" cy="841248"/>
          </a:xfrm>
          <a:prstGeom prst="rect">
            <a:avLst/>
          </a:prstGeom>
          <a:noFill/>
          <a:ln/>
        </p:spPr>
        <p:txBody>
          <a:bodyPr wrap="square" lIns="0" tIns="0" rIns="0" bIns="0" rtlCol="0" anchor="ctr"/>
          <a:lstStyle/>
          <a:p>
            <a:pPr indent="0" marL="0">
              <a:lnSpc>
                <a:spcPct val="105000"/>
              </a:lnSpc>
              <a:buNone/>
            </a:pPr>
            <a:r>
              <a:rPr lang="en-US" sz="1100" b="1" dirty="0">
                <a:solidFill>
                  <a:srgbClr val="2A2170"/>
                </a:solidFill>
                <a:latin typeface="Calibri" pitchFamily="34" charset="0"/>
                <a:ea typeface="Calibri" pitchFamily="34" charset="-122"/>
                <a:cs typeface="Calibri" pitchFamily="34" charset="-120"/>
              </a:rPr>
              <a:t>Illustrative (privileged system access).  </a:t>
            </a:r>
            <a:pPr indent="0" marL="0">
              <a:lnSpc>
                <a:spcPct val="105000"/>
              </a:lnSpc>
              <a:buNone/>
            </a:pPr>
            <a:r>
              <a:rPr lang="en-US" sz="1100" dirty="0">
                <a:solidFill>
                  <a:srgbClr val="1E2340"/>
                </a:solidFill>
                <a:latin typeface="Calibri" pitchFamily="34" charset="0"/>
                <a:ea typeface="Calibri" pitchFamily="34" charset="-122"/>
                <a:cs typeface="Calibri" pitchFamily="34" charset="-120"/>
              </a:rPr>
              <a:t>An AI use case classified high-risk is about to grant privileged production access automatically. The policy is approved and controls are on file — but at the moment of action, is every required control currently satisfied by trusted, re-checked evidence, or is the system relying on a stale, self-asserted “pass”?  Acting on out-of-date compliance evidence is exactly what audits punish.</a:t>
            </a:r>
            <a:endParaRPr lang="en-US" sz="1100" dirty="0"/>
          </a:p>
        </p:txBody>
      </p:sp>
      <p:sp>
        <p:nvSpPr>
          <p:cNvPr id="6" name="Text 4"/>
          <p:cNvSpPr/>
          <p:nvPr/>
        </p:nvSpPr>
        <p:spPr>
          <a:xfrm>
            <a:off x="548640" y="2423160"/>
            <a:ext cx="5486400" cy="292608"/>
          </a:xfrm>
          <a:prstGeom prst="rect">
            <a:avLst/>
          </a:prstGeom>
          <a:noFill/>
          <a:ln/>
        </p:spPr>
        <p:txBody>
          <a:bodyPr wrap="square" rtlCol="0" anchor="ctr"/>
          <a:lstStyle/>
          <a:p>
            <a:pPr indent="0" marL="0">
              <a:buNone/>
            </a:pPr>
            <a:r>
              <a:rPr lang="en-US" sz="1250" b="1" dirty="0">
                <a:solidFill>
                  <a:srgbClr val="2A2170"/>
                </a:solidFill>
                <a:latin typeface="Calibri" pitchFamily="34" charset="0"/>
                <a:ea typeface="Calibri" pitchFamily="34" charset="-122"/>
                <a:cs typeface="Calibri" pitchFamily="34" charset="-120"/>
              </a:rPr>
              <a:t>Discovery questions (not claims about ServiceNow)</a:t>
            </a:r>
            <a:endParaRPr lang="en-US" sz="1250" dirty="0"/>
          </a:p>
        </p:txBody>
      </p:sp>
      <p:sp>
        <p:nvSpPr>
          <p:cNvPr id="7" name="Text 5"/>
          <p:cNvSpPr/>
          <p:nvPr/>
        </p:nvSpPr>
        <p:spPr>
          <a:xfrm>
            <a:off x="594360" y="2788920"/>
            <a:ext cx="5440680" cy="1828800"/>
          </a:xfrm>
          <a:prstGeom prst="rect">
            <a:avLst/>
          </a:prstGeom>
          <a:noFill/>
          <a:ln/>
        </p:spPr>
        <p:txBody>
          <a:bodyPr wrap="square" rtlCol="0" anchor="ctr"/>
          <a:lstStyle/>
          <a:p>
            <a:pPr marL="152400" indent="-152400">
              <a:lnSpc>
                <a:spcPct val="105000"/>
              </a:lnSpc>
              <a:spcAft>
                <a:spcPts val="800"/>
              </a:spcAft>
              <a:buSzPct val="100000"/>
              <a:buChar char="•"/>
            </a:pPr>
            <a:r>
              <a:rPr lang="en-US" sz="1100" dirty="0">
                <a:solidFill>
                  <a:srgbClr val="1E2340"/>
                </a:solidFill>
                <a:latin typeface="Calibri" pitchFamily="34" charset="0"/>
                <a:ea typeface="Calibri" pitchFamily="34" charset="-122"/>
                <a:cs typeface="Calibri" pitchFamily="34" charset="-120"/>
              </a:rPr>
              <a:t>Is each control satisfied by trusted, re-checked evidence — not a caller-asserted pass?</a:t>
            </a:r>
            <a:endParaRPr lang="en-US" sz="1100" dirty="0"/>
          </a:p>
          <a:p>
            <a:pPr marL="152400" indent="-152400">
              <a:lnSpc>
                <a:spcPct val="105000"/>
              </a:lnSpc>
              <a:spcAft>
                <a:spcPts val="800"/>
              </a:spcAft>
              <a:buSzPct val="100000"/>
              <a:buChar char="•"/>
            </a:pPr>
            <a:r>
              <a:rPr lang="en-US" sz="1100" dirty="0">
                <a:solidFill>
                  <a:srgbClr val="1E2340"/>
                </a:solidFill>
                <a:latin typeface="Calibri" pitchFamily="34" charset="0"/>
                <a:ea typeface="Calibri" pitchFamily="34" charset="-122"/>
                <a:cs typeface="Calibri" pitchFamily="34" charset="-120"/>
              </a:rPr>
              <a:t>Is the resulting permission a signed, scoped, time-limited artifact a downstream gate can verify?</a:t>
            </a:r>
            <a:endParaRPr lang="en-US" sz="1100" dirty="0"/>
          </a:p>
          <a:p>
            <a:pPr marL="152400" indent="-152400">
              <a:lnSpc>
                <a:spcPct val="105000"/>
              </a:lnSpc>
              <a:spcAft>
                <a:spcPts val="800"/>
              </a:spcAft>
              <a:buSzPct val="100000"/>
              <a:buChar char="•"/>
            </a:pPr>
            <a:r>
              <a:rPr lang="en-US" sz="1100" dirty="0">
                <a:solidFill>
                  <a:srgbClr val="1E2340"/>
                </a:solidFill>
                <a:latin typeface="Calibri" pitchFamily="34" charset="0"/>
                <a:ea typeface="Calibri" pitchFamily="34" charset="-122"/>
                <a:cs typeface="Calibri" pitchFamily="34" charset="-120"/>
              </a:rPr>
              <a:t>Did the action that ran stay within the authorized scope?</a:t>
            </a:r>
            <a:endParaRPr lang="en-US" sz="1100" dirty="0"/>
          </a:p>
        </p:txBody>
      </p:sp>
      <p:sp>
        <p:nvSpPr>
          <p:cNvPr id="8" name="Shape 6"/>
          <p:cNvSpPr/>
          <p:nvPr/>
        </p:nvSpPr>
        <p:spPr>
          <a:xfrm>
            <a:off x="6172200" y="2423160"/>
            <a:ext cx="5486400" cy="3566160"/>
          </a:xfrm>
          <a:prstGeom prst="roundRect">
            <a:avLst>
              <a:gd name="adj" fmla="val 1538"/>
            </a:avLst>
          </a:prstGeom>
          <a:solidFill>
            <a:srgbClr val="E7F3EC"/>
          </a:solidFill>
          <a:ln w="12700">
            <a:solidFill>
              <a:srgbClr val="2E7D5B"/>
            </a:solidFill>
            <a:prstDash val="solid"/>
          </a:ln>
          <a:effectLst>
            <a:outerShdw sx="100000" sy="100000" kx="0" ky="0" algn="bl" rotWithShape="0" blurRad="50800" dist="19050" dir="5400000">
              <a:srgbClr val="8A94A6">
                <a:alpha val="28000"/>
              </a:srgbClr>
            </a:outerShdw>
          </a:effectLst>
        </p:spPr>
      </p:sp>
      <p:sp>
        <p:nvSpPr>
          <p:cNvPr id="9" name="Text 7"/>
          <p:cNvSpPr/>
          <p:nvPr/>
        </p:nvSpPr>
        <p:spPr>
          <a:xfrm>
            <a:off x="6336792" y="2532888"/>
            <a:ext cx="5157216" cy="310896"/>
          </a:xfrm>
          <a:prstGeom prst="rect">
            <a:avLst/>
          </a:prstGeom>
          <a:noFill/>
          <a:ln/>
        </p:spPr>
        <p:txBody>
          <a:bodyPr wrap="square" lIns="0" tIns="0" rIns="0" bIns="0" rtlCol="0" anchor="ctr"/>
          <a:lstStyle/>
          <a:p>
            <a:pPr algn="l" indent="0" marL="0">
              <a:buNone/>
            </a:pPr>
            <a:r>
              <a:rPr lang="en-US" sz="1250" b="1" dirty="0">
                <a:solidFill>
                  <a:srgbClr val="14532D"/>
                </a:solidFill>
                <a:latin typeface="Calibri" pitchFamily="34" charset="0"/>
                <a:ea typeface="Calibri" pitchFamily="34" charset="-122"/>
                <a:cs typeface="Calibri" pitchFamily="34" charset="-120"/>
              </a:rPr>
              <a:t>System-of-record stays with ServiceNow</a:t>
            </a:r>
            <a:endParaRPr lang="en-US" sz="1250" dirty="0"/>
          </a:p>
        </p:txBody>
      </p:sp>
      <p:sp>
        <p:nvSpPr>
          <p:cNvPr id="10" name="Text 8"/>
          <p:cNvSpPr/>
          <p:nvPr/>
        </p:nvSpPr>
        <p:spPr>
          <a:xfrm>
            <a:off x="6336792" y="2880360"/>
            <a:ext cx="5157216" cy="2999232"/>
          </a:xfrm>
          <a:prstGeom prst="rect">
            <a:avLst/>
          </a:prstGeom>
          <a:noFill/>
          <a:ln/>
        </p:spPr>
        <p:txBody>
          <a:bodyPr wrap="square" lIns="0" tIns="0" rIns="0" bIns="0" rtlCol="0" anchor="t"/>
          <a:lstStyle/>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AI Control Tower and AI Risk &amp; Compliance remain the governance systems of record — classification, multi-framework control mapping (EU AI Act, NIST AI RMF and others), and enforcement.</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Ugence proposes an independently verifiable, action-level authority artifact linked to CURRENT evidence — so a stale or self-asserted control cannot wave an action through.</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Anything not established in ServiceNow documentation is treated as a discovery hypothesis, not a claim.</a:t>
            </a:r>
            <a:endParaRPr lang="en-US" sz="1100" dirty="0"/>
          </a:p>
        </p:txBody>
      </p:sp>
      <p:sp>
        <p:nvSpPr>
          <p:cNvPr id="11" name="Text 9"/>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Illustrative example — not a customer deployment. AICT / AI Risk &amp; Compliance remain the governance systems of record.</a:t>
            </a:r>
            <a:endParaRPr lang="en-US" sz="850" dirty="0"/>
          </a:p>
        </p:txBody>
      </p:sp>
      <p:sp>
        <p:nvSpPr>
          <p:cNvPr id="13" name="Text 10"/>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34</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UC-3 · HIGH-RISK AI ACTION ENFORCEMENT</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Technical module workflow — evidence-linked signed authority</a:t>
            </a:r>
            <a:endParaRPr lang="en-US" sz="2600" dirty="0"/>
          </a:p>
        </p:txBody>
      </p:sp>
      <p:sp>
        <p:nvSpPr>
          <p:cNvPr id="4" name="Shape 2"/>
          <p:cNvSpPr/>
          <p:nvPr/>
        </p:nvSpPr>
        <p:spPr>
          <a:xfrm>
            <a:off x="548640" y="1170432"/>
            <a:ext cx="201168" cy="146304"/>
          </a:xfrm>
          <a:prstGeom prst="roundRect">
            <a:avLst>
              <a:gd name="adj" fmla="val 18750"/>
            </a:avLst>
          </a:prstGeom>
          <a:solidFill>
            <a:srgbClr val="E7F3EC"/>
          </a:solidFill>
          <a:ln w="12700">
            <a:solidFill>
              <a:srgbClr val="2E7D5B"/>
            </a:solidFill>
            <a:prstDash val="solid"/>
          </a:ln>
        </p:spPr>
      </p:sp>
      <p:sp>
        <p:nvSpPr>
          <p:cNvPr id="5" name="Text 3"/>
          <p:cNvSpPr/>
          <p:nvPr/>
        </p:nvSpPr>
        <p:spPr>
          <a:xfrm>
            <a:off x="804672" y="1124712"/>
            <a:ext cx="10972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ServiceNow</a:t>
            </a:r>
            <a:endParaRPr lang="en-US" sz="850" dirty="0"/>
          </a:p>
        </p:txBody>
      </p:sp>
      <p:sp>
        <p:nvSpPr>
          <p:cNvPr id="6" name="Shape 4"/>
          <p:cNvSpPr/>
          <p:nvPr/>
        </p:nvSpPr>
        <p:spPr>
          <a:xfrm>
            <a:off x="2039112" y="1170432"/>
            <a:ext cx="201168" cy="146304"/>
          </a:xfrm>
          <a:prstGeom prst="roundRect">
            <a:avLst>
              <a:gd name="adj" fmla="val 18750"/>
            </a:avLst>
          </a:prstGeom>
          <a:solidFill>
            <a:srgbClr val="ECEAFB"/>
          </a:solidFill>
          <a:ln w="12700">
            <a:solidFill>
              <a:srgbClr val="5145C7"/>
            </a:solidFill>
            <a:prstDash val="solid"/>
          </a:ln>
        </p:spPr>
      </p:sp>
      <p:sp>
        <p:nvSpPr>
          <p:cNvPr id="7" name="Text 5"/>
          <p:cNvSpPr/>
          <p:nvPr/>
        </p:nvSpPr>
        <p:spPr>
          <a:xfrm>
            <a:off x="2295144" y="1124712"/>
            <a:ext cx="15544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decision</a:t>
            </a:r>
            <a:endParaRPr lang="en-US" sz="850" dirty="0"/>
          </a:p>
        </p:txBody>
      </p:sp>
      <p:sp>
        <p:nvSpPr>
          <p:cNvPr id="8" name="Shape 6"/>
          <p:cNvSpPr/>
          <p:nvPr/>
        </p:nvSpPr>
        <p:spPr>
          <a:xfrm>
            <a:off x="3986784" y="1170432"/>
            <a:ext cx="201168" cy="146304"/>
          </a:xfrm>
          <a:prstGeom prst="roundRect">
            <a:avLst>
              <a:gd name="adj" fmla="val 18750"/>
            </a:avLst>
          </a:prstGeom>
          <a:solidFill>
            <a:srgbClr val="E4EFF7"/>
          </a:solidFill>
          <a:ln w="12700">
            <a:solidFill>
              <a:srgbClr val="2B6CB0"/>
            </a:solidFill>
            <a:prstDash val="solid"/>
          </a:ln>
        </p:spPr>
      </p:sp>
      <p:sp>
        <p:nvSpPr>
          <p:cNvPr id="9" name="Text 7"/>
          <p:cNvSpPr/>
          <p:nvPr/>
        </p:nvSpPr>
        <p:spPr>
          <a:xfrm>
            <a:off x="4242816" y="1124712"/>
            <a:ext cx="16459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execution</a:t>
            </a:r>
            <a:endParaRPr lang="en-US" sz="850" dirty="0"/>
          </a:p>
        </p:txBody>
      </p:sp>
      <p:sp>
        <p:nvSpPr>
          <p:cNvPr id="10" name="Shape 8"/>
          <p:cNvSpPr/>
          <p:nvPr/>
        </p:nvSpPr>
        <p:spPr>
          <a:xfrm>
            <a:off x="6025896" y="1170432"/>
            <a:ext cx="201168" cy="146304"/>
          </a:xfrm>
          <a:prstGeom prst="roundRect">
            <a:avLst>
              <a:gd name="adj" fmla="val 18750"/>
            </a:avLst>
          </a:prstGeom>
          <a:solidFill>
            <a:srgbClr val="EEF1F4"/>
          </a:solidFill>
          <a:ln w="12700">
            <a:solidFill>
              <a:srgbClr val="6B7280"/>
            </a:solidFill>
            <a:prstDash val="solid"/>
          </a:ln>
        </p:spPr>
      </p:sp>
      <p:sp>
        <p:nvSpPr>
          <p:cNvPr id="11" name="Text 9"/>
          <p:cNvSpPr/>
          <p:nvPr/>
        </p:nvSpPr>
        <p:spPr>
          <a:xfrm>
            <a:off x="6281928" y="1124712"/>
            <a:ext cx="7315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External</a:t>
            </a:r>
            <a:endParaRPr lang="en-US" sz="850" dirty="0"/>
          </a:p>
        </p:txBody>
      </p:sp>
      <p:sp>
        <p:nvSpPr>
          <p:cNvPr id="12" name="Shape 10"/>
          <p:cNvSpPr/>
          <p:nvPr/>
        </p:nvSpPr>
        <p:spPr>
          <a:xfrm>
            <a:off x="7150608" y="1170432"/>
            <a:ext cx="201168" cy="146304"/>
          </a:xfrm>
          <a:prstGeom prst="roundRect">
            <a:avLst>
              <a:gd name="adj" fmla="val 18750"/>
            </a:avLst>
          </a:prstGeom>
          <a:solidFill>
            <a:srgbClr val="FBEBE9"/>
          </a:solidFill>
          <a:ln w="12700">
            <a:solidFill>
              <a:srgbClr val="C0392B"/>
            </a:solidFill>
            <a:prstDash val="solid"/>
          </a:ln>
        </p:spPr>
      </p:sp>
      <p:sp>
        <p:nvSpPr>
          <p:cNvPr id="13" name="Text 11"/>
          <p:cNvSpPr/>
          <p:nvPr/>
        </p:nvSpPr>
        <p:spPr>
          <a:xfrm>
            <a:off x="7406640" y="1124712"/>
            <a:ext cx="6400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Stop</a:t>
            </a:r>
            <a:endParaRPr lang="en-US" sz="850" dirty="0"/>
          </a:p>
        </p:txBody>
      </p:sp>
      <p:sp>
        <p:nvSpPr>
          <p:cNvPr id="14" name="Shape 12"/>
          <p:cNvSpPr/>
          <p:nvPr/>
        </p:nvSpPr>
        <p:spPr>
          <a:xfrm>
            <a:off x="1554480" y="1417320"/>
            <a:ext cx="292608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1581912" y="1417320"/>
            <a:ext cx="2871216" cy="457200"/>
          </a:xfrm>
          <a:prstGeom prst="rect">
            <a:avLst/>
          </a:prstGeom>
          <a:noFill/>
          <a:ln/>
        </p:spPr>
        <p:txBody>
          <a:bodyPr wrap="square" lIns="12700" tIns="12700" rIns="12700" bIns="12700" rtlCol="0" anchor="ctr"/>
          <a:lstStyle/>
          <a:p>
            <a:pPr algn="ctr" indent="0" marL="0">
              <a:lnSpc>
                <a:spcPct val="92000"/>
              </a:lnSpc>
              <a:buNone/>
            </a:pPr>
            <a:r>
              <a:rPr lang="en-US" sz="1000" b="1" dirty="0">
                <a:solidFill>
                  <a:srgbClr val="14532D"/>
                </a:solidFill>
                <a:latin typeface="Calibri" pitchFamily="34" charset="0"/>
                <a:ea typeface="Calibri" pitchFamily="34" charset="-122"/>
                <a:cs typeface="Calibri" pitchFamily="34" charset="-120"/>
              </a:rPr>
              <a:t>ServiceNow AI Control Tower / IRM</a:t>
            </a:r>
            <a:endParaRPr lang="en-US" sz="1000" dirty="0"/>
          </a:p>
        </p:txBody>
      </p:sp>
      <p:sp>
        <p:nvSpPr>
          <p:cNvPr id="16" name="Shape 14"/>
          <p:cNvSpPr/>
          <p:nvPr/>
        </p:nvSpPr>
        <p:spPr>
          <a:xfrm>
            <a:off x="1554480" y="2075688"/>
            <a:ext cx="2926080" cy="640080"/>
          </a:xfrm>
          <a:prstGeom prst="roundRect">
            <a:avLst>
              <a:gd name="adj" fmla="val 10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7" name="Text 15"/>
          <p:cNvSpPr/>
          <p:nvPr/>
        </p:nvSpPr>
        <p:spPr>
          <a:xfrm>
            <a:off x="1581912" y="2075688"/>
            <a:ext cx="2871216" cy="640080"/>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2A2170"/>
                </a:solidFill>
                <a:latin typeface="Calibri" pitchFamily="34" charset="0"/>
                <a:ea typeface="Calibri" pitchFamily="34" charset="-122"/>
                <a:cs typeface="Calibri" pitchFamily="34" charset="-120"/>
              </a:rPr>
              <a:t>Policy Workflow Compiler + RA-5 trusted evidence</a:t>
            </a:r>
            <a:endParaRPr lang="en-US" sz="950" dirty="0"/>
          </a:p>
        </p:txBody>
      </p:sp>
      <p:sp>
        <p:nvSpPr>
          <p:cNvPr id="18" name="Shape 16"/>
          <p:cNvSpPr/>
          <p:nvPr/>
        </p:nvSpPr>
        <p:spPr>
          <a:xfrm>
            <a:off x="1554480" y="2916936"/>
            <a:ext cx="292608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1581912" y="2916936"/>
            <a:ext cx="28712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Decision Authority</a:t>
            </a:r>
            <a:endParaRPr lang="en-US" sz="1050" dirty="0"/>
          </a:p>
        </p:txBody>
      </p:sp>
      <p:sp>
        <p:nvSpPr>
          <p:cNvPr id="20" name="Shape 18"/>
          <p:cNvSpPr/>
          <p:nvPr/>
        </p:nvSpPr>
        <p:spPr>
          <a:xfrm>
            <a:off x="1554480" y="3575304"/>
            <a:ext cx="292608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21" name="Text 19"/>
          <p:cNvSpPr/>
          <p:nvPr/>
        </p:nvSpPr>
        <p:spPr>
          <a:xfrm>
            <a:off x="1581912" y="3575304"/>
            <a:ext cx="2871216" cy="457200"/>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2A2170"/>
                </a:solidFill>
                <a:latin typeface="Calibri" pitchFamily="34" charset="0"/>
                <a:ea typeface="Calibri" pitchFamily="34" charset="-122"/>
                <a:cs typeface="Calibri" pitchFamily="34" charset="-120"/>
              </a:rPr>
              <a:t>Risk Authority · signed, scoped, time-limited</a:t>
            </a:r>
            <a:endParaRPr lang="en-US" sz="950" dirty="0"/>
          </a:p>
        </p:txBody>
      </p:sp>
      <p:sp>
        <p:nvSpPr>
          <p:cNvPr id="22" name="Shape 20"/>
          <p:cNvSpPr/>
          <p:nvPr/>
        </p:nvSpPr>
        <p:spPr>
          <a:xfrm>
            <a:off x="1554480" y="4233672"/>
            <a:ext cx="292608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23" name="Text 21"/>
          <p:cNvSpPr/>
          <p:nvPr/>
        </p:nvSpPr>
        <p:spPr>
          <a:xfrm>
            <a:off x="1581912" y="4233672"/>
            <a:ext cx="28712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ActionGate</a:t>
            </a:r>
            <a:endParaRPr lang="en-US" sz="1050" dirty="0"/>
          </a:p>
        </p:txBody>
      </p:sp>
      <p:sp>
        <p:nvSpPr>
          <p:cNvPr id="24" name="Shape 22"/>
          <p:cNvSpPr/>
          <p:nvPr/>
        </p:nvSpPr>
        <p:spPr>
          <a:xfrm>
            <a:off x="1554480" y="4892040"/>
            <a:ext cx="292608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5" name="Text 23"/>
          <p:cNvSpPr/>
          <p:nvPr/>
        </p:nvSpPr>
        <p:spPr>
          <a:xfrm>
            <a:off x="1581912" y="4892040"/>
            <a:ext cx="2871216" cy="457200"/>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173A5A"/>
                </a:solidFill>
                <a:latin typeface="Calibri" pitchFamily="34" charset="0"/>
                <a:ea typeface="Calibri" pitchFamily="34" charset="-122"/>
                <a:cs typeface="Calibri" pitchFamily="34" charset="-120"/>
              </a:rPr>
              <a:t>Agent Runtime → execution → RA-8 assurance</a:t>
            </a:r>
            <a:endParaRPr lang="en-US" sz="950" dirty="0"/>
          </a:p>
        </p:txBody>
      </p:sp>
      <p:sp>
        <p:nvSpPr>
          <p:cNvPr id="26" name="Shape 24"/>
          <p:cNvSpPr/>
          <p:nvPr/>
        </p:nvSpPr>
        <p:spPr>
          <a:xfrm>
            <a:off x="1554480" y="5550408"/>
            <a:ext cx="2926080" cy="548640"/>
          </a:xfrm>
          <a:prstGeom prst="roundRect">
            <a:avLst>
              <a:gd name="adj" fmla="val 11667"/>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27" name="Text 25"/>
          <p:cNvSpPr/>
          <p:nvPr/>
        </p:nvSpPr>
        <p:spPr>
          <a:xfrm>
            <a:off x="1581912" y="5550408"/>
            <a:ext cx="2871216" cy="548640"/>
          </a:xfrm>
          <a:prstGeom prst="rect">
            <a:avLst/>
          </a:prstGeom>
          <a:noFill/>
          <a:ln/>
        </p:spPr>
        <p:txBody>
          <a:bodyPr wrap="square" lIns="12700" tIns="12700" rIns="12700" bIns="12700" rtlCol="0" anchor="ctr"/>
          <a:lstStyle/>
          <a:p>
            <a:pPr algn="ctr" indent="0" marL="0">
              <a:lnSpc>
                <a:spcPct val="92000"/>
              </a:lnSpc>
              <a:buNone/>
            </a:pPr>
            <a:r>
              <a:rPr lang="en-US" sz="900" b="1" dirty="0">
                <a:solidFill>
                  <a:srgbClr val="14532D"/>
                </a:solidFill>
                <a:latin typeface="Calibri" pitchFamily="34" charset="0"/>
                <a:ea typeface="Calibri" pitchFamily="34" charset="-122"/>
                <a:cs typeface="Calibri" pitchFamily="34" charset="-120"/>
              </a:rPr>
              <a:t>ServiceNow AI case record (authorization + effect refs)</a:t>
            </a:r>
            <a:endParaRPr lang="en-US" sz="900" dirty="0"/>
          </a:p>
        </p:txBody>
      </p:sp>
      <p:sp>
        <p:nvSpPr>
          <p:cNvPr id="28" name="Shape 26"/>
          <p:cNvSpPr/>
          <p:nvPr/>
        </p:nvSpPr>
        <p:spPr>
          <a:xfrm>
            <a:off x="3017520" y="1874520"/>
            <a:ext cx="914" cy="201168"/>
          </a:xfrm>
          <a:prstGeom prst="line">
            <a:avLst/>
          </a:prstGeom>
          <a:noFill/>
          <a:ln w="22225">
            <a:solidFill>
              <a:srgbClr val="4B5563"/>
            </a:solidFill>
            <a:prstDash val="solid"/>
            <a:tailEnd type="triangle"/>
          </a:ln>
        </p:spPr>
      </p:sp>
      <p:sp>
        <p:nvSpPr>
          <p:cNvPr id="29" name="Text 27"/>
          <p:cNvSpPr/>
          <p:nvPr/>
        </p:nvSpPr>
        <p:spPr>
          <a:xfrm>
            <a:off x="2057400" y="185623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policy pack + control evidence refs</a:t>
            </a:r>
            <a:endParaRPr lang="en-US" sz="800" dirty="0"/>
          </a:p>
        </p:txBody>
      </p:sp>
      <p:sp>
        <p:nvSpPr>
          <p:cNvPr id="30" name="Shape 28"/>
          <p:cNvSpPr/>
          <p:nvPr/>
        </p:nvSpPr>
        <p:spPr>
          <a:xfrm>
            <a:off x="3017520" y="2715768"/>
            <a:ext cx="914" cy="201168"/>
          </a:xfrm>
          <a:prstGeom prst="line">
            <a:avLst/>
          </a:prstGeom>
          <a:noFill/>
          <a:ln w="22225">
            <a:solidFill>
              <a:srgbClr val="4B5563"/>
            </a:solidFill>
            <a:prstDash val="solid"/>
            <a:tailEnd type="triangle"/>
          </a:ln>
        </p:spPr>
      </p:sp>
      <p:sp>
        <p:nvSpPr>
          <p:cNvPr id="31" name="Text 29"/>
          <p:cNvSpPr/>
          <p:nvPr/>
        </p:nvSpPr>
        <p:spPr>
          <a:xfrm>
            <a:off x="2057400" y="2697480"/>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re-checked control result</a:t>
            </a:r>
            <a:endParaRPr lang="en-US" sz="800" dirty="0"/>
          </a:p>
        </p:txBody>
      </p:sp>
      <p:sp>
        <p:nvSpPr>
          <p:cNvPr id="32" name="Shape 30"/>
          <p:cNvSpPr/>
          <p:nvPr/>
        </p:nvSpPr>
        <p:spPr>
          <a:xfrm>
            <a:off x="3017520" y="3374136"/>
            <a:ext cx="914" cy="201168"/>
          </a:xfrm>
          <a:prstGeom prst="line">
            <a:avLst/>
          </a:prstGeom>
          <a:noFill/>
          <a:ln w="22225">
            <a:solidFill>
              <a:srgbClr val="4B5563"/>
            </a:solidFill>
            <a:prstDash val="solid"/>
            <a:tailEnd type="triangle"/>
          </a:ln>
        </p:spPr>
      </p:sp>
      <p:sp>
        <p:nvSpPr>
          <p:cNvPr id="33" name="Text 31"/>
          <p:cNvSpPr/>
          <p:nvPr/>
        </p:nvSpPr>
        <p:spPr>
          <a:xfrm>
            <a:off x="2057400" y="335584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binding decision record</a:t>
            </a:r>
            <a:endParaRPr lang="en-US" sz="800" dirty="0"/>
          </a:p>
        </p:txBody>
      </p:sp>
      <p:sp>
        <p:nvSpPr>
          <p:cNvPr id="34" name="Shape 32"/>
          <p:cNvSpPr/>
          <p:nvPr/>
        </p:nvSpPr>
        <p:spPr>
          <a:xfrm>
            <a:off x="3017520" y="4032504"/>
            <a:ext cx="914" cy="201168"/>
          </a:xfrm>
          <a:prstGeom prst="line">
            <a:avLst/>
          </a:prstGeom>
          <a:noFill/>
          <a:ln w="22225">
            <a:solidFill>
              <a:srgbClr val="4B5563"/>
            </a:solidFill>
            <a:prstDash val="solid"/>
            <a:tailEnd type="triangle"/>
          </a:ln>
        </p:spPr>
      </p:sp>
      <p:sp>
        <p:nvSpPr>
          <p:cNvPr id="35" name="Text 33"/>
          <p:cNvSpPr/>
          <p:nvPr/>
        </p:nvSpPr>
        <p:spPr>
          <a:xfrm>
            <a:off x="2057400" y="401421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signed authorization artifact</a:t>
            </a:r>
            <a:endParaRPr lang="en-US" sz="800" dirty="0"/>
          </a:p>
        </p:txBody>
      </p:sp>
      <p:sp>
        <p:nvSpPr>
          <p:cNvPr id="36" name="Shape 34"/>
          <p:cNvSpPr/>
          <p:nvPr/>
        </p:nvSpPr>
        <p:spPr>
          <a:xfrm>
            <a:off x="3017520" y="4690872"/>
            <a:ext cx="914" cy="201168"/>
          </a:xfrm>
          <a:prstGeom prst="line">
            <a:avLst/>
          </a:prstGeom>
          <a:noFill/>
          <a:ln w="22225">
            <a:solidFill>
              <a:srgbClr val="4B5563"/>
            </a:solidFill>
            <a:prstDash val="solid"/>
            <a:tailEnd type="triangle"/>
          </a:ln>
        </p:spPr>
      </p:sp>
      <p:sp>
        <p:nvSpPr>
          <p:cNvPr id="37" name="Text 35"/>
          <p:cNvSpPr/>
          <p:nvPr/>
        </p:nvSpPr>
        <p:spPr>
          <a:xfrm>
            <a:off x="2057400" y="467258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exact-action authorization</a:t>
            </a:r>
            <a:endParaRPr lang="en-US" sz="800" dirty="0"/>
          </a:p>
        </p:txBody>
      </p:sp>
      <p:sp>
        <p:nvSpPr>
          <p:cNvPr id="38" name="Shape 36"/>
          <p:cNvSpPr/>
          <p:nvPr/>
        </p:nvSpPr>
        <p:spPr>
          <a:xfrm>
            <a:off x="3017520" y="5349240"/>
            <a:ext cx="914" cy="201168"/>
          </a:xfrm>
          <a:prstGeom prst="line">
            <a:avLst/>
          </a:prstGeom>
          <a:noFill/>
          <a:ln w="22225">
            <a:solidFill>
              <a:srgbClr val="4B5563"/>
            </a:solidFill>
            <a:prstDash val="solid"/>
            <a:tailEnd type="triangle"/>
          </a:ln>
        </p:spPr>
      </p:sp>
      <p:sp>
        <p:nvSpPr>
          <p:cNvPr id="39" name="Text 37"/>
          <p:cNvSpPr/>
          <p:nvPr/>
        </p:nvSpPr>
        <p:spPr>
          <a:xfrm>
            <a:off x="2057400" y="533095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effect matched</a:t>
            </a:r>
            <a:endParaRPr lang="en-US" sz="800" dirty="0"/>
          </a:p>
        </p:txBody>
      </p:sp>
      <p:sp>
        <p:nvSpPr>
          <p:cNvPr id="40" name="Shape 38"/>
          <p:cNvSpPr/>
          <p:nvPr/>
        </p:nvSpPr>
        <p:spPr>
          <a:xfrm>
            <a:off x="7315200" y="2075688"/>
            <a:ext cx="2377440" cy="2615184"/>
          </a:xfrm>
          <a:prstGeom prst="roundRect">
            <a:avLst>
              <a:gd name="adj" fmla="val 2308"/>
            </a:avLst>
          </a:prstGeom>
          <a:solidFill>
            <a:srgbClr val="FBEBE9"/>
          </a:solidFill>
          <a:ln w="15875">
            <a:solidFill>
              <a:srgbClr val="C0392B"/>
            </a:solidFill>
            <a:prstDash val="solid"/>
          </a:ln>
        </p:spPr>
      </p:sp>
      <p:sp>
        <p:nvSpPr>
          <p:cNvPr id="41" name="Text 39"/>
          <p:cNvSpPr/>
          <p:nvPr/>
        </p:nvSpPr>
        <p:spPr>
          <a:xfrm>
            <a:off x="7406640" y="2075688"/>
            <a:ext cx="2194560" cy="2615184"/>
          </a:xfrm>
          <a:prstGeom prst="rect">
            <a:avLst/>
          </a:prstGeom>
          <a:noFill/>
          <a:ln/>
        </p:spPr>
        <p:txBody>
          <a:bodyPr wrap="square" lIns="25400" tIns="25400" rIns="25400" bIns="25400" rtlCol="0" anchor="ctr"/>
          <a:lstStyle/>
          <a:p>
            <a:pPr algn="ctr" indent="0" marL="0">
              <a:lnSpc>
                <a:spcPct val="105000"/>
              </a:lnSpc>
              <a:buNone/>
            </a:pPr>
            <a:r>
              <a:rPr lang="en-US" sz="950" b="1" dirty="0">
                <a:solidFill>
                  <a:srgbClr val="7A2016"/>
                </a:solidFill>
                <a:latin typeface="Calibri" pitchFamily="34" charset="0"/>
                <a:ea typeface="Calibri" pitchFamily="34" charset="-122"/>
                <a:cs typeface="Calibri" pitchFamily="34" charset="-120"/>
              </a:rPr>
              <a:t>NOT PERMITTED</a:t>
            </a:r>
            <a:endParaRPr lang="en-US" sz="950" dirty="0"/>
          </a:p>
          <a:p>
            <a:pPr algn="ctr" indent="0" marL="0">
              <a:lnSpc>
                <a:spcPct val="105000"/>
              </a:lnSpc>
              <a:buNone/>
            </a:pPr>
            <a:endParaRPr lang="en-US" sz="950" dirty="0"/>
          </a:p>
          <a:p>
            <a:pPr algn="ctr" indent="0" marL="0">
              <a:lnSpc>
                <a:spcPct val="105000"/>
              </a:lnSpc>
              <a:buNone/>
            </a:pPr>
            <a:r>
              <a:rPr lang="en-US" sz="950" b="1" dirty="0">
                <a:solidFill>
                  <a:srgbClr val="7A2016"/>
                </a:solidFill>
                <a:latin typeface="Calibri" pitchFamily="34" charset="0"/>
                <a:ea typeface="Calibri" pitchFamily="34" charset="-122"/>
                <a:cs typeface="Calibri" pitchFamily="34" charset="-120"/>
              </a:rPr>
              <a:t>stale / untrusted evidence</a:t>
            </a:r>
            <a:endParaRPr lang="en-US" sz="950" dirty="0"/>
          </a:p>
          <a:p>
            <a:pPr algn="ctr" indent="0" marL="0">
              <a:lnSpc>
                <a:spcPct val="105000"/>
              </a:lnSpc>
              <a:buNone/>
            </a:pPr>
            <a:r>
              <a:rPr lang="en-US" sz="950" b="1" dirty="0">
                <a:solidFill>
                  <a:srgbClr val="7A2016"/>
                </a:solidFill>
                <a:latin typeface="Calibri" pitchFamily="34" charset="0"/>
                <a:ea typeface="Calibri" pitchFamily="34" charset="-122"/>
                <a:cs typeface="Calibri" pitchFamily="34" charset="-120"/>
              </a:rPr>
              <a:t>no allow-family decision</a:t>
            </a:r>
            <a:endParaRPr lang="en-US" sz="950" dirty="0"/>
          </a:p>
          <a:p>
            <a:pPr algn="ctr" indent="0" marL="0">
              <a:lnSpc>
                <a:spcPct val="105000"/>
              </a:lnSpc>
              <a:buNone/>
            </a:pPr>
            <a:r>
              <a:rPr lang="en-US" sz="950" b="1" dirty="0">
                <a:solidFill>
                  <a:srgbClr val="7A2016"/>
                </a:solidFill>
                <a:latin typeface="Calibri" pitchFamily="34" charset="0"/>
                <a:ea typeface="Calibri" pitchFamily="34" charset="-122"/>
                <a:cs typeface="Calibri" pitchFamily="34" charset="-120"/>
              </a:rPr>
              <a:t>DENIED / INDETERMINATE</a:t>
            </a:r>
            <a:endParaRPr lang="en-US" sz="950" dirty="0"/>
          </a:p>
        </p:txBody>
      </p:sp>
      <p:sp>
        <p:nvSpPr>
          <p:cNvPr id="42" name="Shape 40"/>
          <p:cNvSpPr/>
          <p:nvPr/>
        </p:nvSpPr>
        <p:spPr>
          <a:xfrm>
            <a:off x="4480560" y="2395728"/>
            <a:ext cx="2834640" cy="914"/>
          </a:xfrm>
          <a:prstGeom prst="line">
            <a:avLst/>
          </a:prstGeom>
          <a:noFill/>
          <a:ln w="22225">
            <a:solidFill>
              <a:srgbClr val="C0392B"/>
            </a:solidFill>
            <a:prstDash val="solid"/>
            <a:tailEnd type="triangle"/>
          </a:ln>
        </p:spPr>
      </p:sp>
      <p:sp>
        <p:nvSpPr>
          <p:cNvPr id="43" name="Text 41"/>
          <p:cNvSpPr/>
          <p:nvPr/>
        </p:nvSpPr>
        <p:spPr>
          <a:xfrm>
            <a:off x="5257800" y="2276856"/>
            <a:ext cx="128016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evidence stale</a:t>
            </a:r>
            <a:endParaRPr lang="en-US" sz="750" dirty="0"/>
          </a:p>
        </p:txBody>
      </p:sp>
      <p:sp>
        <p:nvSpPr>
          <p:cNvPr id="44" name="Shape 42"/>
          <p:cNvSpPr/>
          <p:nvPr/>
        </p:nvSpPr>
        <p:spPr>
          <a:xfrm>
            <a:off x="4480560" y="3803904"/>
            <a:ext cx="2834640" cy="914"/>
          </a:xfrm>
          <a:prstGeom prst="line">
            <a:avLst/>
          </a:prstGeom>
          <a:noFill/>
          <a:ln w="22225">
            <a:solidFill>
              <a:srgbClr val="C0392B"/>
            </a:solidFill>
            <a:prstDash val="solid"/>
            <a:tailEnd type="triangle"/>
          </a:ln>
        </p:spPr>
      </p:sp>
      <p:sp>
        <p:nvSpPr>
          <p:cNvPr id="45" name="Text 43"/>
          <p:cNvSpPr/>
          <p:nvPr/>
        </p:nvSpPr>
        <p:spPr>
          <a:xfrm>
            <a:off x="5212080" y="3685032"/>
            <a:ext cx="137160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no allow-family</a:t>
            </a:r>
            <a:endParaRPr lang="en-US" sz="750" dirty="0"/>
          </a:p>
        </p:txBody>
      </p:sp>
      <p:sp>
        <p:nvSpPr>
          <p:cNvPr id="46" name="Shape 44"/>
          <p:cNvSpPr/>
          <p:nvPr/>
        </p:nvSpPr>
        <p:spPr>
          <a:xfrm>
            <a:off x="4480560" y="4462272"/>
            <a:ext cx="2834640" cy="914"/>
          </a:xfrm>
          <a:prstGeom prst="line">
            <a:avLst/>
          </a:prstGeom>
          <a:noFill/>
          <a:ln w="22225">
            <a:solidFill>
              <a:srgbClr val="C0392B"/>
            </a:solidFill>
            <a:prstDash val="solid"/>
            <a:tailEnd type="triangle"/>
          </a:ln>
        </p:spPr>
      </p:sp>
      <p:sp>
        <p:nvSpPr>
          <p:cNvPr id="47" name="Text 45"/>
          <p:cNvSpPr/>
          <p:nvPr/>
        </p:nvSpPr>
        <p:spPr>
          <a:xfrm>
            <a:off x="5166360" y="4343400"/>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DENIED / INDET.</a:t>
            </a:r>
            <a:endParaRPr lang="en-US" sz="750" dirty="0"/>
          </a:p>
        </p:txBody>
      </p:sp>
      <p:sp>
        <p:nvSpPr>
          <p:cNvPr id="48" name="Shape 46"/>
          <p:cNvSpPr/>
          <p:nvPr/>
        </p:nvSpPr>
        <p:spPr>
          <a:xfrm>
            <a:off x="8503920" y="4690872"/>
            <a:ext cx="914" cy="1133856"/>
          </a:xfrm>
          <a:prstGeom prst="line">
            <a:avLst/>
          </a:prstGeom>
          <a:noFill/>
          <a:ln w="22225">
            <a:solidFill>
              <a:srgbClr val="4B5563"/>
            </a:solidFill>
            <a:prstDash val="solid"/>
            <a:tailEnd type="triangle"/>
          </a:ln>
        </p:spPr>
      </p:sp>
      <p:sp>
        <p:nvSpPr>
          <p:cNvPr id="49" name="Text 47"/>
          <p:cNvSpPr/>
          <p:nvPr/>
        </p:nvSpPr>
        <p:spPr>
          <a:xfrm>
            <a:off x="7772400" y="5138928"/>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6B7280"/>
                </a:solidFill>
                <a:latin typeface="Calibri" pitchFamily="34" charset="0"/>
                <a:ea typeface="Calibri" pitchFamily="34" charset="-122"/>
                <a:cs typeface="Calibri" pitchFamily="34" charset="-120"/>
              </a:rPr>
              <a:t>reason + evidence</a:t>
            </a:r>
            <a:endParaRPr lang="en-US" sz="750" dirty="0"/>
          </a:p>
        </p:txBody>
      </p:sp>
      <p:sp>
        <p:nvSpPr>
          <p:cNvPr id="50" name="Shape 48"/>
          <p:cNvSpPr/>
          <p:nvPr/>
        </p:nvSpPr>
        <p:spPr>
          <a:xfrm flipH="1">
            <a:off x="4480560" y="5824728"/>
            <a:ext cx="4023360" cy="914"/>
          </a:xfrm>
          <a:prstGeom prst="line">
            <a:avLst/>
          </a:prstGeom>
          <a:noFill/>
          <a:ln w="22225">
            <a:solidFill>
              <a:srgbClr val="4B5563"/>
            </a:solidFill>
            <a:prstDash val="solid"/>
            <a:tailEnd type="triangle"/>
          </a:ln>
        </p:spPr>
      </p:sp>
      <p:sp>
        <p:nvSpPr>
          <p:cNvPr id="51" name="Text 49"/>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A caller-asserted “pass” is inert: only trusted, re-checked evidence satisfies a control. The authorization is signed, scoped and time-limited. Illustrative.</a:t>
            </a:r>
            <a:endParaRPr lang="en-US" sz="850" dirty="0"/>
          </a:p>
        </p:txBody>
      </p:sp>
      <p:sp>
        <p:nvSpPr>
          <p:cNvPr id="53" name="Text 50"/>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35</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UC-3 · HIGH-RISK AI ACTION ENFORCEMENT</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Positioning, control boundary and metrics</a:t>
            </a:r>
            <a:endParaRPr lang="en-US" sz="2600" dirty="0"/>
          </a:p>
        </p:txBody>
      </p:sp>
      <p:sp>
        <p:nvSpPr>
          <p:cNvPr id="4" name="Shape 2"/>
          <p:cNvSpPr/>
          <p:nvPr/>
        </p:nvSpPr>
        <p:spPr>
          <a:xfrm>
            <a:off x="548640" y="1371600"/>
            <a:ext cx="5486400" cy="4663440"/>
          </a:xfrm>
          <a:prstGeom prst="roundRect">
            <a:avLst>
              <a:gd name="adj" fmla="val 1176"/>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713232" y="1481328"/>
            <a:ext cx="5157216" cy="310896"/>
          </a:xfrm>
          <a:prstGeom prst="rect">
            <a:avLst/>
          </a:prstGeom>
          <a:noFill/>
          <a:ln/>
        </p:spPr>
        <p:txBody>
          <a:bodyPr wrap="square" lIns="0" tIns="0" rIns="0" bIns="0" rtlCol="0" anchor="ctr"/>
          <a:lstStyle/>
          <a:p>
            <a:pPr algn="l" indent="0" marL="0">
              <a:buNone/>
            </a:pPr>
            <a:r>
              <a:rPr lang="en-US" sz="1250" b="1" dirty="0">
                <a:solidFill>
                  <a:srgbClr val="2A2170"/>
                </a:solidFill>
                <a:latin typeface="Calibri" pitchFamily="34" charset="0"/>
                <a:ea typeface="Calibri" pitchFamily="34" charset="-122"/>
                <a:cs typeface="Calibri" pitchFamily="34" charset="-120"/>
              </a:rPr>
              <a:t>Positioning (honest)</a:t>
            </a:r>
            <a:endParaRPr lang="en-US" sz="1250" dirty="0"/>
          </a:p>
        </p:txBody>
      </p:sp>
      <p:sp>
        <p:nvSpPr>
          <p:cNvPr id="6" name="Text 4"/>
          <p:cNvSpPr/>
          <p:nvPr/>
        </p:nvSpPr>
        <p:spPr>
          <a:xfrm>
            <a:off x="713232" y="1828800"/>
            <a:ext cx="5157216" cy="4096512"/>
          </a:xfrm>
          <a:prstGeom prst="rect">
            <a:avLst/>
          </a:prstGeom>
          <a:noFill/>
          <a:ln/>
        </p:spPr>
        <p:txBody>
          <a:bodyPr wrap="square" lIns="0" tIns="0" rIns="0" bIns="0" rtlCol="0" anchor="t"/>
          <a:lstStyle/>
          <a:p>
            <a:pPr algn="l" indent="0" marL="0">
              <a:lnSpc>
                <a:spcPct val="102000"/>
              </a:lnSpc>
              <a:buNone/>
            </a:pPr>
            <a:r>
              <a:rPr lang="en-US" sz="1080" dirty="0">
                <a:solidFill>
                  <a:srgbClr val="1E2340"/>
                </a:solidFill>
                <a:latin typeface="Calibri" pitchFamily="34" charset="0"/>
                <a:ea typeface="Calibri" pitchFamily="34" charset="-122"/>
                <a:cs typeface="Calibri" pitchFamily="34" charset="-120"/>
              </a:rPr>
              <a:t>•  ServiceNow AI Control Tower &amp; AI Risk and Compliance remain the governance systems of record — this is a real, shipped strength.</a:t>
            </a:r>
            <a:endParaRPr lang="en-US" sz="1080" dirty="0"/>
          </a:p>
          <a:p>
            <a:pPr algn="l" indent="0" marL="0">
              <a:lnSpc>
                <a:spcPct val="102000"/>
              </a:lnSpc>
              <a:buNone/>
            </a:pPr>
            <a:endParaRPr lang="en-US" sz="1080" dirty="0"/>
          </a:p>
          <a:p>
            <a:pPr algn="l" indent="0" marL="0">
              <a:lnSpc>
                <a:spcPct val="102000"/>
              </a:lnSpc>
              <a:buNone/>
            </a:pPr>
            <a:r>
              <a:rPr lang="en-US" sz="1080" dirty="0">
                <a:solidFill>
                  <a:srgbClr val="1E2340"/>
                </a:solidFill>
                <a:latin typeface="Calibri" pitchFamily="34" charset="0"/>
                <a:ea typeface="Calibri" pitchFamily="34" charset="-122"/>
                <a:cs typeface="Calibri" pitchFamily="34" charset="-120"/>
              </a:rPr>
              <a:t>•  Ugence proposes a signed, scoped, time-limited, action-level authority whose validity depends on trusted, currently-satisfied evidence.</a:t>
            </a:r>
            <a:endParaRPr lang="en-US" sz="1080" dirty="0"/>
          </a:p>
          <a:p>
            <a:pPr algn="l" indent="0" marL="0">
              <a:lnSpc>
                <a:spcPct val="102000"/>
              </a:lnSpc>
              <a:buNone/>
            </a:pPr>
            <a:endParaRPr lang="en-US" sz="1080" dirty="0"/>
          </a:p>
          <a:p>
            <a:pPr algn="l" indent="0" marL="0">
              <a:lnSpc>
                <a:spcPct val="102000"/>
              </a:lnSpc>
              <a:buNone/>
            </a:pPr>
            <a:r>
              <a:rPr lang="en-US" sz="1080" dirty="0">
                <a:solidFill>
                  <a:srgbClr val="1E2340"/>
                </a:solidFill>
                <a:latin typeface="Calibri" pitchFamily="34" charset="0"/>
                <a:ea typeface="Calibri" pitchFamily="34" charset="-122"/>
                <a:cs typeface="Calibri" pitchFamily="34" charset="-120"/>
              </a:rPr>
              <a:t>•  Whether ServiceNow already emits an equivalent independently verifiable, evidence-fresh per-action artifact is a discovery hypothesis to confirm with architects — not an assumed gap.</a:t>
            </a:r>
            <a:endParaRPr lang="en-US" sz="1080" dirty="0"/>
          </a:p>
          <a:p>
            <a:pPr algn="l" indent="0" marL="0">
              <a:lnSpc>
                <a:spcPct val="102000"/>
              </a:lnSpc>
              <a:buNone/>
            </a:pPr>
            <a:endParaRPr lang="en-US" sz="1080" dirty="0"/>
          </a:p>
          <a:p>
            <a:pPr algn="l" indent="0" marL="0">
              <a:lnSpc>
                <a:spcPct val="102000"/>
              </a:lnSpc>
              <a:buNone/>
            </a:pPr>
            <a:r>
              <a:rPr lang="en-US" sz="1080" dirty="0">
                <a:solidFill>
                  <a:srgbClr val="1E2340"/>
                </a:solidFill>
                <a:latin typeface="Calibri" pitchFamily="34" charset="0"/>
                <a:ea typeface="Calibri" pitchFamily="34" charset="-122"/>
                <a:cs typeface="Calibri" pitchFamily="34" charset="-120"/>
              </a:rPr>
              <a:t>•  Human-binding: the policy approval and the authority delegation. Fail-closed: stale or self-asserted evidence is never a satisfied control.</a:t>
            </a:r>
            <a:endParaRPr lang="en-US" sz="1080" dirty="0"/>
          </a:p>
        </p:txBody>
      </p:sp>
      <p:sp>
        <p:nvSpPr>
          <p:cNvPr id="7" name="Shape 5"/>
          <p:cNvSpPr/>
          <p:nvPr/>
        </p:nvSpPr>
        <p:spPr>
          <a:xfrm>
            <a:off x="6172200" y="1371600"/>
            <a:ext cx="5486400" cy="4663440"/>
          </a:xfrm>
          <a:prstGeom prst="roundRect">
            <a:avLst>
              <a:gd name="adj" fmla="val 1176"/>
            </a:avLst>
          </a:prstGeom>
          <a:solidFill>
            <a:srgbClr val="FFFFFF"/>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8" name="Text 6"/>
          <p:cNvSpPr/>
          <p:nvPr/>
        </p:nvSpPr>
        <p:spPr>
          <a:xfrm>
            <a:off x="6336792" y="1481328"/>
            <a:ext cx="5157216" cy="310896"/>
          </a:xfrm>
          <a:prstGeom prst="rect">
            <a:avLst/>
          </a:prstGeom>
          <a:noFill/>
          <a:ln/>
        </p:spPr>
        <p:txBody>
          <a:bodyPr wrap="square" lIns="0" tIns="0" rIns="0" bIns="0" rtlCol="0" anchor="ctr"/>
          <a:lstStyle/>
          <a:p>
            <a:pPr algn="l" indent="0" marL="0">
              <a:buNone/>
            </a:pPr>
            <a:r>
              <a:rPr lang="en-US" sz="1250" b="1" dirty="0">
                <a:solidFill>
                  <a:srgbClr val="173A5A"/>
                </a:solidFill>
                <a:latin typeface="Calibri" pitchFamily="34" charset="0"/>
                <a:ea typeface="Calibri" pitchFamily="34" charset="-122"/>
                <a:cs typeface="Calibri" pitchFamily="34" charset="-120"/>
              </a:rPr>
              <a:t>Outcome &amp; pilot metrics</a:t>
            </a:r>
            <a:endParaRPr lang="en-US" sz="1250" dirty="0"/>
          </a:p>
        </p:txBody>
      </p:sp>
      <p:sp>
        <p:nvSpPr>
          <p:cNvPr id="9" name="Text 7"/>
          <p:cNvSpPr/>
          <p:nvPr/>
        </p:nvSpPr>
        <p:spPr>
          <a:xfrm>
            <a:off x="6336792" y="1828800"/>
            <a:ext cx="5157216" cy="4096512"/>
          </a:xfrm>
          <a:prstGeom prst="rect">
            <a:avLst/>
          </a:prstGeom>
          <a:noFill/>
          <a:ln/>
        </p:spPr>
        <p:txBody>
          <a:bodyPr wrap="square" lIns="0" tIns="0" rIns="0" bIns="0" rtlCol="0" anchor="t"/>
          <a:lstStyle/>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Benefit:  high-risk automation that stays inside an evidence-backed, approved boundary.</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Risk prevented:  acting on stale compliance evidence; unbounded high-risk actions.</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Evidence:  re-checked control result, signed authorization, exact-action authorization, effect-match — an audit-ready chain.</a:t>
            </a:r>
            <a:endParaRPr lang="en-US" sz="1050" dirty="0"/>
          </a:p>
          <a:p>
            <a:pPr algn="l" indent="0" marL="0">
              <a:lnSpc>
                <a:spcPct val="102000"/>
              </a:lnSpc>
              <a:buNone/>
            </a:pP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Possible pilot metrics:</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 of high-risk actions with fresh-evidence backing</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Stale-evidence blocks</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Effect-match rate</a:t>
            </a:r>
            <a:endParaRPr lang="en-US" sz="1050" dirty="0"/>
          </a:p>
          <a:p>
            <a:pPr algn="l" indent="0" marL="0">
              <a:lnSpc>
                <a:spcPct val="102000"/>
              </a:lnSpc>
              <a:buNone/>
            </a:pP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Governed-value (developing):  audit-finding reduction attributed to evidence-fresh enforcement, with preserved compliance constraints.</a:t>
            </a:r>
            <a:endParaRPr lang="en-US" sz="1050" dirty="0"/>
          </a:p>
        </p:txBody>
      </p:sp>
      <p:sp>
        <p:nvSpPr>
          <p:cNvPr id="10" name="Text 8"/>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Unverified differentiation is stated as a discovery hypothesis, never as a ServiceNow gap.</a:t>
            </a:r>
            <a:endParaRPr lang="en-US" sz="850" dirty="0"/>
          </a:p>
        </p:txBody>
      </p:sp>
      <p:sp>
        <p:nvSpPr>
          <p:cNvPr id="12" name="Text 9"/>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36</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UC-4 · EXTERNAL AGENTS VIA ACTION FABRIC &amp; A2A / MCP</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The problem, and the business journey</a:t>
            </a:r>
            <a:endParaRPr lang="en-US" sz="2600" dirty="0"/>
          </a:p>
        </p:txBody>
      </p:sp>
      <p:sp>
        <p:nvSpPr>
          <p:cNvPr id="4" name="Text 2"/>
          <p:cNvSpPr/>
          <p:nvPr/>
        </p:nvSpPr>
        <p:spPr>
          <a:xfrm>
            <a:off x="548640" y="1325880"/>
            <a:ext cx="5486400" cy="1554480"/>
          </a:xfrm>
          <a:prstGeom prst="rect">
            <a:avLst/>
          </a:prstGeom>
          <a:noFill/>
          <a:ln/>
        </p:spPr>
        <p:txBody>
          <a:bodyPr wrap="square" rtlCol="0" anchor="ctr"/>
          <a:lstStyle/>
          <a:p>
            <a:pPr indent="0" marL="0">
              <a:lnSpc>
                <a:spcPct val="112000"/>
              </a:lnSpc>
              <a:buNone/>
            </a:pPr>
            <a:r>
              <a:rPr lang="en-US" sz="1150" dirty="0">
                <a:solidFill>
                  <a:srgbClr val="1E2340"/>
                </a:solidFill>
                <a:latin typeface="Calibri" pitchFamily="34" charset="0"/>
                <a:ea typeface="Calibri" pitchFamily="34" charset="-122"/>
                <a:cs typeface="Calibri" pitchFamily="34" charset="-120"/>
              </a:rPr>
              <a:t>Enterprises now let external AI agents (for example Claude or Copilot) take real actions on enterprise systems. ServiceNow Action Fabric opens its system of action to these agents and routes every action through AI Control Tower; with NVIDIA OpenShell, policy is enforced at runtime on file, command and network access.</a:t>
            </a:r>
            <a:endParaRPr lang="en-US" sz="1150" dirty="0"/>
          </a:p>
        </p:txBody>
      </p:sp>
      <p:sp>
        <p:nvSpPr>
          <p:cNvPr id="5" name="Text 3"/>
          <p:cNvSpPr/>
          <p:nvPr/>
        </p:nvSpPr>
        <p:spPr>
          <a:xfrm>
            <a:off x="548640" y="2926080"/>
            <a:ext cx="5486400" cy="1280160"/>
          </a:xfrm>
          <a:prstGeom prst="rect">
            <a:avLst/>
          </a:prstGeom>
          <a:noFill/>
          <a:ln/>
        </p:spPr>
        <p:txBody>
          <a:bodyPr wrap="square" rtlCol="0" anchor="ctr"/>
          <a:lstStyle/>
          <a:p>
            <a:pPr indent="0" marL="0">
              <a:lnSpc>
                <a:spcPct val="112000"/>
              </a:lnSpc>
              <a:buNone/>
            </a:pPr>
            <a:r>
              <a:rPr lang="en-US" sz="1150" dirty="0">
                <a:solidFill>
                  <a:srgbClr val="1E2340"/>
                </a:solidFill>
                <a:latin typeface="Calibri" pitchFamily="34" charset="0"/>
                <a:ea typeface="Calibri" pitchFamily="34" charset="-122"/>
                <a:cs typeface="Calibri" pitchFamily="34" charset="-120"/>
              </a:rPr>
              <a:t>The remaining question is narrow: for each business action an external agent takes, is there an independent, verifiable record that THIS exact action was authorized — and does anything notice when individually-allowed steps add up to something that should not be allowed?</a:t>
            </a:r>
            <a:endParaRPr lang="en-US" sz="1150" dirty="0"/>
          </a:p>
        </p:txBody>
      </p:sp>
      <p:sp>
        <p:nvSpPr>
          <p:cNvPr id="6" name="Shape 4"/>
          <p:cNvSpPr/>
          <p:nvPr/>
        </p:nvSpPr>
        <p:spPr>
          <a:xfrm>
            <a:off x="548640" y="4297680"/>
            <a:ext cx="5486400" cy="1600200"/>
          </a:xfrm>
          <a:prstGeom prst="roundRect">
            <a:avLst>
              <a:gd name="adj" fmla="val 3429"/>
            </a:avLst>
          </a:prstGeom>
          <a:solidFill>
            <a:srgbClr val="E7F3EC"/>
          </a:solidFill>
          <a:ln w="12700">
            <a:solidFill>
              <a:srgbClr val="2E7D5B"/>
            </a:solidFill>
            <a:prstDash val="solid"/>
          </a:ln>
        </p:spPr>
      </p:sp>
      <p:sp>
        <p:nvSpPr>
          <p:cNvPr id="7" name="Text 5"/>
          <p:cNvSpPr/>
          <p:nvPr/>
        </p:nvSpPr>
        <p:spPr>
          <a:xfrm>
            <a:off x="731520" y="4389120"/>
            <a:ext cx="5166360" cy="1417320"/>
          </a:xfrm>
          <a:prstGeom prst="rect">
            <a:avLst/>
          </a:prstGeom>
          <a:noFill/>
          <a:ln/>
        </p:spPr>
        <p:txBody>
          <a:bodyPr wrap="square" lIns="0" tIns="0" rIns="0" bIns="0" rtlCol="0" anchor="ctr"/>
          <a:lstStyle/>
          <a:p>
            <a:pPr indent="0" marL="0">
              <a:lnSpc>
                <a:spcPct val="108000"/>
              </a:lnSpc>
              <a:buNone/>
            </a:pPr>
            <a:r>
              <a:rPr lang="en-US" sz="1050" b="1" dirty="0">
                <a:solidFill>
                  <a:srgbClr val="14532D"/>
                </a:solidFill>
                <a:latin typeface="Calibri" pitchFamily="34" charset="0"/>
                <a:ea typeface="Calibri" pitchFamily="34" charset="-122"/>
                <a:cs typeface="Calibri" pitchFamily="34" charset="-120"/>
              </a:rPr>
              <a:t>Ownership (unchanged).  </a:t>
            </a:r>
            <a:pPr indent="0" marL="0">
              <a:lnSpc>
                <a:spcPct val="108000"/>
              </a:lnSpc>
              <a:buNone/>
            </a:pPr>
            <a:r>
              <a:rPr lang="en-US" sz="1050" dirty="0">
                <a:solidFill>
                  <a:srgbClr val="1E2340"/>
                </a:solidFill>
                <a:latin typeface="Calibri" pitchFamily="34" charset="0"/>
                <a:ea typeface="Calibri" pitchFamily="34" charset="-122"/>
                <a:cs typeface="Calibri" pitchFamily="34" charset="-120"/>
              </a:rPr>
              <a:t>Action Fabric owns the governed ServiceNow action pathway; NVIDIA OpenShell owns its runtime / sandbox enforcement. Ugence contributes authority, exact-action binding, evidence lineage, clearance, sequence-risk and assurance artifacts — composition, not replacement.</a:t>
            </a:r>
            <a:endParaRPr lang="en-US" sz="1050" dirty="0"/>
          </a:p>
        </p:txBody>
      </p:sp>
      <p:sp>
        <p:nvSpPr>
          <p:cNvPr id="8" name="Shape 6"/>
          <p:cNvSpPr/>
          <p:nvPr/>
        </p:nvSpPr>
        <p:spPr>
          <a:xfrm>
            <a:off x="7635240" y="1371600"/>
            <a:ext cx="2468880" cy="457200"/>
          </a:xfrm>
          <a:prstGeom prst="roundRect">
            <a:avLst>
              <a:gd name="adj" fmla="val 14000"/>
            </a:avLst>
          </a:prstGeom>
          <a:solidFill>
            <a:srgbClr val="EEF1F4"/>
          </a:solidFill>
          <a:ln w="19050">
            <a:solidFill>
              <a:srgbClr val="6B7280"/>
            </a:solidFill>
            <a:prstDash val="solid"/>
          </a:ln>
          <a:effectLst>
            <a:outerShdw sx="100000" sy="100000" kx="0" ky="0" algn="bl" rotWithShape="0" blurRad="50800" dist="19050" dir="5400000">
              <a:srgbClr val="8A94A6">
                <a:alpha val="28000"/>
              </a:srgbClr>
            </a:outerShdw>
          </a:effectLst>
        </p:spPr>
      </p:sp>
      <p:sp>
        <p:nvSpPr>
          <p:cNvPr id="9" name="Text 7"/>
          <p:cNvSpPr/>
          <p:nvPr/>
        </p:nvSpPr>
        <p:spPr>
          <a:xfrm>
            <a:off x="7662672" y="1371600"/>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374151"/>
                </a:solidFill>
                <a:latin typeface="Calibri" pitchFamily="34" charset="0"/>
                <a:ea typeface="Calibri" pitchFamily="34" charset="-122"/>
                <a:cs typeface="Calibri" pitchFamily="34" charset="-120"/>
              </a:rPr>
              <a:t>External AI agent proposes a step</a:t>
            </a:r>
            <a:endParaRPr lang="en-US" sz="1050" dirty="0"/>
          </a:p>
        </p:txBody>
      </p:sp>
      <p:sp>
        <p:nvSpPr>
          <p:cNvPr id="10" name="Shape 8"/>
          <p:cNvSpPr/>
          <p:nvPr/>
        </p:nvSpPr>
        <p:spPr>
          <a:xfrm>
            <a:off x="7635240" y="2084832"/>
            <a:ext cx="246888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1" name="Text 9"/>
          <p:cNvSpPr/>
          <p:nvPr/>
        </p:nvSpPr>
        <p:spPr>
          <a:xfrm>
            <a:off x="7662672" y="2084832"/>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Allowed model &amp; exact action?</a:t>
            </a:r>
            <a:endParaRPr lang="en-US" sz="1050" dirty="0"/>
          </a:p>
        </p:txBody>
      </p:sp>
      <p:sp>
        <p:nvSpPr>
          <p:cNvPr id="12" name="Shape 10"/>
          <p:cNvSpPr/>
          <p:nvPr/>
        </p:nvSpPr>
        <p:spPr>
          <a:xfrm>
            <a:off x="7635240" y="2798064"/>
            <a:ext cx="246888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3" name="Text 11"/>
          <p:cNvSpPr/>
          <p:nvPr/>
        </p:nvSpPr>
        <p:spPr>
          <a:xfrm>
            <a:off x="7662672" y="2798064"/>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Do the steps together look harmful?</a:t>
            </a:r>
            <a:endParaRPr lang="en-US" sz="1050" dirty="0"/>
          </a:p>
        </p:txBody>
      </p:sp>
      <p:sp>
        <p:nvSpPr>
          <p:cNvPr id="14" name="Shape 12"/>
          <p:cNvSpPr/>
          <p:nvPr/>
        </p:nvSpPr>
        <p:spPr>
          <a:xfrm>
            <a:off x="7635240" y="3511296"/>
            <a:ext cx="246888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7662672" y="3511296"/>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Enforced by the platform</a:t>
            </a:r>
            <a:endParaRPr lang="en-US" sz="1050" dirty="0"/>
          </a:p>
        </p:txBody>
      </p:sp>
      <p:sp>
        <p:nvSpPr>
          <p:cNvPr id="16" name="Shape 14"/>
          <p:cNvSpPr/>
          <p:nvPr/>
        </p:nvSpPr>
        <p:spPr>
          <a:xfrm>
            <a:off x="7635240" y="4224528"/>
            <a:ext cx="246888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7" name="Text 15"/>
          <p:cNvSpPr/>
          <p:nvPr/>
        </p:nvSpPr>
        <p:spPr>
          <a:xfrm>
            <a:off x="7662672" y="4224528"/>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Independent record to ServiceNow</a:t>
            </a:r>
            <a:endParaRPr lang="en-US" sz="1050" dirty="0"/>
          </a:p>
        </p:txBody>
      </p:sp>
      <p:sp>
        <p:nvSpPr>
          <p:cNvPr id="18" name="Shape 16"/>
          <p:cNvSpPr/>
          <p:nvPr/>
        </p:nvSpPr>
        <p:spPr>
          <a:xfrm>
            <a:off x="8869680" y="1828800"/>
            <a:ext cx="914" cy="256032"/>
          </a:xfrm>
          <a:prstGeom prst="line">
            <a:avLst/>
          </a:prstGeom>
          <a:noFill/>
          <a:ln w="22225">
            <a:solidFill>
              <a:srgbClr val="4B5563"/>
            </a:solidFill>
            <a:prstDash val="solid"/>
            <a:tailEnd type="triangle"/>
          </a:ln>
        </p:spPr>
      </p:sp>
      <p:sp>
        <p:nvSpPr>
          <p:cNvPr id="19" name="Text 17"/>
          <p:cNvSpPr/>
          <p:nvPr/>
        </p:nvSpPr>
        <p:spPr>
          <a:xfrm>
            <a:off x="7909560" y="183794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via Action Fabric</a:t>
            </a:r>
            <a:endParaRPr lang="en-US" sz="800" dirty="0"/>
          </a:p>
        </p:txBody>
      </p:sp>
      <p:sp>
        <p:nvSpPr>
          <p:cNvPr id="20" name="Shape 18"/>
          <p:cNvSpPr/>
          <p:nvPr/>
        </p:nvSpPr>
        <p:spPr>
          <a:xfrm>
            <a:off x="8869680" y="2542032"/>
            <a:ext cx="914" cy="256032"/>
          </a:xfrm>
          <a:prstGeom prst="line">
            <a:avLst/>
          </a:prstGeom>
          <a:noFill/>
          <a:ln w="22225">
            <a:solidFill>
              <a:srgbClr val="4B5563"/>
            </a:solidFill>
            <a:prstDash val="solid"/>
            <a:tailEnd type="triangle"/>
          </a:ln>
        </p:spPr>
      </p:sp>
      <p:sp>
        <p:nvSpPr>
          <p:cNvPr id="21" name="Text 19"/>
          <p:cNvSpPr/>
          <p:nvPr/>
        </p:nvSpPr>
        <p:spPr>
          <a:xfrm>
            <a:off x="7909560" y="255117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bound to payload</a:t>
            </a:r>
            <a:endParaRPr lang="en-US" sz="800" dirty="0"/>
          </a:p>
        </p:txBody>
      </p:sp>
      <p:sp>
        <p:nvSpPr>
          <p:cNvPr id="22" name="Shape 20"/>
          <p:cNvSpPr/>
          <p:nvPr/>
        </p:nvSpPr>
        <p:spPr>
          <a:xfrm>
            <a:off x="8869680" y="3255264"/>
            <a:ext cx="914" cy="256032"/>
          </a:xfrm>
          <a:prstGeom prst="line">
            <a:avLst/>
          </a:prstGeom>
          <a:noFill/>
          <a:ln w="22225">
            <a:solidFill>
              <a:srgbClr val="4B5563"/>
            </a:solidFill>
            <a:prstDash val="solid"/>
            <a:tailEnd type="triangle"/>
          </a:ln>
        </p:spPr>
      </p:sp>
      <p:sp>
        <p:nvSpPr>
          <p:cNvPr id="23" name="Text 21"/>
          <p:cNvSpPr/>
          <p:nvPr/>
        </p:nvSpPr>
        <p:spPr>
          <a:xfrm>
            <a:off x="7909560" y="326440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sequence risk</a:t>
            </a:r>
            <a:endParaRPr lang="en-US" sz="800" dirty="0"/>
          </a:p>
        </p:txBody>
      </p:sp>
      <p:sp>
        <p:nvSpPr>
          <p:cNvPr id="24" name="Shape 22"/>
          <p:cNvSpPr/>
          <p:nvPr/>
        </p:nvSpPr>
        <p:spPr>
          <a:xfrm>
            <a:off x="8869680" y="3968496"/>
            <a:ext cx="914" cy="256032"/>
          </a:xfrm>
          <a:prstGeom prst="line">
            <a:avLst/>
          </a:prstGeom>
          <a:noFill/>
          <a:ln w="22225">
            <a:solidFill>
              <a:srgbClr val="4B5563"/>
            </a:solidFill>
            <a:prstDash val="solid"/>
            <a:tailEnd type="triangle"/>
          </a:ln>
        </p:spPr>
      </p:sp>
      <p:sp>
        <p:nvSpPr>
          <p:cNvPr id="25" name="Text 23"/>
          <p:cNvSpPr/>
          <p:nvPr/>
        </p:nvSpPr>
        <p:spPr>
          <a:xfrm>
            <a:off x="7909560" y="3977640"/>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Action Fabric + OpenShell</a:t>
            </a:r>
            <a:endParaRPr lang="en-US" sz="800" dirty="0"/>
          </a:p>
        </p:txBody>
      </p:sp>
      <p:sp>
        <p:nvSpPr>
          <p:cNvPr id="26" name="Text 24"/>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Ugence does not own or replace Action Fabric or OpenShell execution. Illustrative example.</a:t>
            </a:r>
            <a:endParaRPr lang="en-US" sz="850" dirty="0"/>
          </a:p>
        </p:txBody>
      </p:sp>
      <p:sp>
        <p:nvSpPr>
          <p:cNvPr id="28" name="Text 25"/>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37</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UC-4 · EXTERNAL AGENTS</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Technical module workflow — composition, not ownership</a:t>
            </a:r>
            <a:endParaRPr lang="en-US" sz="2600" dirty="0"/>
          </a:p>
        </p:txBody>
      </p:sp>
      <p:sp>
        <p:nvSpPr>
          <p:cNvPr id="4" name="Shape 2"/>
          <p:cNvSpPr/>
          <p:nvPr/>
        </p:nvSpPr>
        <p:spPr>
          <a:xfrm>
            <a:off x="548640" y="1152144"/>
            <a:ext cx="201168" cy="146304"/>
          </a:xfrm>
          <a:prstGeom prst="roundRect">
            <a:avLst>
              <a:gd name="adj" fmla="val 18750"/>
            </a:avLst>
          </a:prstGeom>
          <a:solidFill>
            <a:srgbClr val="E7F3EC"/>
          </a:solidFill>
          <a:ln w="12700">
            <a:solidFill>
              <a:srgbClr val="2E7D5B"/>
            </a:solidFill>
            <a:prstDash val="solid"/>
          </a:ln>
        </p:spPr>
      </p:sp>
      <p:sp>
        <p:nvSpPr>
          <p:cNvPr id="5" name="Text 3"/>
          <p:cNvSpPr/>
          <p:nvPr/>
        </p:nvSpPr>
        <p:spPr>
          <a:xfrm>
            <a:off x="804672" y="1106424"/>
            <a:ext cx="10972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ServiceNow</a:t>
            </a:r>
            <a:endParaRPr lang="en-US" sz="850" dirty="0"/>
          </a:p>
        </p:txBody>
      </p:sp>
      <p:sp>
        <p:nvSpPr>
          <p:cNvPr id="6" name="Shape 4"/>
          <p:cNvSpPr/>
          <p:nvPr/>
        </p:nvSpPr>
        <p:spPr>
          <a:xfrm>
            <a:off x="2039112" y="1152144"/>
            <a:ext cx="201168" cy="146304"/>
          </a:xfrm>
          <a:prstGeom prst="roundRect">
            <a:avLst>
              <a:gd name="adj" fmla="val 18750"/>
            </a:avLst>
          </a:prstGeom>
          <a:solidFill>
            <a:srgbClr val="ECEAFB"/>
          </a:solidFill>
          <a:ln w="12700">
            <a:solidFill>
              <a:srgbClr val="5145C7"/>
            </a:solidFill>
            <a:prstDash val="solid"/>
          </a:ln>
        </p:spPr>
      </p:sp>
      <p:sp>
        <p:nvSpPr>
          <p:cNvPr id="7" name="Text 5"/>
          <p:cNvSpPr/>
          <p:nvPr/>
        </p:nvSpPr>
        <p:spPr>
          <a:xfrm>
            <a:off x="2295144" y="1106424"/>
            <a:ext cx="15544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decision</a:t>
            </a:r>
            <a:endParaRPr lang="en-US" sz="850" dirty="0"/>
          </a:p>
        </p:txBody>
      </p:sp>
      <p:sp>
        <p:nvSpPr>
          <p:cNvPr id="8" name="Shape 6"/>
          <p:cNvSpPr/>
          <p:nvPr/>
        </p:nvSpPr>
        <p:spPr>
          <a:xfrm>
            <a:off x="3986784" y="1152144"/>
            <a:ext cx="201168" cy="146304"/>
          </a:xfrm>
          <a:prstGeom prst="roundRect">
            <a:avLst>
              <a:gd name="adj" fmla="val 18750"/>
            </a:avLst>
          </a:prstGeom>
          <a:solidFill>
            <a:srgbClr val="E4EFF7"/>
          </a:solidFill>
          <a:ln w="12700">
            <a:solidFill>
              <a:srgbClr val="2B6CB0"/>
            </a:solidFill>
            <a:prstDash val="solid"/>
          </a:ln>
        </p:spPr>
      </p:sp>
      <p:sp>
        <p:nvSpPr>
          <p:cNvPr id="9" name="Text 7"/>
          <p:cNvSpPr/>
          <p:nvPr/>
        </p:nvSpPr>
        <p:spPr>
          <a:xfrm>
            <a:off x="4242816" y="1106424"/>
            <a:ext cx="16459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execution</a:t>
            </a:r>
            <a:endParaRPr lang="en-US" sz="850" dirty="0"/>
          </a:p>
        </p:txBody>
      </p:sp>
      <p:sp>
        <p:nvSpPr>
          <p:cNvPr id="10" name="Shape 8"/>
          <p:cNvSpPr/>
          <p:nvPr/>
        </p:nvSpPr>
        <p:spPr>
          <a:xfrm>
            <a:off x="6025896" y="1152144"/>
            <a:ext cx="201168" cy="146304"/>
          </a:xfrm>
          <a:prstGeom prst="roundRect">
            <a:avLst>
              <a:gd name="adj" fmla="val 18750"/>
            </a:avLst>
          </a:prstGeom>
          <a:solidFill>
            <a:srgbClr val="EEF1F4"/>
          </a:solidFill>
          <a:ln w="12700">
            <a:solidFill>
              <a:srgbClr val="6B7280"/>
            </a:solidFill>
            <a:prstDash val="solid"/>
          </a:ln>
        </p:spPr>
      </p:sp>
      <p:sp>
        <p:nvSpPr>
          <p:cNvPr id="11" name="Text 9"/>
          <p:cNvSpPr/>
          <p:nvPr/>
        </p:nvSpPr>
        <p:spPr>
          <a:xfrm>
            <a:off x="6281928" y="1106424"/>
            <a:ext cx="7315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External</a:t>
            </a:r>
            <a:endParaRPr lang="en-US" sz="850" dirty="0"/>
          </a:p>
        </p:txBody>
      </p:sp>
      <p:sp>
        <p:nvSpPr>
          <p:cNvPr id="12" name="Shape 10"/>
          <p:cNvSpPr/>
          <p:nvPr/>
        </p:nvSpPr>
        <p:spPr>
          <a:xfrm>
            <a:off x="7150608" y="1152144"/>
            <a:ext cx="201168" cy="146304"/>
          </a:xfrm>
          <a:prstGeom prst="roundRect">
            <a:avLst>
              <a:gd name="adj" fmla="val 18750"/>
            </a:avLst>
          </a:prstGeom>
          <a:solidFill>
            <a:srgbClr val="FBEBE9"/>
          </a:solidFill>
          <a:ln w="12700">
            <a:solidFill>
              <a:srgbClr val="C0392B"/>
            </a:solidFill>
            <a:prstDash val="solid"/>
          </a:ln>
        </p:spPr>
      </p:sp>
      <p:sp>
        <p:nvSpPr>
          <p:cNvPr id="13" name="Text 11"/>
          <p:cNvSpPr/>
          <p:nvPr/>
        </p:nvSpPr>
        <p:spPr>
          <a:xfrm>
            <a:off x="7406640" y="1106424"/>
            <a:ext cx="6400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Stop</a:t>
            </a:r>
            <a:endParaRPr lang="en-US" sz="850" dirty="0"/>
          </a:p>
        </p:txBody>
      </p:sp>
      <p:sp>
        <p:nvSpPr>
          <p:cNvPr id="14" name="Shape 12"/>
          <p:cNvSpPr/>
          <p:nvPr/>
        </p:nvSpPr>
        <p:spPr>
          <a:xfrm>
            <a:off x="2560320" y="1353312"/>
            <a:ext cx="3200400" cy="438912"/>
          </a:xfrm>
          <a:prstGeom prst="roundRect">
            <a:avLst>
              <a:gd name="adj" fmla="val 14583"/>
            </a:avLst>
          </a:prstGeom>
          <a:solidFill>
            <a:srgbClr val="EEF1F4"/>
          </a:solidFill>
          <a:ln w="19050">
            <a:solidFill>
              <a:srgbClr val="6B7280"/>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2587752" y="1353312"/>
            <a:ext cx="3145536" cy="438912"/>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374151"/>
                </a:solidFill>
                <a:latin typeface="Calibri" pitchFamily="34" charset="0"/>
                <a:ea typeface="Calibri" pitchFamily="34" charset="-122"/>
                <a:cs typeface="Calibri" pitchFamily="34" charset="-120"/>
              </a:rPr>
              <a:t>External AI agent · Claude / Copilot / custom</a:t>
            </a:r>
            <a:endParaRPr lang="en-US" sz="950" dirty="0"/>
          </a:p>
        </p:txBody>
      </p:sp>
      <p:sp>
        <p:nvSpPr>
          <p:cNvPr id="16" name="Shape 14"/>
          <p:cNvSpPr/>
          <p:nvPr/>
        </p:nvSpPr>
        <p:spPr>
          <a:xfrm>
            <a:off x="2560320" y="1883664"/>
            <a:ext cx="3200400" cy="438912"/>
          </a:xfrm>
          <a:prstGeom prst="roundRect">
            <a:avLst>
              <a:gd name="adj" fmla="val 14583"/>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7" name="Text 15"/>
          <p:cNvSpPr/>
          <p:nvPr/>
        </p:nvSpPr>
        <p:spPr>
          <a:xfrm>
            <a:off x="2587752" y="1883664"/>
            <a:ext cx="3145536" cy="438912"/>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14532D"/>
                </a:solidFill>
                <a:latin typeface="Calibri" pitchFamily="34" charset="0"/>
                <a:ea typeface="Calibri" pitchFamily="34" charset="-122"/>
                <a:cs typeface="Calibri" pitchFamily="34" charset="-120"/>
              </a:rPr>
              <a:t>ServiceNow Action Fabric · via AI Control Tower</a:t>
            </a:r>
            <a:endParaRPr lang="en-US" sz="950" dirty="0"/>
          </a:p>
        </p:txBody>
      </p:sp>
      <p:sp>
        <p:nvSpPr>
          <p:cNvPr id="18" name="Shape 16"/>
          <p:cNvSpPr/>
          <p:nvPr/>
        </p:nvSpPr>
        <p:spPr>
          <a:xfrm>
            <a:off x="2560320" y="2414016"/>
            <a:ext cx="3200400" cy="438912"/>
          </a:xfrm>
          <a:prstGeom prst="roundRect">
            <a:avLst>
              <a:gd name="adj" fmla="val 14583"/>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2587752" y="2414016"/>
            <a:ext cx="3145536" cy="438912"/>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173A5A"/>
                </a:solidFill>
                <a:latin typeface="Calibri" pitchFamily="34" charset="0"/>
                <a:ea typeface="Calibri" pitchFamily="34" charset="-122"/>
                <a:cs typeface="Calibri" pitchFamily="34" charset="-120"/>
              </a:rPr>
              <a:t>Agent Runtime · governance-decision seam</a:t>
            </a:r>
            <a:endParaRPr lang="en-US" sz="950" dirty="0"/>
          </a:p>
        </p:txBody>
      </p:sp>
      <p:sp>
        <p:nvSpPr>
          <p:cNvPr id="20" name="Shape 18"/>
          <p:cNvSpPr/>
          <p:nvPr/>
        </p:nvSpPr>
        <p:spPr>
          <a:xfrm>
            <a:off x="2560320" y="2944368"/>
            <a:ext cx="3200400" cy="438912"/>
          </a:xfrm>
          <a:prstGeom prst="roundRect">
            <a:avLst>
              <a:gd name="adj" fmla="val 14583"/>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21" name="Text 19"/>
          <p:cNvSpPr/>
          <p:nvPr/>
        </p:nvSpPr>
        <p:spPr>
          <a:xfrm>
            <a:off x="2587752" y="2944368"/>
            <a:ext cx="3145536" cy="438912"/>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2A2170"/>
                </a:solidFill>
                <a:latin typeface="Calibri" pitchFamily="34" charset="0"/>
                <a:ea typeface="Calibri" pitchFamily="34" charset="-122"/>
                <a:cs typeface="Calibri" pitchFamily="34" charset="-120"/>
              </a:rPr>
              <a:t>Model Authority → ActionGate · exact payload</a:t>
            </a:r>
            <a:endParaRPr lang="en-US" sz="950" dirty="0"/>
          </a:p>
        </p:txBody>
      </p:sp>
      <p:sp>
        <p:nvSpPr>
          <p:cNvPr id="22" name="Shape 20"/>
          <p:cNvSpPr/>
          <p:nvPr/>
        </p:nvSpPr>
        <p:spPr>
          <a:xfrm>
            <a:off x="2560320" y="3474720"/>
            <a:ext cx="3200400" cy="438912"/>
          </a:xfrm>
          <a:prstGeom prst="roundRect">
            <a:avLst>
              <a:gd name="adj" fmla="val 14583"/>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23" name="Text 21"/>
          <p:cNvSpPr/>
          <p:nvPr/>
        </p:nvSpPr>
        <p:spPr>
          <a:xfrm>
            <a:off x="2587752" y="3474720"/>
            <a:ext cx="3145536" cy="438912"/>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2A2170"/>
                </a:solidFill>
                <a:latin typeface="Calibri" pitchFamily="34" charset="0"/>
                <a:ea typeface="Calibri" pitchFamily="34" charset="-122"/>
                <a:cs typeface="Calibri" pitchFamily="34" charset="-120"/>
              </a:rPr>
              <a:t>StoryGraph → Action Clearance (ACP)</a:t>
            </a:r>
            <a:endParaRPr lang="en-US" sz="950" dirty="0"/>
          </a:p>
        </p:txBody>
      </p:sp>
      <p:sp>
        <p:nvSpPr>
          <p:cNvPr id="24" name="Shape 22"/>
          <p:cNvSpPr/>
          <p:nvPr/>
        </p:nvSpPr>
        <p:spPr>
          <a:xfrm>
            <a:off x="2560320" y="4005072"/>
            <a:ext cx="3200400" cy="438912"/>
          </a:xfrm>
          <a:prstGeom prst="roundRect">
            <a:avLst>
              <a:gd name="adj" fmla="val 14583"/>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25" name="Text 23"/>
          <p:cNvSpPr/>
          <p:nvPr/>
        </p:nvSpPr>
        <p:spPr>
          <a:xfrm>
            <a:off x="2587752" y="4005072"/>
            <a:ext cx="3145536" cy="438912"/>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ServiceNow Action Fabric → dispatch</a:t>
            </a:r>
            <a:endParaRPr lang="en-US" sz="1050" dirty="0"/>
          </a:p>
        </p:txBody>
      </p:sp>
      <p:sp>
        <p:nvSpPr>
          <p:cNvPr id="26" name="Shape 24"/>
          <p:cNvSpPr/>
          <p:nvPr/>
        </p:nvSpPr>
        <p:spPr>
          <a:xfrm>
            <a:off x="2560320" y="4535424"/>
            <a:ext cx="3200400" cy="438912"/>
          </a:xfrm>
          <a:prstGeom prst="roundRect">
            <a:avLst>
              <a:gd name="adj" fmla="val 14583"/>
            </a:avLst>
          </a:prstGeom>
          <a:solidFill>
            <a:srgbClr val="EEF1F4"/>
          </a:solidFill>
          <a:ln w="19050">
            <a:solidFill>
              <a:srgbClr val="6B7280"/>
            </a:solidFill>
            <a:prstDash val="solid"/>
          </a:ln>
          <a:effectLst>
            <a:outerShdw sx="100000" sy="100000" kx="0" ky="0" algn="bl" rotWithShape="0" blurRad="50800" dist="19050" dir="5400000">
              <a:srgbClr val="8A94A6">
                <a:alpha val="28000"/>
              </a:srgbClr>
            </a:outerShdw>
          </a:effectLst>
        </p:spPr>
      </p:sp>
      <p:sp>
        <p:nvSpPr>
          <p:cNvPr id="27" name="Text 25"/>
          <p:cNvSpPr/>
          <p:nvPr/>
        </p:nvSpPr>
        <p:spPr>
          <a:xfrm>
            <a:off x="2587752" y="4535424"/>
            <a:ext cx="3145536" cy="438912"/>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374151"/>
                </a:solidFill>
                <a:latin typeface="Calibri" pitchFamily="34" charset="0"/>
                <a:ea typeface="Calibri" pitchFamily="34" charset="-122"/>
                <a:cs typeface="Calibri" pitchFamily="34" charset="-120"/>
              </a:rPr>
              <a:t>OpenShell runtime enforcement · ServiceNow–NVIDIA</a:t>
            </a:r>
            <a:endParaRPr lang="en-US" sz="950" dirty="0"/>
          </a:p>
        </p:txBody>
      </p:sp>
      <p:sp>
        <p:nvSpPr>
          <p:cNvPr id="28" name="Shape 26"/>
          <p:cNvSpPr/>
          <p:nvPr/>
        </p:nvSpPr>
        <p:spPr>
          <a:xfrm>
            <a:off x="2560320" y="5065776"/>
            <a:ext cx="3200400" cy="438912"/>
          </a:xfrm>
          <a:prstGeom prst="roundRect">
            <a:avLst>
              <a:gd name="adj" fmla="val 14583"/>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9" name="Text 27"/>
          <p:cNvSpPr/>
          <p:nvPr/>
        </p:nvSpPr>
        <p:spPr>
          <a:xfrm>
            <a:off x="2587752" y="5065776"/>
            <a:ext cx="3145536" cy="438912"/>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RA-7 Trajectory Assurance</a:t>
            </a:r>
            <a:endParaRPr lang="en-US" sz="1050" dirty="0"/>
          </a:p>
        </p:txBody>
      </p:sp>
      <p:sp>
        <p:nvSpPr>
          <p:cNvPr id="30" name="Shape 28"/>
          <p:cNvSpPr/>
          <p:nvPr/>
        </p:nvSpPr>
        <p:spPr>
          <a:xfrm>
            <a:off x="2560320" y="5596128"/>
            <a:ext cx="3200400" cy="438912"/>
          </a:xfrm>
          <a:prstGeom prst="roundRect">
            <a:avLst>
              <a:gd name="adj" fmla="val 14583"/>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31" name="Text 29"/>
          <p:cNvSpPr/>
          <p:nvPr/>
        </p:nvSpPr>
        <p:spPr>
          <a:xfrm>
            <a:off x="2587752" y="5596128"/>
            <a:ext cx="3145536" cy="438912"/>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14532D"/>
                </a:solidFill>
                <a:latin typeface="Calibri" pitchFamily="34" charset="0"/>
                <a:ea typeface="Calibri" pitchFamily="34" charset="-122"/>
                <a:cs typeface="Calibri" pitchFamily="34" charset="-120"/>
              </a:rPr>
              <a:t>ServiceNow case + AI Control Tower audit</a:t>
            </a:r>
            <a:endParaRPr lang="en-US" sz="950" dirty="0"/>
          </a:p>
        </p:txBody>
      </p:sp>
      <p:sp>
        <p:nvSpPr>
          <p:cNvPr id="32" name="Shape 30"/>
          <p:cNvSpPr/>
          <p:nvPr/>
        </p:nvSpPr>
        <p:spPr>
          <a:xfrm>
            <a:off x="4160520" y="1792224"/>
            <a:ext cx="914" cy="91440"/>
          </a:xfrm>
          <a:prstGeom prst="line">
            <a:avLst/>
          </a:prstGeom>
          <a:noFill/>
          <a:ln w="22225">
            <a:solidFill>
              <a:srgbClr val="4B5563"/>
            </a:solidFill>
            <a:prstDash val="solid"/>
            <a:tailEnd type="triangle"/>
          </a:ln>
        </p:spPr>
      </p:sp>
      <p:sp>
        <p:nvSpPr>
          <p:cNvPr id="33" name="Text 31"/>
          <p:cNvSpPr/>
          <p:nvPr/>
        </p:nvSpPr>
        <p:spPr>
          <a:xfrm>
            <a:off x="3200400" y="171907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governed step request</a:t>
            </a:r>
            <a:endParaRPr lang="en-US" sz="800" dirty="0"/>
          </a:p>
        </p:txBody>
      </p:sp>
      <p:sp>
        <p:nvSpPr>
          <p:cNvPr id="34" name="Shape 32"/>
          <p:cNvSpPr/>
          <p:nvPr/>
        </p:nvSpPr>
        <p:spPr>
          <a:xfrm>
            <a:off x="4160520" y="2322576"/>
            <a:ext cx="914" cy="91440"/>
          </a:xfrm>
          <a:prstGeom prst="line">
            <a:avLst/>
          </a:prstGeom>
          <a:noFill/>
          <a:ln w="22225">
            <a:solidFill>
              <a:srgbClr val="4B5563"/>
            </a:solidFill>
            <a:prstDash val="solid"/>
            <a:tailEnd type="triangle"/>
          </a:ln>
        </p:spPr>
      </p:sp>
      <p:sp>
        <p:nvSpPr>
          <p:cNvPr id="35" name="Text 33"/>
          <p:cNvSpPr/>
          <p:nvPr/>
        </p:nvSpPr>
        <p:spPr>
          <a:xfrm>
            <a:off x="3200400" y="224942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business action context</a:t>
            </a:r>
            <a:endParaRPr lang="en-US" sz="800" dirty="0"/>
          </a:p>
        </p:txBody>
      </p:sp>
      <p:sp>
        <p:nvSpPr>
          <p:cNvPr id="36" name="Shape 34"/>
          <p:cNvSpPr/>
          <p:nvPr/>
        </p:nvSpPr>
        <p:spPr>
          <a:xfrm>
            <a:off x="4160520" y="2852928"/>
            <a:ext cx="914" cy="91440"/>
          </a:xfrm>
          <a:prstGeom prst="line">
            <a:avLst/>
          </a:prstGeom>
          <a:noFill/>
          <a:ln w="22225">
            <a:solidFill>
              <a:srgbClr val="4B5563"/>
            </a:solidFill>
            <a:prstDash val="solid"/>
            <a:tailEnd type="triangle"/>
          </a:ln>
        </p:spPr>
      </p:sp>
      <p:sp>
        <p:nvSpPr>
          <p:cNvPr id="37" name="Text 35"/>
          <p:cNvSpPr/>
          <p:nvPr/>
        </p:nvSpPr>
        <p:spPr>
          <a:xfrm>
            <a:off x="3200400" y="277977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per-step request</a:t>
            </a:r>
            <a:endParaRPr lang="en-US" sz="800" dirty="0"/>
          </a:p>
        </p:txBody>
      </p:sp>
      <p:sp>
        <p:nvSpPr>
          <p:cNvPr id="38" name="Shape 36"/>
          <p:cNvSpPr/>
          <p:nvPr/>
        </p:nvSpPr>
        <p:spPr>
          <a:xfrm>
            <a:off x="4160520" y="3383280"/>
            <a:ext cx="914" cy="91440"/>
          </a:xfrm>
          <a:prstGeom prst="line">
            <a:avLst/>
          </a:prstGeom>
          <a:noFill/>
          <a:ln w="22225">
            <a:solidFill>
              <a:srgbClr val="4B5563"/>
            </a:solidFill>
            <a:prstDash val="solid"/>
            <a:tailEnd type="triangle"/>
          </a:ln>
        </p:spPr>
      </p:sp>
      <p:sp>
        <p:nvSpPr>
          <p:cNvPr id="39" name="Text 37"/>
          <p:cNvSpPr/>
          <p:nvPr/>
        </p:nvSpPr>
        <p:spPr>
          <a:xfrm>
            <a:off x="3200400" y="331012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exact-payload authorization</a:t>
            </a:r>
            <a:endParaRPr lang="en-US" sz="800" dirty="0"/>
          </a:p>
        </p:txBody>
      </p:sp>
      <p:sp>
        <p:nvSpPr>
          <p:cNvPr id="40" name="Shape 38"/>
          <p:cNvSpPr/>
          <p:nvPr/>
        </p:nvSpPr>
        <p:spPr>
          <a:xfrm>
            <a:off x="4160520" y="3913632"/>
            <a:ext cx="914" cy="91440"/>
          </a:xfrm>
          <a:prstGeom prst="line">
            <a:avLst/>
          </a:prstGeom>
          <a:noFill/>
          <a:ln w="22225">
            <a:solidFill>
              <a:srgbClr val="4B5563"/>
            </a:solidFill>
            <a:prstDash val="solid"/>
            <a:tailEnd type="triangle"/>
          </a:ln>
        </p:spPr>
      </p:sp>
      <p:sp>
        <p:nvSpPr>
          <p:cNvPr id="41" name="Text 39"/>
          <p:cNvSpPr/>
          <p:nvPr/>
        </p:nvSpPr>
        <p:spPr>
          <a:xfrm>
            <a:off x="3200400" y="3840480"/>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CLEAR</a:t>
            </a:r>
            <a:endParaRPr lang="en-US" sz="800" dirty="0"/>
          </a:p>
        </p:txBody>
      </p:sp>
      <p:sp>
        <p:nvSpPr>
          <p:cNvPr id="42" name="Shape 40"/>
          <p:cNvSpPr/>
          <p:nvPr/>
        </p:nvSpPr>
        <p:spPr>
          <a:xfrm>
            <a:off x="4160520" y="4443984"/>
            <a:ext cx="914" cy="91440"/>
          </a:xfrm>
          <a:prstGeom prst="line">
            <a:avLst/>
          </a:prstGeom>
          <a:noFill/>
          <a:ln w="22225">
            <a:solidFill>
              <a:srgbClr val="4B5563"/>
            </a:solidFill>
            <a:prstDash val="solid"/>
            <a:tailEnd type="triangle"/>
          </a:ln>
        </p:spPr>
      </p:sp>
      <p:sp>
        <p:nvSpPr>
          <p:cNvPr id="43" name="Text 41"/>
          <p:cNvSpPr/>
          <p:nvPr/>
        </p:nvSpPr>
        <p:spPr>
          <a:xfrm>
            <a:off x="3200400" y="437083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dispatch</a:t>
            </a:r>
            <a:endParaRPr lang="en-US" sz="800" dirty="0"/>
          </a:p>
        </p:txBody>
      </p:sp>
      <p:sp>
        <p:nvSpPr>
          <p:cNvPr id="44" name="Shape 42"/>
          <p:cNvSpPr/>
          <p:nvPr/>
        </p:nvSpPr>
        <p:spPr>
          <a:xfrm>
            <a:off x="4160520" y="4974336"/>
            <a:ext cx="914" cy="91440"/>
          </a:xfrm>
          <a:prstGeom prst="line">
            <a:avLst/>
          </a:prstGeom>
          <a:noFill/>
          <a:ln w="22225">
            <a:solidFill>
              <a:srgbClr val="4B5563"/>
            </a:solidFill>
            <a:prstDash val="solid"/>
            <a:tailEnd type="triangle"/>
          </a:ln>
        </p:spPr>
      </p:sp>
      <p:sp>
        <p:nvSpPr>
          <p:cNvPr id="45" name="Text 43"/>
          <p:cNvSpPr/>
          <p:nvPr/>
        </p:nvSpPr>
        <p:spPr>
          <a:xfrm>
            <a:off x="3200400" y="490118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enforced execution result</a:t>
            </a:r>
            <a:endParaRPr lang="en-US" sz="800" dirty="0"/>
          </a:p>
        </p:txBody>
      </p:sp>
      <p:sp>
        <p:nvSpPr>
          <p:cNvPr id="46" name="Shape 44"/>
          <p:cNvSpPr/>
          <p:nvPr/>
        </p:nvSpPr>
        <p:spPr>
          <a:xfrm>
            <a:off x="4160520" y="5504688"/>
            <a:ext cx="914" cy="91440"/>
          </a:xfrm>
          <a:prstGeom prst="line">
            <a:avLst/>
          </a:prstGeom>
          <a:noFill/>
          <a:ln w="22225">
            <a:solidFill>
              <a:srgbClr val="4B5563"/>
            </a:solidFill>
            <a:prstDash val="solid"/>
            <a:tailEnd type="triangle"/>
          </a:ln>
        </p:spPr>
      </p:sp>
      <p:sp>
        <p:nvSpPr>
          <p:cNvPr id="47" name="Text 45"/>
          <p:cNvSpPr/>
          <p:nvPr/>
        </p:nvSpPr>
        <p:spPr>
          <a:xfrm>
            <a:off x="3200400" y="543153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assurance evidence</a:t>
            </a:r>
            <a:endParaRPr lang="en-US" sz="800" dirty="0"/>
          </a:p>
        </p:txBody>
      </p:sp>
      <p:sp>
        <p:nvSpPr>
          <p:cNvPr id="48" name="Shape 46"/>
          <p:cNvSpPr/>
          <p:nvPr/>
        </p:nvSpPr>
        <p:spPr>
          <a:xfrm>
            <a:off x="8092440" y="2944368"/>
            <a:ext cx="2286000" cy="969264"/>
          </a:xfrm>
          <a:prstGeom prst="roundRect">
            <a:avLst>
              <a:gd name="adj" fmla="val 5660"/>
            </a:avLst>
          </a:prstGeom>
          <a:solidFill>
            <a:srgbClr val="FBEBE9"/>
          </a:solidFill>
          <a:ln w="15875">
            <a:solidFill>
              <a:srgbClr val="C0392B"/>
            </a:solidFill>
            <a:prstDash val="solid"/>
          </a:ln>
        </p:spPr>
      </p:sp>
      <p:sp>
        <p:nvSpPr>
          <p:cNvPr id="49" name="Text 47"/>
          <p:cNvSpPr/>
          <p:nvPr/>
        </p:nvSpPr>
        <p:spPr>
          <a:xfrm>
            <a:off x="8183880" y="2944368"/>
            <a:ext cx="2103120" cy="969264"/>
          </a:xfrm>
          <a:prstGeom prst="rect">
            <a:avLst/>
          </a:prstGeom>
          <a:noFill/>
          <a:ln/>
        </p:spPr>
        <p:txBody>
          <a:bodyPr wrap="square" lIns="25400" tIns="25400" rIns="25400" bIns="25400" rtlCol="0" anchor="ctr"/>
          <a:lstStyle/>
          <a:p>
            <a:pPr algn="ctr" indent="0" marL="0">
              <a:buNone/>
            </a:pPr>
            <a:r>
              <a:rPr lang="en-US" sz="950" b="1" dirty="0">
                <a:solidFill>
                  <a:srgbClr val="7A2016"/>
                </a:solidFill>
                <a:latin typeface="Calibri" pitchFamily="34" charset="0"/>
                <a:ea typeface="Calibri" pitchFamily="34" charset="-122"/>
                <a:cs typeface="Calibri" pitchFamily="34" charset="-120"/>
              </a:rPr>
              <a:t>HOLD / BLOCK / ESCALATE</a:t>
            </a:r>
            <a:endParaRPr lang="en-US" sz="950" dirty="0"/>
          </a:p>
          <a:p>
            <a:pPr algn="ctr" indent="0" marL="0">
              <a:buNone/>
            </a:pPr>
            <a:r>
              <a:rPr lang="en-US" sz="950" b="1" dirty="0">
                <a:solidFill>
                  <a:srgbClr val="7A2016"/>
                </a:solidFill>
                <a:latin typeface="Calibri" pitchFamily="34" charset="0"/>
                <a:ea typeface="Calibri" pitchFamily="34" charset="-122"/>
                <a:cs typeface="Calibri" pitchFamily="34" charset="-120"/>
              </a:rPr>
              <a:t>value movement paused</a:t>
            </a:r>
            <a:endParaRPr lang="en-US" sz="950" dirty="0"/>
          </a:p>
        </p:txBody>
      </p:sp>
      <p:sp>
        <p:nvSpPr>
          <p:cNvPr id="50" name="Shape 48"/>
          <p:cNvSpPr/>
          <p:nvPr/>
        </p:nvSpPr>
        <p:spPr>
          <a:xfrm>
            <a:off x="5760720" y="3163824"/>
            <a:ext cx="2331720" cy="914"/>
          </a:xfrm>
          <a:prstGeom prst="line">
            <a:avLst/>
          </a:prstGeom>
          <a:noFill/>
          <a:ln w="22225">
            <a:solidFill>
              <a:srgbClr val="C0392B"/>
            </a:solidFill>
            <a:prstDash val="solid"/>
            <a:tailEnd type="triangle"/>
          </a:ln>
        </p:spPr>
      </p:sp>
      <p:sp>
        <p:nvSpPr>
          <p:cNvPr id="51" name="Text 49"/>
          <p:cNvSpPr/>
          <p:nvPr/>
        </p:nvSpPr>
        <p:spPr>
          <a:xfrm>
            <a:off x="6286500" y="3044952"/>
            <a:ext cx="128016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DENY / DENIED</a:t>
            </a:r>
            <a:endParaRPr lang="en-US" sz="750" dirty="0"/>
          </a:p>
        </p:txBody>
      </p:sp>
      <p:sp>
        <p:nvSpPr>
          <p:cNvPr id="52" name="Shape 50"/>
          <p:cNvSpPr/>
          <p:nvPr/>
        </p:nvSpPr>
        <p:spPr>
          <a:xfrm>
            <a:off x="5760720" y="3694176"/>
            <a:ext cx="2331720" cy="914"/>
          </a:xfrm>
          <a:prstGeom prst="line">
            <a:avLst/>
          </a:prstGeom>
          <a:noFill/>
          <a:ln w="22225">
            <a:solidFill>
              <a:srgbClr val="C0392B"/>
            </a:solidFill>
            <a:prstDash val="solid"/>
            <a:tailEnd type="triangle"/>
          </a:ln>
        </p:spPr>
      </p:sp>
      <p:sp>
        <p:nvSpPr>
          <p:cNvPr id="53" name="Text 51"/>
          <p:cNvSpPr/>
          <p:nvPr/>
        </p:nvSpPr>
        <p:spPr>
          <a:xfrm>
            <a:off x="6057900" y="3575304"/>
            <a:ext cx="173736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ESCALATE seq-risk / HOLD</a:t>
            </a:r>
            <a:endParaRPr lang="en-US" sz="750" dirty="0"/>
          </a:p>
        </p:txBody>
      </p:sp>
      <p:sp>
        <p:nvSpPr>
          <p:cNvPr id="54" name="Shape 52"/>
          <p:cNvSpPr/>
          <p:nvPr/>
        </p:nvSpPr>
        <p:spPr>
          <a:xfrm>
            <a:off x="9235440" y="3913632"/>
            <a:ext cx="914" cy="1901952"/>
          </a:xfrm>
          <a:prstGeom prst="line">
            <a:avLst/>
          </a:prstGeom>
          <a:noFill/>
          <a:ln w="22225">
            <a:solidFill>
              <a:srgbClr val="4B5563"/>
            </a:solidFill>
            <a:prstDash val="solid"/>
            <a:tailEnd type="triangle"/>
          </a:ln>
        </p:spPr>
      </p:sp>
      <p:sp>
        <p:nvSpPr>
          <p:cNvPr id="55" name="Text 53"/>
          <p:cNvSpPr/>
          <p:nvPr/>
        </p:nvSpPr>
        <p:spPr>
          <a:xfrm>
            <a:off x="8503920" y="4745736"/>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6B7280"/>
                </a:solidFill>
                <a:latin typeface="Calibri" pitchFamily="34" charset="0"/>
                <a:ea typeface="Calibri" pitchFamily="34" charset="-122"/>
                <a:cs typeface="Calibri" pitchFamily="34" charset="-120"/>
              </a:rPr>
              <a:t>reason + evidence</a:t>
            </a:r>
            <a:endParaRPr lang="en-US" sz="750" dirty="0"/>
          </a:p>
        </p:txBody>
      </p:sp>
      <p:sp>
        <p:nvSpPr>
          <p:cNvPr id="56" name="Shape 54"/>
          <p:cNvSpPr/>
          <p:nvPr/>
        </p:nvSpPr>
        <p:spPr>
          <a:xfrm flipH="1">
            <a:off x="5760720" y="5815584"/>
            <a:ext cx="3474720" cy="914"/>
          </a:xfrm>
          <a:prstGeom prst="line">
            <a:avLst/>
          </a:prstGeom>
          <a:noFill/>
          <a:ln w="22225">
            <a:solidFill>
              <a:srgbClr val="4B5563"/>
            </a:solidFill>
            <a:prstDash val="solid"/>
            <a:tailEnd type="triangle"/>
          </a:ln>
        </p:spPr>
      </p:sp>
      <p:sp>
        <p:nvSpPr>
          <p:cNvPr id="57" name="Shape 55"/>
          <p:cNvSpPr/>
          <p:nvPr/>
        </p:nvSpPr>
        <p:spPr>
          <a:xfrm>
            <a:off x="548640" y="2377440"/>
            <a:ext cx="1874520" cy="2148840"/>
          </a:xfrm>
          <a:prstGeom prst="roundRect">
            <a:avLst>
              <a:gd name="adj" fmla="val 2927"/>
            </a:avLst>
          </a:prstGeom>
          <a:solidFill>
            <a:srgbClr val="E7F3EC"/>
          </a:solidFill>
          <a:ln w="12700">
            <a:solidFill>
              <a:srgbClr val="2E7D5B"/>
            </a:solidFill>
            <a:prstDash val="solid"/>
          </a:ln>
        </p:spPr>
      </p:sp>
      <p:sp>
        <p:nvSpPr>
          <p:cNvPr id="58" name="Text 56"/>
          <p:cNvSpPr/>
          <p:nvPr/>
        </p:nvSpPr>
        <p:spPr>
          <a:xfrm>
            <a:off x="658368" y="2450592"/>
            <a:ext cx="1645920" cy="256032"/>
          </a:xfrm>
          <a:prstGeom prst="rect">
            <a:avLst/>
          </a:prstGeom>
          <a:noFill/>
          <a:ln/>
        </p:spPr>
        <p:txBody>
          <a:bodyPr wrap="square" lIns="0" tIns="0" rIns="0" bIns="0" rtlCol="0" anchor="ctr"/>
          <a:lstStyle/>
          <a:p>
            <a:pPr indent="0" marL="0">
              <a:buNone/>
            </a:pPr>
            <a:r>
              <a:rPr lang="en-US" sz="1000" b="1" dirty="0">
                <a:solidFill>
                  <a:srgbClr val="14532D"/>
                </a:solidFill>
                <a:latin typeface="Calibri" pitchFamily="34" charset="0"/>
                <a:ea typeface="Calibri" pitchFamily="34" charset="-122"/>
                <a:cs typeface="Calibri" pitchFamily="34" charset="-120"/>
              </a:rPr>
              <a:t>Ownership</a:t>
            </a:r>
            <a:endParaRPr lang="en-US" sz="1000" dirty="0"/>
          </a:p>
        </p:txBody>
      </p:sp>
      <p:sp>
        <p:nvSpPr>
          <p:cNvPr id="59" name="Text 57"/>
          <p:cNvSpPr/>
          <p:nvPr/>
        </p:nvSpPr>
        <p:spPr>
          <a:xfrm>
            <a:off x="658368" y="2743200"/>
            <a:ext cx="1664208" cy="1737360"/>
          </a:xfrm>
          <a:prstGeom prst="rect">
            <a:avLst/>
          </a:prstGeom>
          <a:noFill/>
          <a:ln/>
        </p:spPr>
        <p:txBody>
          <a:bodyPr wrap="square" lIns="0" tIns="0" rIns="0" bIns="0" rtlCol="0" anchor="t"/>
          <a:lstStyle/>
          <a:p>
            <a:pPr indent="0" marL="0">
              <a:lnSpc>
                <a:spcPct val="102000"/>
              </a:lnSpc>
              <a:buNone/>
            </a:pPr>
            <a:r>
              <a:rPr lang="en-US" sz="860" dirty="0">
                <a:solidFill>
                  <a:srgbClr val="1E2340"/>
                </a:solidFill>
                <a:latin typeface="Calibri" pitchFamily="34" charset="0"/>
                <a:ea typeface="Calibri" pitchFamily="34" charset="-122"/>
                <a:cs typeface="Calibri" pitchFamily="34" charset="-120"/>
              </a:rPr>
              <a:t>Dispatch + runtime enforcement = ServiceNow (Action Fabric) + NVIDIA (OpenShell).</a:t>
            </a:r>
            <a:endParaRPr lang="en-US" sz="860" dirty="0"/>
          </a:p>
          <a:p>
            <a:pPr indent="0" marL="0">
              <a:lnSpc>
                <a:spcPct val="102000"/>
              </a:lnSpc>
              <a:buNone/>
            </a:pPr>
            <a:endParaRPr lang="en-US" sz="860" dirty="0"/>
          </a:p>
          <a:p>
            <a:pPr indent="0" marL="0">
              <a:lnSpc>
                <a:spcPct val="102000"/>
              </a:lnSpc>
              <a:buNone/>
            </a:pPr>
            <a:r>
              <a:rPr lang="en-US" sz="860" dirty="0">
                <a:solidFill>
                  <a:srgbClr val="1E2340"/>
                </a:solidFill>
                <a:latin typeface="Calibri" pitchFamily="34" charset="0"/>
                <a:ea typeface="Calibri" pitchFamily="34" charset="-122"/>
                <a:cs typeface="Calibri" pitchFamily="34" charset="-120"/>
              </a:rPr>
              <a:t>Ugence adds authority, exact-payload binding, sequence-risk and assurance only — composition, not replacement.</a:t>
            </a:r>
            <a:endParaRPr lang="en-US" sz="860" dirty="0"/>
          </a:p>
        </p:txBody>
      </p:sp>
      <p:sp>
        <p:nvSpPr>
          <p:cNvPr id="60" name="Text 58"/>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Ugence does not own or replace Action Fabric or OpenShell execution. Illustrative example.</a:t>
            </a:r>
            <a:endParaRPr lang="en-US" sz="850" dirty="0"/>
          </a:p>
        </p:txBody>
      </p:sp>
      <p:sp>
        <p:nvSpPr>
          <p:cNvPr id="62" name="Text 59"/>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38</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UC-4 · EXTERNAL AGENTS</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Positioning, ownership and metrics</a:t>
            </a:r>
            <a:endParaRPr lang="en-US" sz="2600" dirty="0"/>
          </a:p>
        </p:txBody>
      </p:sp>
      <p:sp>
        <p:nvSpPr>
          <p:cNvPr id="4" name="Shape 2"/>
          <p:cNvSpPr/>
          <p:nvPr/>
        </p:nvSpPr>
        <p:spPr>
          <a:xfrm>
            <a:off x="548640" y="1371600"/>
            <a:ext cx="5486400" cy="4663440"/>
          </a:xfrm>
          <a:prstGeom prst="roundRect">
            <a:avLst>
              <a:gd name="adj" fmla="val 1176"/>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713232" y="1481328"/>
            <a:ext cx="5157216" cy="310896"/>
          </a:xfrm>
          <a:prstGeom prst="rect">
            <a:avLst/>
          </a:prstGeom>
          <a:noFill/>
          <a:ln/>
        </p:spPr>
        <p:txBody>
          <a:bodyPr wrap="square" lIns="0" tIns="0" rIns="0" bIns="0" rtlCol="0" anchor="ctr"/>
          <a:lstStyle/>
          <a:p>
            <a:pPr algn="l" indent="0" marL="0">
              <a:buNone/>
            </a:pPr>
            <a:r>
              <a:rPr lang="en-US" sz="1250" b="1" dirty="0">
                <a:solidFill>
                  <a:srgbClr val="2A2170"/>
                </a:solidFill>
                <a:latin typeface="Calibri" pitchFamily="34" charset="0"/>
                <a:ea typeface="Calibri" pitchFamily="34" charset="-122"/>
                <a:cs typeface="Calibri" pitchFamily="34" charset="-120"/>
              </a:rPr>
              <a:t>Ownership &amp; positioning</a:t>
            </a:r>
            <a:endParaRPr lang="en-US" sz="1250" dirty="0"/>
          </a:p>
        </p:txBody>
      </p:sp>
      <p:sp>
        <p:nvSpPr>
          <p:cNvPr id="6" name="Text 4"/>
          <p:cNvSpPr/>
          <p:nvPr/>
        </p:nvSpPr>
        <p:spPr>
          <a:xfrm>
            <a:off x="713232" y="1828800"/>
            <a:ext cx="5157216" cy="4096512"/>
          </a:xfrm>
          <a:prstGeom prst="rect">
            <a:avLst/>
          </a:prstGeom>
          <a:noFill/>
          <a:ln/>
        </p:spPr>
        <p:txBody>
          <a:bodyPr wrap="square" lIns="0" tIns="0" rIns="0" bIns="0" rtlCol="0" anchor="t"/>
          <a:lstStyle/>
          <a:p>
            <a:pPr algn="l" indent="0" marL="0">
              <a:lnSpc>
                <a:spcPct val="102000"/>
              </a:lnSpc>
              <a:buNone/>
            </a:pPr>
            <a:r>
              <a:rPr lang="en-US" sz="1080" dirty="0">
                <a:solidFill>
                  <a:srgbClr val="1E2340"/>
                </a:solidFill>
                <a:latin typeface="Calibri" pitchFamily="34" charset="0"/>
                <a:ea typeface="Calibri" pitchFamily="34" charset="-122"/>
                <a:cs typeface="Calibri" pitchFamily="34" charset="-120"/>
              </a:rPr>
              <a:t>•  Action Fabric owns the governed ServiceNow action pathway; every action is identity-verified, permission-scoped and auditable.</a:t>
            </a:r>
            <a:endParaRPr lang="en-US" sz="1080" dirty="0"/>
          </a:p>
          <a:p>
            <a:pPr algn="l" indent="0" marL="0">
              <a:lnSpc>
                <a:spcPct val="102000"/>
              </a:lnSpc>
              <a:buNone/>
            </a:pPr>
            <a:endParaRPr lang="en-US" sz="1080" dirty="0"/>
          </a:p>
          <a:p>
            <a:pPr algn="l" indent="0" marL="0">
              <a:lnSpc>
                <a:spcPct val="102000"/>
              </a:lnSpc>
              <a:buNone/>
            </a:pPr>
            <a:r>
              <a:rPr lang="en-US" sz="1080" dirty="0">
                <a:solidFill>
                  <a:srgbClr val="1E2340"/>
                </a:solidFill>
                <a:latin typeface="Calibri" pitchFamily="34" charset="0"/>
                <a:ea typeface="Calibri" pitchFamily="34" charset="-122"/>
                <a:cs typeface="Calibri" pitchFamily="34" charset="-120"/>
              </a:rPr>
              <a:t>•  NVIDIA OpenShell owns runtime / sandbox enforcement on file, command and network access.</a:t>
            </a:r>
            <a:endParaRPr lang="en-US" sz="1080" dirty="0"/>
          </a:p>
          <a:p>
            <a:pPr algn="l" indent="0" marL="0">
              <a:lnSpc>
                <a:spcPct val="102000"/>
              </a:lnSpc>
              <a:buNone/>
            </a:pPr>
            <a:endParaRPr lang="en-US" sz="1080" dirty="0"/>
          </a:p>
          <a:p>
            <a:pPr algn="l" indent="0" marL="0">
              <a:lnSpc>
                <a:spcPct val="102000"/>
              </a:lnSpc>
              <a:buNone/>
            </a:pPr>
            <a:r>
              <a:rPr lang="en-US" sz="1080" dirty="0">
                <a:solidFill>
                  <a:srgbClr val="1E2340"/>
                </a:solidFill>
                <a:latin typeface="Calibri" pitchFamily="34" charset="0"/>
                <a:ea typeface="Calibri" pitchFamily="34" charset="-122"/>
                <a:cs typeface="Calibri" pitchFamily="34" charset="-120"/>
              </a:rPr>
              <a:t>•  Ugence contributes: an independent, signed, exact-payload authorization; sequence-risk advisory across the plan; trajectory assurance — composition and partnership, not replacement.</a:t>
            </a:r>
            <a:endParaRPr lang="en-US" sz="1080" dirty="0"/>
          </a:p>
          <a:p>
            <a:pPr algn="l" indent="0" marL="0">
              <a:lnSpc>
                <a:spcPct val="102000"/>
              </a:lnSpc>
              <a:buNone/>
            </a:pPr>
            <a:endParaRPr lang="en-US" sz="1080" dirty="0"/>
          </a:p>
          <a:p>
            <a:pPr algn="l" indent="0" marL="0">
              <a:lnSpc>
                <a:spcPct val="102000"/>
              </a:lnSpc>
              <a:buNone/>
            </a:pPr>
            <a:r>
              <a:rPr lang="en-US" sz="1080" dirty="0">
                <a:solidFill>
                  <a:srgbClr val="1E2340"/>
                </a:solidFill>
                <a:latin typeface="Calibri" pitchFamily="34" charset="0"/>
                <a:ea typeface="Calibri" pitchFamily="34" charset="-122"/>
                <a:cs typeface="Calibri" pitchFamily="34" charset="-120"/>
              </a:rPr>
              <a:t>•  Ugence does NOT claim to own Action Fabric or OpenShell execution, nor unique cross-runtime enforcement.</a:t>
            </a:r>
            <a:endParaRPr lang="en-US" sz="1080" dirty="0"/>
          </a:p>
        </p:txBody>
      </p:sp>
      <p:sp>
        <p:nvSpPr>
          <p:cNvPr id="7" name="Shape 5"/>
          <p:cNvSpPr/>
          <p:nvPr/>
        </p:nvSpPr>
        <p:spPr>
          <a:xfrm>
            <a:off x="6172200" y="1371600"/>
            <a:ext cx="5486400" cy="4663440"/>
          </a:xfrm>
          <a:prstGeom prst="roundRect">
            <a:avLst>
              <a:gd name="adj" fmla="val 1176"/>
            </a:avLst>
          </a:prstGeom>
          <a:solidFill>
            <a:srgbClr val="FFFFFF"/>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8" name="Text 6"/>
          <p:cNvSpPr/>
          <p:nvPr/>
        </p:nvSpPr>
        <p:spPr>
          <a:xfrm>
            <a:off x="6336792" y="1481328"/>
            <a:ext cx="5157216" cy="310896"/>
          </a:xfrm>
          <a:prstGeom prst="rect">
            <a:avLst/>
          </a:prstGeom>
          <a:noFill/>
          <a:ln/>
        </p:spPr>
        <p:txBody>
          <a:bodyPr wrap="square" lIns="0" tIns="0" rIns="0" bIns="0" rtlCol="0" anchor="ctr"/>
          <a:lstStyle/>
          <a:p>
            <a:pPr algn="l" indent="0" marL="0">
              <a:buNone/>
            </a:pPr>
            <a:r>
              <a:rPr lang="en-US" sz="1250" b="1" dirty="0">
                <a:solidFill>
                  <a:srgbClr val="173A5A"/>
                </a:solidFill>
                <a:latin typeface="Calibri" pitchFamily="34" charset="0"/>
                <a:ea typeface="Calibri" pitchFamily="34" charset="-122"/>
                <a:cs typeface="Calibri" pitchFamily="34" charset="-120"/>
              </a:rPr>
              <a:t>Outcome &amp; pilot metrics</a:t>
            </a:r>
            <a:endParaRPr lang="en-US" sz="1250" dirty="0"/>
          </a:p>
        </p:txBody>
      </p:sp>
      <p:sp>
        <p:nvSpPr>
          <p:cNvPr id="9" name="Text 7"/>
          <p:cNvSpPr/>
          <p:nvPr/>
        </p:nvSpPr>
        <p:spPr>
          <a:xfrm>
            <a:off x="6336792" y="1828800"/>
            <a:ext cx="5157216" cy="4096512"/>
          </a:xfrm>
          <a:prstGeom prst="rect">
            <a:avLst/>
          </a:prstGeom>
          <a:noFill/>
          <a:ln/>
        </p:spPr>
        <p:txBody>
          <a:bodyPr wrap="square" lIns="0" tIns="0" rIns="0" bIns="0" rtlCol="0" anchor="t"/>
          <a:lstStyle/>
          <a:p>
            <a:pPr algn="l" indent="0" marL="0">
              <a:lnSpc>
                <a:spcPct val="102000"/>
              </a:lnSpc>
              <a:buNone/>
            </a:pPr>
            <a:r>
              <a:rPr lang="en-US" sz="1030" dirty="0">
                <a:solidFill>
                  <a:srgbClr val="1E2340"/>
                </a:solidFill>
                <a:latin typeface="Calibri" pitchFamily="34" charset="0"/>
                <a:ea typeface="Calibri" pitchFamily="34" charset="-122"/>
                <a:cs typeface="Calibri" pitchFamily="34" charset="-120"/>
              </a:rPr>
              <a:t>Benefit:  external agents get real work done under a verifiable, independent authorization trail.</a:t>
            </a:r>
            <a:endParaRPr lang="en-US" sz="1030" dirty="0"/>
          </a:p>
          <a:p>
            <a:pPr algn="l" indent="0" marL="0">
              <a:lnSpc>
                <a:spcPct val="102000"/>
              </a:lnSpc>
              <a:buNone/>
            </a:pPr>
            <a:r>
              <a:rPr lang="en-US" sz="1030" dirty="0">
                <a:solidFill>
                  <a:srgbClr val="1E2340"/>
                </a:solidFill>
                <a:latin typeface="Calibri" pitchFamily="34" charset="0"/>
                <a:ea typeface="Calibri" pitchFamily="34" charset="-122"/>
                <a:cs typeface="Calibri" pitchFamily="34" charset="-120"/>
              </a:rPr>
              <a:t>Risk prevented:  an unauthorized payload, or a harmful combination of individually-allowed steps, moving value unnoticed.</a:t>
            </a:r>
            <a:endParaRPr lang="en-US" sz="1030" dirty="0"/>
          </a:p>
          <a:p>
            <a:pPr algn="l" indent="0" marL="0">
              <a:lnSpc>
                <a:spcPct val="102000"/>
              </a:lnSpc>
              <a:buNone/>
            </a:pPr>
            <a:r>
              <a:rPr lang="en-US" sz="1030" dirty="0">
                <a:solidFill>
                  <a:srgbClr val="1E2340"/>
                </a:solidFill>
                <a:latin typeface="Calibri" pitchFamily="34" charset="0"/>
                <a:ea typeface="Calibri" pitchFamily="34" charset="-122"/>
                <a:cs typeface="Calibri" pitchFamily="34" charset="-120"/>
              </a:rPr>
              <a:t>Evidence:  model authorization, exact-payload authorization, sequence-risk signal, trajectory assurance.</a:t>
            </a:r>
            <a:endParaRPr lang="en-US" sz="1030" dirty="0"/>
          </a:p>
          <a:p>
            <a:pPr algn="l" indent="0" marL="0">
              <a:lnSpc>
                <a:spcPct val="102000"/>
              </a:lnSpc>
              <a:buNone/>
            </a:pPr>
            <a:endParaRPr lang="en-US" sz="1030" dirty="0"/>
          </a:p>
          <a:p>
            <a:pPr algn="l" indent="0" marL="0">
              <a:lnSpc>
                <a:spcPct val="102000"/>
              </a:lnSpc>
              <a:buNone/>
            </a:pPr>
            <a:r>
              <a:rPr lang="en-US" sz="1030" dirty="0">
                <a:solidFill>
                  <a:srgbClr val="1E2340"/>
                </a:solidFill>
                <a:latin typeface="Calibri" pitchFamily="34" charset="0"/>
                <a:ea typeface="Calibri" pitchFamily="34" charset="-122"/>
                <a:cs typeface="Calibri" pitchFamily="34" charset="-120"/>
              </a:rPr>
              <a:t>Possible pilot metrics:</a:t>
            </a:r>
            <a:endParaRPr lang="en-US" sz="1030" dirty="0"/>
          </a:p>
          <a:p>
            <a:pPr algn="l" indent="0" marL="0">
              <a:lnSpc>
                <a:spcPct val="102000"/>
              </a:lnSpc>
              <a:buNone/>
            </a:pPr>
            <a:r>
              <a:rPr lang="en-US" sz="1030" dirty="0">
                <a:solidFill>
                  <a:srgbClr val="1E2340"/>
                </a:solidFill>
                <a:latin typeface="Calibri" pitchFamily="34" charset="0"/>
                <a:ea typeface="Calibri" pitchFamily="34" charset="-122"/>
                <a:cs typeface="Calibri" pitchFamily="34" charset="-120"/>
              </a:rPr>
              <a:t>•  Unauthorized-payload attempts blocked</a:t>
            </a:r>
            <a:endParaRPr lang="en-US" sz="1030" dirty="0"/>
          </a:p>
          <a:p>
            <a:pPr algn="l" indent="0" marL="0">
              <a:lnSpc>
                <a:spcPct val="102000"/>
              </a:lnSpc>
              <a:buNone/>
            </a:pPr>
            <a:r>
              <a:rPr lang="en-US" sz="1030" dirty="0">
                <a:solidFill>
                  <a:srgbClr val="1E2340"/>
                </a:solidFill>
                <a:latin typeface="Calibri" pitchFamily="34" charset="0"/>
                <a:ea typeface="Calibri" pitchFamily="34" charset="-122"/>
                <a:cs typeface="Calibri" pitchFamily="34" charset="-120"/>
              </a:rPr>
              <a:t>•  Sequence escalations caught</a:t>
            </a:r>
            <a:endParaRPr lang="en-US" sz="1030" dirty="0"/>
          </a:p>
          <a:p>
            <a:pPr algn="l" indent="0" marL="0">
              <a:lnSpc>
                <a:spcPct val="102000"/>
              </a:lnSpc>
              <a:buNone/>
            </a:pPr>
            <a:r>
              <a:rPr lang="en-US" sz="1030" dirty="0">
                <a:solidFill>
                  <a:srgbClr val="1E2340"/>
                </a:solidFill>
                <a:latin typeface="Calibri" pitchFamily="34" charset="0"/>
                <a:ea typeface="Calibri" pitchFamily="34" charset="-122"/>
                <a:cs typeface="Calibri" pitchFamily="34" charset="-120"/>
              </a:rPr>
              <a:t>•  % of actions with an independent authorization record</a:t>
            </a:r>
            <a:endParaRPr lang="en-US" sz="1030" dirty="0"/>
          </a:p>
          <a:p>
            <a:pPr algn="l" indent="0" marL="0">
              <a:lnSpc>
                <a:spcPct val="102000"/>
              </a:lnSpc>
              <a:buNone/>
            </a:pPr>
            <a:endParaRPr lang="en-US" sz="1030" dirty="0"/>
          </a:p>
          <a:p>
            <a:pPr algn="l" indent="0" marL="0">
              <a:lnSpc>
                <a:spcPct val="102000"/>
              </a:lnSpc>
              <a:buNone/>
            </a:pPr>
            <a:r>
              <a:rPr lang="en-US" sz="1030" dirty="0">
                <a:solidFill>
                  <a:srgbClr val="1E2340"/>
                </a:solidFill>
                <a:latin typeface="Calibri" pitchFamily="34" charset="0"/>
                <a:ea typeface="Calibri" pitchFamily="34" charset="-122"/>
                <a:cs typeface="Calibri" pitchFamily="34" charset="-120"/>
              </a:rPr>
              <a:t>Governed-value (developing):  prevented-loss attributed to sequence and payload controls, with preserved service constraints.</a:t>
            </a:r>
            <a:endParaRPr lang="en-US" sz="1030" dirty="0"/>
          </a:p>
        </p:txBody>
      </p:sp>
      <p:sp>
        <p:nvSpPr>
          <p:cNvPr id="10" name="Text 8"/>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Anthropic is ServiceNow’s Action Fabric design partner — this is a partnership-native conversation.</a:t>
            </a:r>
            <a:endParaRPr lang="en-US" sz="850" dirty="0"/>
          </a:p>
        </p:txBody>
      </p:sp>
      <p:sp>
        <p:nvSpPr>
          <p:cNvPr id="12" name="Text 9"/>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39</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VI</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The full use-case portfolio</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All 12 scenarios — grounded in ServiceNow products, with proposed Ugence governance extensions</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USE-CASE PORTFOLIO</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Pilot-ready operational scenarios</a:t>
            </a:r>
            <a:endParaRPr lang="en-US" sz="2600" dirty="0"/>
          </a:p>
        </p:txBody>
      </p:sp>
      <p:sp>
        <p:nvSpPr>
          <p:cNvPr id="4" name="Text 2"/>
          <p:cNvSpPr/>
          <p:nvPr/>
        </p:nvSpPr>
        <p:spPr>
          <a:xfrm>
            <a:off x="548640" y="1234440"/>
            <a:ext cx="11064240" cy="310896"/>
          </a:xfrm>
          <a:prstGeom prst="rect">
            <a:avLst/>
          </a:prstGeom>
          <a:noFill/>
          <a:ln/>
        </p:spPr>
        <p:txBody>
          <a:bodyPr wrap="square" rtlCol="0" anchor="ctr"/>
          <a:lstStyle/>
          <a:p>
            <a:pPr indent="0" marL="0">
              <a:buNone/>
            </a:pPr>
            <a:r>
              <a:rPr lang="en-US" sz="1400" b="1" dirty="0">
                <a:solidFill>
                  <a:srgbClr val="2E7D5B"/>
                </a:solidFill>
                <a:latin typeface="Calibri" pitchFamily="34" charset="0"/>
                <a:ea typeface="Calibri" pitchFamily="34" charset="-122"/>
                <a:cs typeface="Calibri" pitchFamily="34" charset="-120"/>
              </a:rPr>
              <a:t>Group A — pilot-ready operational</a:t>
            </a:r>
            <a:endParaRPr lang="en-US" sz="1400" dirty="0"/>
          </a:p>
        </p:txBody>
      </p:sp>
      <p:sp>
        <p:nvSpPr>
          <p:cNvPr id="5" name="Shape 3"/>
          <p:cNvSpPr/>
          <p:nvPr/>
        </p:nvSpPr>
        <p:spPr>
          <a:xfrm>
            <a:off x="548640" y="1645920"/>
            <a:ext cx="3535680" cy="4480560"/>
          </a:xfrm>
          <a:prstGeom prst="roundRect">
            <a:avLst>
              <a:gd name="adj" fmla="val 1552"/>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6" name="Text 4"/>
          <p:cNvSpPr/>
          <p:nvPr/>
        </p:nvSpPr>
        <p:spPr>
          <a:xfrm>
            <a:off x="694944" y="1755648"/>
            <a:ext cx="324307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UC-5 · Autonomous change execution</a:t>
            </a:r>
            <a:endParaRPr lang="en-US" sz="1150" dirty="0"/>
          </a:p>
        </p:txBody>
      </p:sp>
      <p:sp>
        <p:nvSpPr>
          <p:cNvPr id="7" name="Shape 5"/>
          <p:cNvSpPr/>
          <p:nvPr/>
        </p:nvSpPr>
        <p:spPr>
          <a:xfrm>
            <a:off x="694944" y="5797296"/>
            <a:ext cx="1828800" cy="237744"/>
          </a:xfrm>
          <a:prstGeom prst="roundRect">
            <a:avLst>
              <a:gd name="adj" fmla="val 50000"/>
            </a:avLst>
          </a:prstGeom>
          <a:solidFill>
            <a:srgbClr val="5145C7"/>
          </a:solidFill>
          <a:ln w="12700">
            <a:solidFill>
              <a:srgbClr val="5145C7"/>
            </a:solidFill>
            <a:prstDash val="solid"/>
          </a:ln>
        </p:spPr>
      </p:sp>
      <p:sp>
        <p:nvSpPr>
          <p:cNvPr id="8" name="Text 6"/>
          <p:cNvSpPr/>
          <p:nvPr/>
        </p:nvSpPr>
        <p:spPr>
          <a:xfrm>
            <a:off x="694944" y="579729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9" name="Text 7"/>
          <p:cNvSpPr/>
          <p:nvPr/>
        </p:nvSpPr>
        <p:spPr>
          <a:xfrm>
            <a:off x="694944" y="2194560"/>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Scale/restart/config changes made autonomously</a:t>
            </a:r>
            <a:endParaRPr lang="en-US" sz="860" dirty="0"/>
          </a:p>
        </p:txBody>
      </p:sp>
      <p:sp>
        <p:nvSpPr>
          <p:cNvPr id="10" name="Text 8"/>
          <p:cNvSpPr/>
          <p:nvPr/>
        </p:nvSpPr>
        <p:spPr>
          <a:xfrm>
            <a:off x="694944" y="2898648"/>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Change Management + ITOM</a:t>
            </a:r>
            <a:endParaRPr lang="en-US" sz="860" dirty="0"/>
          </a:p>
        </p:txBody>
      </p:sp>
      <p:sp>
        <p:nvSpPr>
          <p:cNvPr id="11" name="Text 9"/>
          <p:cNvSpPr/>
          <p:nvPr/>
        </p:nvSpPr>
        <p:spPr>
          <a:xfrm>
            <a:off x="694944" y="3602736"/>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Exact-CI authority, independent clearance, effect reconciliation</a:t>
            </a:r>
            <a:endParaRPr lang="en-US" sz="860" dirty="0"/>
          </a:p>
        </p:txBody>
      </p:sp>
      <p:sp>
        <p:nvSpPr>
          <p:cNvPr id="12" name="Text 10"/>
          <p:cNvSpPr/>
          <p:nvPr/>
        </p:nvSpPr>
        <p:spPr>
          <a:xfrm>
            <a:off x="694944" y="4306824"/>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Autonomous within window &amp; cost; freeze/conflict force stop</a:t>
            </a:r>
            <a:endParaRPr lang="en-US" sz="860" dirty="0"/>
          </a:p>
        </p:txBody>
      </p:sp>
      <p:sp>
        <p:nvSpPr>
          <p:cNvPr id="13" name="Text 11"/>
          <p:cNvSpPr/>
          <p:nvPr/>
        </p:nvSpPr>
        <p:spPr>
          <a:xfrm>
            <a:off x="694944" y="5010912"/>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change + CMDB events are authoritative?</a:t>
            </a:r>
            <a:endParaRPr lang="en-US" sz="860" dirty="0"/>
          </a:p>
        </p:txBody>
      </p:sp>
      <p:sp>
        <p:nvSpPr>
          <p:cNvPr id="14" name="Shape 12"/>
          <p:cNvSpPr/>
          <p:nvPr/>
        </p:nvSpPr>
        <p:spPr>
          <a:xfrm>
            <a:off x="4312920" y="1645920"/>
            <a:ext cx="3535680" cy="4480560"/>
          </a:xfrm>
          <a:prstGeom prst="roundRect">
            <a:avLst>
              <a:gd name="adj" fmla="val 1552"/>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4459224" y="1755648"/>
            <a:ext cx="324307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UC-6 · Access provisioning with SoD</a:t>
            </a:r>
            <a:endParaRPr lang="en-US" sz="1150" dirty="0"/>
          </a:p>
        </p:txBody>
      </p:sp>
      <p:sp>
        <p:nvSpPr>
          <p:cNvPr id="16" name="Shape 14"/>
          <p:cNvSpPr/>
          <p:nvPr/>
        </p:nvSpPr>
        <p:spPr>
          <a:xfrm>
            <a:off x="4459224" y="5797296"/>
            <a:ext cx="1828800" cy="237744"/>
          </a:xfrm>
          <a:prstGeom prst="roundRect">
            <a:avLst>
              <a:gd name="adj" fmla="val 50000"/>
            </a:avLst>
          </a:prstGeom>
          <a:solidFill>
            <a:srgbClr val="5145C7"/>
          </a:solidFill>
          <a:ln w="12700">
            <a:solidFill>
              <a:srgbClr val="5145C7"/>
            </a:solidFill>
            <a:prstDash val="solid"/>
          </a:ln>
        </p:spPr>
      </p:sp>
      <p:sp>
        <p:nvSpPr>
          <p:cNvPr id="17" name="Text 15"/>
          <p:cNvSpPr/>
          <p:nvPr/>
        </p:nvSpPr>
        <p:spPr>
          <a:xfrm>
            <a:off x="4459224" y="579729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18" name="Text 16"/>
          <p:cNvSpPr/>
          <p:nvPr/>
        </p:nvSpPr>
        <p:spPr>
          <a:xfrm>
            <a:off x="4459224" y="2194560"/>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Elevated access fulfilled by an assistant</a:t>
            </a:r>
            <a:endParaRPr lang="en-US" sz="860" dirty="0"/>
          </a:p>
        </p:txBody>
      </p:sp>
      <p:sp>
        <p:nvSpPr>
          <p:cNvPr id="19" name="Text 17"/>
          <p:cNvSpPr/>
          <p:nvPr/>
        </p:nvSpPr>
        <p:spPr>
          <a:xfrm>
            <a:off x="4459224" y="2898648"/>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Service Catalog / Employee Center + Veza</a:t>
            </a:r>
            <a:endParaRPr lang="en-US" sz="860" dirty="0"/>
          </a:p>
        </p:txBody>
      </p:sp>
      <p:sp>
        <p:nvSpPr>
          <p:cNvPr id="20" name="Text 18"/>
          <p:cNvSpPr/>
          <p:nvPr/>
        </p:nvSpPr>
        <p:spPr>
          <a:xfrm>
            <a:off x="4459224" y="3602736"/>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Exact-entitlement authority + independent SoD clearance</a:t>
            </a:r>
            <a:endParaRPr lang="en-US" sz="860" dirty="0"/>
          </a:p>
        </p:txBody>
      </p:sp>
      <p:sp>
        <p:nvSpPr>
          <p:cNvPr id="21" name="Text 19"/>
          <p:cNvSpPr/>
          <p:nvPr/>
        </p:nvSpPr>
        <p:spPr>
          <a:xfrm>
            <a:off x="4459224" y="4306824"/>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Autonomous when no SoD conflict; conflict → block</a:t>
            </a:r>
            <a:endParaRPr lang="en-US" sz="860" dirty="0"/>
          </a:p>
        </p:txBody>
      </p:sp>
      <p:sp>
        <p:nvSpPr>
          <p:cNvPr id="22" name="Text 20"/>
          <p:cNvSpPr/>
          <p:nvPr/>
        </p:nvSpPr>
        <p:spPr>
          <a:xfrm>
            <a:off x="4459224" y="5010912"/>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entitlement class suits a bounded pilot?</a:t>
            </a:r>
            <a:endParaRPr lang="en-US" sz="860" dirty="0"/>
          </a:p>
        </p:txBody>
      </p:sp>
      <p:sp>
        <p:nvSpPr>
          <p:cNvPr id="23" name="Shape 21"/>
          <p:cNvSpPr/>
          <p:nvPr/>
        </p:nvSpPr>
        <p:spPr>
          <a:xfrm>
            <a:off x="8077200" y="1645920"/>
            <a:ext cx="3535680" cy="4480560"/>
          </a:xfrm>
          <a:prstGeom prst="roundRect">
            <a:avLst>
              <a:gd name="adj" fmla="val 1552"/>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24" name="Text 22"/>
          <p:cNvSpPr/>
          <p:nvPr/>
        </p:nvSpPr>
        <p:spPr>
          <a:xfrm>
            <a:off x="8223504" y="1755648"/>
            <a:ext cx="324307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UC-11 · Vulnerability remediation</a:t>
            </a:r>
            <a:endParaRPr lang="en-US" sz="1150" dirty="0"/>
          </a:p>
        </p:txBody>
      </p:sp>
      <p:sp>
        <p:nvSpPr>
          <p:cNvPr id="25" name="Shape 23"/>
          <p:cNvSpPr/>
          <p:nvPr/>
        </p:nvSpPr>
        <p:spPr>
          <a:xfrm>
            <a:off x="8223504" y="5797296"/>
            <a:ext cx="1828800" cy="237744"/>
          </a:xfrm>
          <a:prstGeom prst="roundRect">
            <a:avLst>
              <a:gd name="adj" fmla="val 50000"/>
            </a:avLst>
          </a:prstGeom>
          <a:solidFill>
            <a:srgbClr val="5145C7"/>
          </a:solidFill>
          <a:ln w="12700">
            <a:solidFill>
              <a:srgbClr val="5145C7"/>
            </a:solidFill>
            <a:prstDash val="solid"/>
          </a:ln>
        </p:spPr>
      </p:sp>
      <p:sp>
        <p:nvSpPr>
          <p:cNvPr id="26" name="Text 24"/>
          <p:cNvSpPr/>
          <p:nvPr/>
        </p:nvSpPr>
        <p:spPr>
          <a:xfrm>
            <a:off x="8223504" y="579729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27" name="Text 25"/>
          <p:cNvSpPr/>
          <p:nvPr/>
        </p:nvSpPr>
        <p:spPr>
          <a:xfrm>
            <a:off x="8223504" y="2194560"/>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Emergency patch to production CIs</a:t>
            </a:r>
            <a:endParaRPr lang="en-US" sz="860" dirty="0"/>
          </a:p>
        </p:txBody>
      </p:sp>
      <p:sp>
        <p:nvSpPr>
          <p:cNvPr id="28" name="Text 26"/>
          <p:cNvSpPr/>
          <p:nvPr/>
        </p:nvSpPr>
        <p:spPr>
          <a:xfrm>
            <a:off x="8223504" y="2898648"/>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Security Operations — Vulnerability Response</a:t>
            </a:r>
            <a:endParaRPr lang="en-US" sz="860" dirty="0"/>
          </a:p>
        </p:txBody>
      </p:sp>
      <p:sp>
        <p:nvSpPr>
          <p:cNvPr id="29" name="Text 27"/>
          <p:cNvSpPr/>
          <p:nvPr/>
        </p:nvSpPr>
        <p:spPr>
          <a:xfrm>
            <a:off x="8223504" y="3602736"/>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Exact-CI binding, per-stage clearance, mid-rollout revocation</a:t>
            </a:r>
            <a:endParaRPr lang="en-US" sz="860" dirty="0"/>
          </a:p>
        </p:txBody>
      </p:sp>
      <p:sp>
        <p:nvSpPr>
          <p:cNvPr id="30" name="Text 28"/>
          <p:cNvSpPr/>
          <p:nvPr/>
        </p:nvSpPr>
        <p:spPr>
          <a:xfrm>
            <a:off x="8223504" y="4306824"/>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Per-stage autonomy; revocation stops next stage</a:t>
            </a:r>
            <a:endParaRPr lang="en-US" sz="860" dirty="0"/>
          </a:p>
        </p:txBody>
      </p:sp>
      <p:sp>
        <p:nvSpPr>
          <p:cNvPr id="31" name="Text 29"/>
          <p:cNvSpPr/>
          <p:nvPr/>
        </p:nvSpPr>
        <p:spPr>
          <a:xfrm>
            <a:off x="8223504" y="5010912"/>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critical-vuln workflow for a pilot?</a:t>
            </a:r>
            <a:endParaRPr lang="en-US" sz="860" dirty="0"/>
          </a:p>
        </p:txBody>
      </p:sp>
      <p:sp>
        <p:nvSpPr>
          <p:cNvPr id="32" name="Text 30"/>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Enterprise workflow scenarios grounded in actual ServiceNow products, with proposed Ugence governance extensions. Not proven deployments, production customer use cases, or existing integrations.</a:t>
            </a:r>
            <a:endParaRPr lang="en-US" sz="850" dirty="0"/>
          </a:p>
        </p:txBody>
      </p:sp>
      <p:sp>
        <p:nvSpPr>
          <p:cNvPr id="34" name="Text 31"/>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41</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USE-CASE PORTFOLIO</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Practical scenarios requiring bounded autonomy</a:t>
            </a:r>
            <a:endParaRPr lang="en-US" sz="2600" dirty="0"/>
          </a:p>
        </p:txBody>
      </p:sp>
      <p:sp>
        <p:nvSpPr>
          <p:cNvPr id="4" name="Text 2"/>
          <p:cNvSpPr/>
          <p:nvPr/>
        </p:nvSpPr>
        <p:spPr>
          <a:xfrm>
            <a:off x="548640" y="1234440"/>
            <a:ext cx="11064240" cy="310896"/>
          </a:xfrm>
          <a:prstGeom prst="rect">
            <a:avLst/>
          </a:prstGeom>
          <a:noFill/>
          <a:ln/>
        </p:spPr>
        <p:txBody>
          <a:bodyPr wrap="square" rtlCol="0" anchor="ctr"/>
          <a:lstStyle/>
          <a:p>
            <a:pPr indent="0" marL="0">
              <a:buNone/>
            </a:pPr>
            <a:r>
              <a:rPr lang="en-US" sz="1400" b="1" dirty="0">
                <a:solidFill>
                  <a:srgbClr val="B7791F"/>
                </a:solidFill>
                <a:latin typeface="Calibri" pitchFamily="34" charset="0"/>
                <a:ea typeface="Calibri" pitchFamily="34" charset="-122"/>
                <a:cs typeface="Calibri" pitchFamily="34" charset="-120"/>
              </a:rPr>
              <a:t>Group B — bounded autonomy</a:t>
            </a:r>
            <a:endParaRPr lang="en-US" sz="1400" dirty="0"/>
          </a:p>
        </p:txBody>
      </p:sp>
      <p:sp>
        <p:nvSpPr>
          <p:cNvPr id="5" name="Shape 3"/>
          <p:cNvSpPr/>
          <p:nvPr/>
        </p:nvSpPr>
        <p:spPr>
          <a:xfrm>
            <a:off x="548640" y="1645920"/>
            <a:ext cx="3535680" cy="4480560"/>
          </a:xfrm>
          <a:prstGeom prst="roundRect">
            <a:avLst>
              <a:gd name="adj" fmla="val 1552"/>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6" name="Text 4"/>
          <p:cNvSpPr/>
          <p:nvPr/>
        </p:nvSpPr>
        <p:spPr>
          <a:xfrm>
            <a:off x="694944" y="1755648"/>
            <a:ext cx="324307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UC-7 · Refunds &amp; credits</a:t>
            </a:r>
            <a:endParaRPr lang="en-US" sz="1150" dirty="0"/>
          </a:p>
        </p:txBody>
      </p:sp>
      <p:sp>
        <p:nvSpPr>
          <p:cNvPr id="7" name="Shape 5"/>
          <p:cNvSpPr/>
          <p:nvPr/>
        </p:nvSpPr>
        <p:spPr>
          <a:xfrm>
            <a:off x="694944" y="5797296"/>
            <a:ext cx="1828800" cy="237744"/>
          </a:xfrm>
          <a:prstGeom prst="roundRect">
            <a:avLst>
              <a:gd name="adj" fmla="val 50000"/>
            </a:avLst>
          </a:prstGeom>
          <a:solidFill>
            <a:srgbClr val="5145C7"/>
          </a:solidFill>
          <a:ln w="12700">
            <a:solidFill>
              <a:srgbClr val="5145C7"/>
            </a:solidFill>
            <a:prstDash val="solid"/>
          </a:ln>
        </p:spPr>
      </p:sp>
      <p:sp>
        <p:nvSpPr>
          <p:cNvPr id="8" name="Text 6"/>
          <p:cNvSpPr/>
          <p:nvPr/>
        </p:nvSpPr>
        <p:spPr>
          <a:xfrm>
            <a:off x="694944" y="579729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9" name="Text 7"/>
          <p:cNvSpPr/>
          <p:nvPr/>
        </p:nvSpPr>
        <p:spPr>
          <a:xfrm>
            <a:off x="694944" y="2194560"/>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AI issues a refund or credit</a:t>
            </a:r>
            <a:endParaRPr lang="en-US" sz="860" dirty="0"/>
          </a:p>
        </p:txBody>
      </p:sp>
      <p:sp>
        <p:nvSpPr>
          <p:cNvPr id="10" name="Text 8"/>
          <p:cNvSpPr/>
          <p:nvPr/>
        </p:nvSpPr>
        <p:spPr>
          <a:xfrm>
            <a:off x="694944" y="2898648"/>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Customer Service Management (Now Assist)</a:t>
            </a:r>
            <a:endParaRPr lang="en-US" sz="860" dirty="0"/>
          </a:p>
        </p:txBody>
      </p:sp>
      <p:sp>
        <p:nvSpPr>
          <p:cNvPr id="11" name="Text 9"/>
          <p:cNvSpPr/>
          <p:nvPr/>
        </p:nvSpPr>
        <p:spPr>
          <a:xfrm>
            <a:off x="694944" y="3602736"/>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Amount+account binding; reconcile executed = authorized</a:t>
            </a:r>
            <a:endParaRPr lang="en-US" sz="860" dirty="0"/>
          </a:p>
        </p:txBody>
      </p:sp>
      <p:sp>
        <p:nvSpPr>
          <p:cNvPr id="12" name="Text 10"/>
          <p:cNvSpPr/>
          <p:nvPr/>
        </p:nvSpPr>
        <p:spPr>
          <a:xfrm>
            <a:off x="694944" y="4306824"/>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Within a delegated dollar threshold</a:t>
            </a:r>
            <a:endParaRPr lang="en-US" sz="860" dirty="0"/>
          </a:p>
        </p:txBody>
      </p:sp>
      <p:sp>
        <p:nvSpPr>
          <p:cNvPr id="13" name="Text 11"/>
          <p:cNvSpPr/>
          <p:nvPr/>
        </p:nvSpPr>
        <p:spPr>
          <a:xfrm>
            <a:off x="694944" y="5010912"/>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refund band is safe to pilot?</a:t>
            </a:r>
            <a:endParaRPr lang="en-US" sz="860" dirty="0"/>
          </a:p>
        </p:txBody>
      </p:sp>
      <p:sp>
        <p:nvSpPr>
          <p:cNvPr id="14" name="Shape 12"/>
          <p:cNvSpPr/>
          <p:nvPr/>
        </p:nvSpPr>
        <p:spPr>
          <a:xfrm>
            <a:off x="4312920" y="1645920"/>
            <a:ext cx="3535680" cy="4480560"/>
          </a:xfrm>
          <a:prstGeom prst="roundRect">
            <a:avLst>
              <a:gd name="adj" fmla="val 1552"/>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4459224" y="1755648"/>
            <a:ext cx="324307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UC-8 · Procurement / PO issuance</a:t>
            </a:r>
            <a:endParaRPr lang="en-US" sz="1150" dirty="0"/>
          </a:p>
        </p:txBody>
      </p:sp>
      <p:sp>
        <p:nvSpPr>
          <p:cNvPr id="16" name="Shape 14"/>
          <p:cNvSpPr/>
          <p:nvPr/>
        </p:nvSpPr>
        <p:spPr>
          <a:xfrm>
            <a:off x="4459224" y="5797296"/>
            <a:ext cx="1828800" cy="237744"/>
          </a:xfrm>
          <a:prstGeom prst="roundRect">
            <a:avLst>
              <a:gd name="adj" fmla="val 50000"/>
            </a:avLst>
          </a:prstGeom>
          <a:solidFill>
            <a:srgbClr val="5145C7"/>
          </a:solidFill>
          <a:ln w="12700">
            <a:solidFill>
              <a:srgbClr val="5145C7"/>
            </a:solidFill>
            <a:prstDash val="solid"/>
          </a:ln>
        </p:spPr>
      </p:sp>
      <p:sp>
        <p:nvSpPr>
          <p:cNvPr id="17" name="Text 15"/>
          <p:cNvSpPr/>
          <p:nvPr/>
        </p:nvSpPr>
        <p:spPr>
          <a:xfrm>
            <a:off x="4459224" y="579729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18" name="Text 16"/>
          <p:cNvSpPr/>
          <p:nvPr/>
        </p:nvSpPr>
        <p:spPr>
          <a:xfrm>
            <a:off x="4459224" y="2194560"/>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AI places a purchase order</a:t>
            </a:r>
            <a:endParaRPr lang="en-US" sz="860" dirty="0"/>
          </a:p>
        </p:txBody>
      </p:sp>
      <p:sp>
        <p:nvSpPr>
          <p:cNvPr id="19" name="Text 17"/>
          <p:cNvSpPr/>
          <p:nvPr/>
        </p:nvSpPr>
        <p:spPr>
          <a:xfrm>
            <a:off x="4459224" y="2898648"/>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Sourcing &amp; Procurement Operations</a:t>
            </a:r>
            <a:endParaRPr lang="en-US" sz="860" dirty="0"/>
          </a:p>
        </p:txBody>
      </p:sp>
      <p:sp>
        <p:nvSpPr>
          <p:cNvPr id="20" name="Text 18"/>
          <p:cNvSpPr/>
          <p:nvPr/>
        </p:nvSpPr>
        <p:spPr>
          <a:xfrm>
            <a:off x="4459224" y="3602736"/>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Compiled policy, supplier-evidence check, exact PO binding</a:t>
            </a:r>
            <a:endParaRPr lang="en-US" sz="860" dirty="0"/>
          </a:p>
        </p:txBody>
      </p:sp>
      <p:sp>
        <p:nvSpPr>
          <p:cNvPr id="21" name="Text 19"/>
          <p:cNvSpPr/>
          <p:nvPr/>
        </p:nvSpPr>
        <p:spPr>
          <a:xfrm>
            <a:off x="4459224" y="4306824"/>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Threshold-bound; above → human authority</a:t>
            </a:r>
            <a:endParaRPr lang="en-US" sz="860" dirty="0"/>
          </a:p>
        </p:txBody>
      </p:sp>
      <p:sp>
        <p:nvSpPr>
          <p:cNvPr id="22" name="Text 20"/>
          <p:cNvSpPr/>
          <p:nvPr/>
        </p:nvSpPr>
        <p:spPr>
          <a:xfrm>
            <a:off x="4459224" y="5010912"/>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spend threshold and category?</a:t>
            </a:r>
            <a:endParaRPr lang="en-US" sz="860" dirty="0"/>
          </a:p>
        </p:txBody>
      </p:sp>
      <p:sp>
        <p:nvSpPr>
          <p:cNvPr id="23" name="Shape 21"/>
          <p:cNvSpPr/>
          <p:nvPr/>
        </p:nvSpPr>
        <p:spPr>
          <a:xfrm>
            <a:off x="8077200" y="1645920"/>
            <a:ext cx="3535680" cy="4480560"/>
          </a:xfrm>
          <a:prstGeom prst="roundRect">
            <a:avLst>
              <a:gd name="adj" fmla="val 1552"/>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24" name="Text 22"/>
          <p:cNvSpPr/>
          <p:nvPr/>
        </p:nvSpPr>
        <p:spPr>
          <a:xfrm>
            <a:off x="8223504" y="1755648"/>
            <a:ext cx="324307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UC-10 · Agentic hiring (human-binding)</a:t>
            </a:r>
            <a:endParaRPr lang="en-US" sz="1150" dirty="0"/>
          </a:p>
        </p:txBody>
      </p:sp>
      <p:sp>
        <p:nvSpPr>
          <p:cNvPr id="25" name="Shape 23"/>
          <p:cNvSpPr/>
          <p:nvPr/>
        </p:nvSpPr>
        <p:spPr>
          <a:xfrm>
            <a:off x="8223504" y="5797296"/>
            <a:ext cx="1828800" cy="237744"/>
          </a:xfrm>
          <a:prstGeom prst="roundRect">
            <a:avLst>
              <a:gd name="adj" fmla="val 50000"/>
            </a:avLst>
          </a:prstGeom>
          <a:solidFill>
            <a:srgbClr val="5145C7"/>
          </a:solidFill>
          <a:ln w="12700">
            <a:solidFill>
              <a:srgbClr val="5145C7"/>
            </a:solidFill>
            <a:prstDash val="solid"/>
          </a:ln>
        </p:spPr>
      </p:sp>
      <p:sp>
        <p:nvSpPr>
          <p:cNvPr id="26" name="Text 24"/>
          <p:cNvSpPr/>
          <p:nvPr/>
        </p:nvSpPr>
        <p:spPr>
          <a:xfrm>
            <a:off x="8223504" y="579729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27" name="Text 25"/>
          <p:cNvSpPr/>
          <p:nvPr/>
        </p:nvSpPr>
        <p:spPr>
          <a:xfrm>
            <a:off x="8223504" y="2194560"/>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AI assists screening &amp; scheduling</a:t>
            </a:r>
            <a:endParaRPr lang="en-US" sz="860" dirty="0"/>
          </a:p>
        </p:txBody>
      </p:sp>
      <p:sp>
        <p:nvSpPr>
          <p:cNvPr id="28" name="Text 26"/>
          <p:cNvSpPr/>
          <p:nvPr/>
        </p:nvSpPr>
        <p:spPr>
          <a:xfrm>
            <a:off x="8223504" y="2898648"/>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HR Service Delivery / Recruitment</a:t>
            </a:r>
            <a:endParaRPr lang="en-US" sz="860" dirty="0"/>
          </a:p>
        </p:txBody>
      </p:sp>
      <p:sp>
        <p:nvSpPr>
          <p:cNvPr id="29" name="Text 27"/>
          <p:cNvSpPr/>
          <p:nvPr/>
        </p:nvSpPr>
        <p:spPr>
          <a:xfrm>
            <a:off x="8223504" y="3602736"/>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Keep hire/reject human; immutable decision record</a:t>
            </a:r>
            <a:endParaRPr lang="en-US" sz="860" dirty="0"/>
          </a:p>
        </p:txBody>
      </p:sp>
      <p:sp>
        <p:nvSpPr>
          <p:cNvPr id="30" name="Text 28"/>
          <p:cNvSpPr/>
          <p:nvPr/>
        </p:nvSpPr>
        <p:spPr>
          <a:xfrm>
            <a:off x="8223504" y="4306824"/>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Assistive only; decision stays human-binding</a:t>
            </a:r>
            <a:endParaRPr lang="en-US" sz="860" dirty="0"/>
          </a:p>
        </p:txBody>
      </p:sp>
      <p:sp>
        <p:nvSpPr>
          <p:cNvPr id="31" name="Text 29"/>
          <p:cNvSpPr/>
          <p:nvPr/>
        </p:nvSpPr>
        <p:spPr>
          <a:xfrm>
            <a:off x="8223504" y="5010912"/>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step may be automated vs human-bound?</a:t>
            </a:r>
            <a:endParaRPr lang="en-US" sz="860" dirty="0"/>
          </a:p>
        </p:txBody>
      </p:sp>
      <p:sp>
        <p:nvSpPr>
          <p:cNvPr id="32" name="Text 30"/>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Enterprise workflow scenarios grounded in actual ServiceNow products, with proposed Ugence governance extensions. Not proven deployments, production customer use cases, or existing integrations.</a:t>
            </a:r>
            <a:endParaRPr lang="en-US" sz="850" dirty="0"/>
          </a:p>
        </p:txBody>
      </p:sp>
      <p:sp>
        <p:nvSpPr>
          <p:cNvPr id="34" name="Text 31"/>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42</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USE-CASE PORTFOLIO</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Strategic governance scenarios</a:t>
            </a:r>
            <a:endParaRPr lang="en-US" sz="2600" dirty="0"/>
          </a:p>
        </p:txBody>
      </p:sp>
      <p:sp>
        <p:nvSpPr>
          <p:cNvPr id="4" name="Text 2"/>
          <p:cNvSpPr/>
          <p:nvPr/>
        </p:nvSpPr>
        <p:spPr>
          <a:xfrm>
            <a:off x="548640" y="1234440"/>
            <a:ext cx="11064240" cy="310896"/>
          </a:xfrm>
          <a:prstGeom prst="rect">
            <a:avLst/>
          </a:prstGeom>
          <a:noFill/>
          <a:ln/>
        </p:spPr>
        <p:txBody>
          <a:bodyPr wrap="square" rtlCol="0" anchor="ctr"/>
          <a:lstStyle/>
          <a:p>
            <a:pPr indent="0" marL="0">
              <a:buNone/>
            </a:pPr>
            <a:r>
              <a:rPr lang="en-US" sz="1400" b="1" dirty="0">
                <a:solidFill>
                  <a:srgbClr val="5145C7"/>
                </a:solidFill>
                <a:latin typeface="Calibri" pitchFamily="34" charset="0"/>
                <a:ea typeface="Calibri" pitchFamily="34" charset="-122"/>
                <a:cs typeface="Calibri" pitchFamily="34" charset="-120"/>
              </a:rPr>
              <a:t>Group C — strategic governance</a:t>
            </a:r>
            <a:endParaRPr lang="en-US" sz="1400" dirty="0"/>
          </a:p>
        </p:txBody>
      </p:sp>
      <p:sp>
        <p:nvSpPr>
          <p:cNvPr id="5" name="Shape 3"/>
          <p:cNvSpPr/>
          <p:nvPr/>
        </p:nvSpPr>
        <p:spPr>
          <a:xfrm>
            <a:off x="548640" y="1645920"/>
            <a:ext cx="5417820" cy="2240280"/>
          </a:xfrm>
          <a:prstGeom prst="roundRect">
            <a:avLst>
              <a:gd name="adj" fmla="val 2449"/>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6" name="Text 4"/>
          <p:cNvSpPr/>
          <p:nvPr/>
        </p:nvSpPr>
        <p:spPr>
          <a:xfrm>
            <a:off x="694944" y="1755648"/>
            <a:ext cx="512521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UC-2 · Per-request model authorization</a:t>
            </a:r>
            <a:endParaRPr lang="en-US" sz="1150" dirty="0"/>
          </a:p>
        </p:txBody>
      </p:sp>
      <p:sp>
        <p:nvSpPr>
          <p:cNvPr id="7" name="Shape 5"/>
          <p:cNvSpPr/>
          <p:nvPr/>
        </p:nvSpPr>
        <p:spPr>
          <a:xfrm>
            <a:off x="694944" y="3557016"/>
            <a:ext cx="1828800" cy="237744"/>
          </a:xfrm>
          <a:prstGeom prst="roundRect">
            <a:avLst>
              <a:gd name="adj" fmla="val 50000"/>
            </a:avLst>
          </a:prstGeom>
          <a:solidFill>
            <a:srgbClr val="5145C7"/>
          </a:solidFill>
          <a:ln w="12700">
            <a:solidFill>
              <a:srgbClr val="5145C7"/>
            </a:solidFill>
            <a:prstDash val="solid"/>
          </a:ln>
        </p:spPr>
      </p:sp>
      <p:sp>
        <p:nvSpPr>
          <p:cNvPr id="8" name="Text 6"/>
          <p:cNvSpPr/>
          <p:nvPr/>
        </p:nvSpPr>
        <p:spPr>
          <a:xfrm>
            <a:off x="694944" y="355701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9" name="Text 7"/>
          <p:cNvSpPr/>
          <p:nvPr/>
        </p:nvSpPr>
        <p:spPr>
          <a:xfrm>
            <a:off x="694944" y="2194560"/>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Regulated data about to reach a model</a:t>
            </a:r>
            <a:endParaRPr lang="en-US" sz="860" dirty="0"/>
          </a:p>
        </p:txBody>
      </p:sp>
      <p:sp>
        <p:nvSpPr>
          <p:cNvPr id="10" name="Text 8"/>
          <p:cNvSpPr/>
          <p:nvPr/>
        </p:nvSpPr>
        <p:spPr>
          <a:xfrm>
            <a:off x="694944" y="2450592"/>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AI Control Tower model/provider governance</a:t>
            </a:r>
            <a:endParaRPr lang="en-US" sz="860" dirty="0"/>
          </a:p>
        </p:txBody>
      </p:sp>
      <p:sp>
        <p:nvSpPr>
          <p:cNvPr id="11" name="Text 9"/>
          <p:cNvSpPr/>
          <p:nvPr/>
        </p:nvSpPr>
        <p:spPr>
          <a:xfrm>
            <a:off x="694944" y="2706624"/>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Per-request ALLOW/DENY/HOLD/ESCALATE + fallback/expiry</a:t>
            </a:r>
            <a:endParaRPr lang="en-US" sz="860" dirty="0"/>
          </a:p>
        </p:txBody>
      </p:sp>
      <p:sp>
        <p:nvSpPr>
          <p:cNvPr id="12" name="Text 10"/>
          <p:cNvSpPr/>
          <p:nvPr/>
        </p:nvSpPr>
        <p:spPr>
          <a:xfrm>
            <a:off x="694944" y="2962656"/>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Per-request binding, not a static allowlist</a:t>
            </a:r>
            <a:endParaRPr lang="en-US" sz="860" dirty="0"/>
          </a:p>
        </p:txBody>
      </p:sp>
      <p:sp>
        <p:nvSpPr>
          <p:cNvPr id="13" name="Text 11"/>
          <p:cNvSpPr/>
          <p:nvPr/>
        </p:nvSpPr>
        <p:spPr>
          <a:xfrm>
            <a:off x="694944" y="3218688"/>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data classes trigger per-request control?</a:t>
            </a:r>
            <a:endParaRPr lang="en-US" sz="860" dirty="0"/>
          </a:p>
        </p:txBody>
      </p:sp>
      <p:sp>
        <p:nvSpPr>
          <p:cNvPr id="14" name="Shape 12"/>
          <p:cNvSpPr/>
          <p:nvPr/>
        </p:nvSpPr>
        <p:spPr>
          <a:xfrm>
            <a:off x="6195060" y="1645920"/>
            <a:ext cx="5417820" cy="2240280"/>
          </a:xfrm>
          <a:prstGeom prst="roundRect">
            <a:avLst>
              <a:gd name="adj" fmla="val 2449"/>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6341364" y="1755648"/>
            <a:ext cx="512521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UC-3 · High-risk action enforcement</a:t>
            </a:r>
            <a:endParaRPr lang="en-US" sz="1150" dirty="0"/>
          </a:p>
        </p:txBody>
      </p:sp>
      <p:sp>
        <p:nvSpPr>
          <p:cNvPr id="16" name="Shape 14"/>
          <p:cNvSpPr/>
          <p:nvPr/>
        </p:nvSpPr>
        <p:spPr>
          <a:xfrm>
            <a:off x="6341364" y="3557016"/>
            <a:ext cx="1828800" cy="237744"/>
          </a:xfrm>
          <a:prstGeom prst="roundRect">
            <a:avLst>
              <a:gd name="adj" fmla="val 50000"/>
            </a:avLst>
          </a:prstGeom>
          <a:solidFill>
            <a:srgbClr val="5145C7"/>
          </a:solidFill>
          <a:ln w="12700">
            <a:solidFill>
              <a:srgbClr val="5145C7"/>
            </a:solidFill>
            <a:prstDash val="solid"/>
          </a:ln>
        </p:spPr>
      </p:sp>
      <p:sp>
        <p:nvSpPr>
          <p:cNvPr id="17" name="Text 15"/>
          <p:cNvSpPr/>
          <p:nvPr/>
        </p:nvSpPr>
        <p:spPr>
          <a:xfrm>
            <a:off x="6341364" y="355701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18" name="Text 16"/>
          <p:cNvSpPr/>
          <p:nvPr/>
        </p:nvSpPr>
        <p:spPr>
          <a:xfrm>
            <a:off x="6341364" y="2194560"/>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High-risk AI action on stale evidence</a:t>
            </a:r>
            <a:endParaRPr lang="en-US" sz="860" dirty="0"/>
          </a:p>
        </p:txBody>
      </p:sp>
      <p:sp>
        <p:nvSpPr>
          <p:cNvPr id="19" name="Text 17"/>
          <p:cNvSpPr/>
          <p:nvPr/>
        </p:nvSpPr>
        <p:spPr>
          <a:xfrm>
            <a:off x="6341364" y="2450592"/>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AI Control Tower — AI Risk &amp; Compliance</a:t>
            </a:r>
            <a:endParaRPr lang="en-US" sz="860" dirty="0"/>
          </a:p>
        </p:txBody>
      </p:sp>
      <p:sp>
        <p:nvSpPr>
          <p:cNvPr id="20" name="Text 18"/>
          <p:cNvSpPr/>
          <p:nvPr/>
        </p:nvSpPr>
        <p:spPr>
          <a:xfrm>
            <a:off x="6341364" y="2706624"/>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Signed, scoped, evidence-fresh action authority</a:t>
            </a:r>
            <a:endParaRPr lang="en-US" sz="860" dirty="0"/>
          </a:p>
        </p:txBody>
      </p:sp>
      <p:sp>
        <p:nvSpPr>
          <p:cNvPr id="21" name="Text 19"/>
          <p:cNvSpPr/>
          <p:nvPr/>
        </p:nvSpPr>
        <p:spPr>
          <a:xfrm>
            <a:off x="6341364" y="2962656"/>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Only while trusted evidence is current</a:t>
            </a:r>
            <a:endParaRPr lang="en-US" sz="860" dirty="0"/>
          </a:p>
        </p:txBody>
      </p:sp>
      <p:sp>
        <p:nvSpPr>
          <p:cNvPr id="22" name="Text 20"/>
          <p:cNvSpPr/>
          <p:nvPr/>
        </p:nvSpPr>
        <p:spPr>
          <a:xfrm>
            <a:off x="6341364" y="3218688"/>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high-risk use case for a pilot?</a:t>
            </a:r>
            <a:endParaRPr lang="en-US" sz="860" dirty="0"/>
          </a:p>
        </p:txBody>
      </p:sp>
      <p:sp>
        <p:nvSpPr>
          <p:cNvPr id="23" name="Shape 21"/>
          <p:cNvSpPr/>
          <p:nvPr/>
        </p:nvSpPr>
        <p:spPr>
          <a:xfrm>
            <a:off x="548640" y="4087368"/>
            <a:ext cx="5417820" cy="2240280"/>
          </a:xfrm>
          <a:prstGeom prst="roundRect">
            <a:avLst>
              <a:gd name="adj" fmla="val 2449"/>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24" name="Text 22"/>
          <p:cNvSpPr/>
          <p:nvPr/>
        </p:nvSpPr>
        <p:spPr>
          <a:xfrm>
            <a:off x="694944" y="4197096"/>
            <a:ext cx="512521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UC-4 · External-agent governance</a:t>
            </a:r>
            <a:endParaRPr lang="en-US" sz="1150" dirty="0"/>
          </a:p>
        </p:txBody>
      </p:sp>
      <p:sp>
        <p:nvSpPr>
          <p:cNvPr id="25" name="Shape 23"/>
          <p:cNvSpPr/>
          <p:nvPr/>
        </p:nvSpPr>
        <p:spPr>
          <a:xfrm>
            <a:off x="694944" y="5998464"/>
            <a:ext cx="1828800" cy="237744"/>
          </a:xfrm>
          <a:prstGeom prst="roundRect">
            <a:avLst>
              <a:gd name="adj" fmla="val 50000"/>
            </a:avLst>
          </a:prstGeom>
          <a:solidFill>
            <a:srgbClr val="5145C7"/>
          </a:solidFill>
          <a:ln w="12700">
            <a:solidFill>
              <a:srgbClr val="5145C7"/>
            </a:solidFill>
            <a:prstDash val="solid"/>
          </a:ln>
        </p:spPr>
      </p:sp>
      <p:sp>
        <p:nvSpPr>
          <p:cNvPr id="26" name="Text 24"/>
          <p:cNvSpPr/>
          <p:nvPr/>
        </p:nvSpPr>
        <p:spPr>
          <a:xfrm>
            <a:off x="694944" y="5998464"/>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27" name="Text 25"/>
          <p:cNvSpPr/>
          <p:nvPr/>
        </p:nvSpPr>
        <p:spPr>
          <a:xfrm>
            <a:off x="694944" y="4636008"/>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External agents act on the system of action</a:t>
            </a:r>
            <a:endParaRPr lang="en-US" sz="860" dirty="0"/>
          </a:p>
        </p:txBody>
      </p:sp>
      <p:sp>
        <p:nvSpPr>
          <p:cNvPr id="28" name="Text 26"/>
          <p:cNvSpPr/>
          <p:nvPr/>
        </p:nvSpPr>
        <p:spPr>
          <a:xfrm>
            <a:off x="694944" y="4892040"/>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Action Fabric + AI Agent Fabric + OpenShell</a:t>
            </a:r>
            <a:endParaRPr lang="en-US" sz="860" dirty="0"/>
          </a:p>
        </p:txBody>
      </p:sp>
      <p:sp>
        <p:nvSpPr>
          <p:cNvPr id="29" name="Text 27"/>
          <p:cNvSpPr/>
          <p:nvPr/>
        </p:nvSpPr>
        <p:spPr>
          <a:xfrm>
            <a:off x="694944" y="5148072"/>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Independent exact-payload authority, sequence-risk, assurance</a:t>
            </a:r>
            <a:endParaRPr lang="en-US" sz="860" dirty="0"/>
          </a:p>
        </p:txBody>
      </p:sp>
      <p:sp>
        <p:nvSpPr>
          <p:cNvPr id="30" name="Text 28"/>
          <p:cNvSpPr/>
          <p:nvPr/>
        </p:nvSpPr>
        <p:spPr>
          <a:xfrm>
            <a:off x="694944" y="5404104"/>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Composes with platform enforcement</a:t>
            </a:r>
            <a:endParaRPr lang="en-US" sz="860" dirty="0"/>
          </a:p>
        </p:txBody>
      </p:sp>
      <p:sp>
        <p:nvSpPr>
          <p:cNvPr id="31" name="Text 29"/>
          <p:cNvSpPr/>
          <p:nvPr/>
        </p:nvSpPr>
        <p:spPr>
          <a:xfrm>
            <a:off x="694944" y="5660136"/>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external-agent workflow to pilot?</a:t>
            </a:r>
            <a:endParaRPr lang="en-US" sz="860" dirty="0"/>
          </a:p>
        </p:txBody>
      </p:sp>
      <p:sp>
        <p:nvSpPr>
          <p:cNvPr id="32" name="Shape 30"/>
          <p:cNvSpPr/>
          <p:nvPr/>
        </p:nvSpPr>
        <p:spPr>
          <a:xfrm>
            <a:off x="6195060" y="4087368"/>
            <a:ext cx="5417820" cy="2240280"/>
          </a:xfrm>
          <a:prstGeom prst="roundRect">
            <a:avLst>
              <a:gd name="adj" fmla="val 2449"/>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33" name="Text 31"/>
          <p:cNvSpPr/>
          <p:nvPr/>
        </p:nvSpPr>
        <p:spPr>
          <a:xfrm>
            <a:off x="6341364" y="4197096"/>
            <a:ext cx="512521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UC-12 · Data-boundary governance</a:t>
            </a:r>
            <a:endParaRPr lang="en-US" sz="1150" dirty="0"/>
          </a:p>
        </p:txBody>
      </p:sp>
      <p:sp>
        <p:nvSpPr>
          <p:cNvPr id="34" name="Shape 32"/>
          <p:cNvSpPr/>
          <p:nvPr/>
        </p:nvSpPr>
        <p:spPr>
          <a:xfrm>
            <a:off x="6341364" y="5998464"/>
            <a:ext cx="1828800" cy="237744"/>
          </a:xfrm>
          <a:prstGeom prst="roundRect">
            <a:avLst>
              <a:gd name="adj" fmla="val 50000"/>
            </a:avLst>
          </a:prstGeom>
          <a:solidFill>
            <a:srgbClr val="5145C7"/>
          </a:solidFill>
          <a:ln w="12700">
            <a:solidFill>
              <a:srgbClr val="5145C7"/>
            </a:solidFill>
            <a:prstDash val="solid"/>
          </a:ln>
        </p:spPr>
      </p:sp>
      <p:sp>
        <p:nvSpPr>
          <p:cNvPr id="35" name="Text 33"/>
          <p:cNvSpPr/>
          <p:nvPr/>
        </p:nvSpPr>
        <p:spPr>
          <a:xfrm>
            <a:off x="6341364" y="5998464"/>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36" name="Text 34"/>
          <p:cNvSpPr/>
          <p:nvPr/>
        </p:nvSpPr>
        <p:spPr>
          <a:xfrm>
            <a:off x="6341364" y="4636008"/>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Agents pull enterprise data into context</a:t>
            </a:r>
            <a:endParaRPr lang="en-US" sz="860" dirty="0"/>
          </a:p>
        </p:txBody>
      </p:sp>
      <p:sp>
        <p:nvSpPr>
          <p:cNvPr id="37" name="Text 35"/>
          <p:cNvSpPr/>
          <p:nvPr/>
        </p:nvSpPr>
        <p:spPr>
          <a:xfrm>
            <a:off x="6341364" y="4892040"/>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Workflow Data Fabric + AICT privacy</a:t>
            </a:r>
            <a:endParaRPr lang="en-US" sz="860" dirty="0"/>
          </a:p>
        </p:txBody>
      </p:sp>
      <p:sp>
        <p:nvSpPr>
          <p:cNvPr id="38" name="Text 36"/>
          <p:cNvSpPr/>
          <p:nvPr/>
        </p:nvSpPr>
        <p:spPr>
          <a:xfrm>
            <a:off x="6341364" y="5148072"/>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Minimum-necessary context; token accounting; fail-closed</a:t>
            </a:r>
            <a:endParaRPr lang="en-US" sz="860" dirty="0"/>
          </a:p>
        </p:txBody>
      </p:sp>
      <p:sp>
        <p:nvSpPr>
          <p:cNvPr id="39" name="Text 37"/>
          <p:cNvSpPr/>
          <p:nvPr/>
        </p:nvSpPr>
        <p:spPr>
          <a:xfrm>
            <a:off x="6341364" y="5404104"/>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Governs exactly what crosses the model boundary</a:t>
            </a:r>
            <a:endParaRPr lang="en-US" sz="860" dirty="0"/>
          </a:p>
        </p:txBody>
      </p:sp>
      <p:sp>
        <p:nvSpPr>
          <p:cNvPr id="40" name="Text 38"/>
          <p:cNvSpPr/>
          <p:nvPr/>
        </p:nvSpPr>
        <p:spPr>
          <a:xfrm>
            <a:off x="6341364" y="5660136"/>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data domains need boundary control?</a:t>
            </a:r>
            <a:endParaRPr lang="en-US" sz="860" dirty="0"/>
          </a:p>
        </p:txBody>
      </p:sp>
      <p:sp>
        <p:nvSpPr>
          <p:cNvPr id="41" name="Text 39"/>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Enterprise workflow scenarios grounded in actual ServiceNow products, with proposed Ugence governance extensions. Not proven deployments, production customer use cases, or existing integrations.</a:t>
            </a:r>
            <a:endParaRPr lang="en-US" sz="850" dirty="0"/>
          </a:p>
        </p:txBody>
      </p:sp>
      <p:sp>
        <p:nvSpPr>
          <p:cNvPr id="43" name="Text 40"/>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43</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USE-CASE PORTFOLIO</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Emerging or future scenarios</a:t>
            </a:r>
            <a:endParaRPr lang="en-US" sz="2600" dirty="0"/>
          </a:p>
        </p:txBody>
      </p:sp>
      <p:sp>
        <p:nvSpPr>
          <p:cNvPr id="4" name="Text 2"/>
          <p:cNvSpPr/>
          <p:nvPr/>
        </p:nvSpPr>
        <p:spPr>
          <a:xfrm>
            <a:off x="548640" y="1234440"/>
            <a:ext cx="11064240" cy="310896"/>
          </a:xfrm>
          <a:prstGeom prst="rect">
            <a:avLst/>
          </a:prstGeom>
          <a:noFill/>
          <a:ln/>
        </p:spPr>
        <p:txBody>
          <a:bodyPr wrap="square"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Group D — emerging / future</a:t>
            </a:r>
            <a:endParaRPr lang="en-US" sz="1400" dirty="0"/>
          </a:p>
        </p:txBody>
      </p:sp>
      <p:sp>
        <p:nvSpPr>
          <p:cNvPr id="5" name="Shape 3"/>
          <p:cNvSpPr/>
          <p:nvPr/>
        </p:nvSpPr>
        <p:spPr>
          <a:xfrm>
            <a:off x="548640" y="1645920"/>
            <a:ext cx="5417820" cy="4480560"/>
          </a:xfrm>
          <a:prstGeom prst="roundRect">
            <a:avLst>
              <a:gd name="adj" fmla="val 1224"/>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6" name="Text 4"/>
          <p:cNvSpPr/>
          <p:nvPr/>
        </p:nvSpPr>
        <p:spPr>
          <a:xfrm>
            <a:off x="694944" y="1755648"/>
            <a:ext cx="512521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UC-1 · Autonomous security containment</a:t>
            </a:r>
            <a:endParaRPr lang="en-US" sz="1150" dirty="0"/>
          </a:p>
        </p:txBody>
      </p:sp>
      <p:sp>
        <p:nvSpPr>
          <p:cNvPr id="7" name="Shape 5"/>
          <p:cNvSpPr/>
          <p:nvPr/>
        </p:nvSpPr>
        <p:spPr>
          <a:xfrm>
            <a:off x="694944" y="5797296"/>
            <a:ext cx="1828800" cy="237744"/>
          </a:xfrm>
          <a:prstGeom prst="roundRect">
            <a:avLst>
              <a:gd name="adj" fmla="val 50000"/>
            </a:avLst>
          </a:prstGeom>
          <a:solidFill>
            <a:srgbClr val="D97706"/>
          </a:solidFill>
          <a:ln w="12700">
            <a:solidFill>
              <a:srgbClr val="D97706"/>
            </a:solidFill>
            <a:prstDash val="solid"/>
          </a:ln>
        </p:spPr>
      </p:sp>
      <p:sp>
        <p:nvSpPr>
          <p:cNvPr id="8" name="Text 6"/>
          <p:cNvSpPr/>
          <p:nvPr/>
        </p:nvSpPr>
        <p:spPr>
          <a:xfrm>
            <a:off x="694944" y="579729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ANNOUNCED / FUTURE</a:t>
            </a:r>
            <a:endParaRPr lang="en-US" sz="800" dirty="0"/>
          </a:p>
        </p:txBody>
      </p:sp>
      <p:sp>
        <p:nvSpPr>
          <p:cNvPr id="9" name="Text 7"/>
          <p:cNvSpPr/>
          <p:nvPr/>
        </p:nvSpPr>
        <p:spPr>
          <a:xfrm>
            <a:off x="694944" y="2194560"/>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Autonomous host isolation / account disable / IP block</a:t>
            </a:r>
            <a:endParaRPr lang="en-US" sz="860" dirty="0"/>
          </a:p>
        </p:txBody>
      </p:sp>
      <p:sp>
        <p:nvSpPr>
          <p:cNvPr id="10" name="Text 8"/>
          <p:cNvSpPr/>
          <p:nvPr/>
        </p:nvSpPr>
        <p:spPr>
          <a:xfrm>
            <a:off x="694944" y="2898648"/>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Security Incident Response — Tier 2 SOC AI Specialist</a:t>
            </a:r>
            <a:endParaRPr lang="en-US" sz="860" dirty="0"/>
          </a:p>
        </p:txBody>
      </p:sp>
      <p:sp>
        <p:nvSpPr>
          <p:cNvPr id="11" name="Text 9"/>
          <p:cNvSpPr/>
          <p:nvPr/>
        </p:nvSpPr>
        <p:spPr>
          <a:xfrm>
            <a:off x="694944" y="3602736"/>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Exact-target authority, live-safety clearance, effect reconciliation</a:t>
            </a:r>
            <a:endParaRPr lang="en-US" sz="860" dirty="0"/>
          </a:p>
        </p:txBody>
      </p:sp>
      <p:sp>
        <p:nvSpPr>
          <p:cNvPr id="12" name="Text 10"/>
          <p:cNvSpPr/>
          <p:nvPr/>
        </p:nvSpPr>
        <p:spPr>
          <a:xfrm>
            <a:off x="694944" y="4306824"/>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Forward-looking; not shipped</a:t>
            </a:r>
            <a:endParaRPr lang="en-US" sz="860" dirty="0"/>
          </a:p>
        </p:txBody>
      </p:sp>
      <p:sp>
        <p:nvSpPr>
          <p:cNvPr id="13" name="Text 11"/>
          <p:cNvSpPr/>
          <p:nvPr/>
        </p:nvSpPr>
        <p:spPr>
          <a:xfrm>
            <a:off x="694944" y="5010912"/>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When the specialist ships, where does authority bind?</a:t>
            </a:r>
            <a:endParaRPr lang="en-US" sz="860" dirty="0"/>
          </a:p>
        </p:txBody>
      </p:sp>
      <p:sp>
        <p:nvSpPr>
          <p:cNvPr id="14" name="Shape 12"/>
          <p:cNvSpPr/>
          <p:nvPr/>
        </p:nvSpPr>
        <p:spPr>
          <a:xfrm>
            <a:off x="6195060" y="1645920"/>
            <a:ext cx="5417820" cy="4480560"/>
          </a:xfrm>
          <a:prstGeom prst="roundRect">
            <a:avLst>
              <a:gd name="adj" fmla="val 1224"/>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6341364" y="1755648"/>
            <a:ext cx="512521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UC-9 · Governed multi-agent workforce</a:t>
            </a:r>
            <a:endParaRPr lang="en-US" sz="1150" dirty="0"/>
          </a:p>
        </p:txBody>
      </p:sp>
      <p:sp>
        <p:nvSpPr>
          <p:cNvPr id="16" name="Shape 14"/>
          <p:cNvSpPr/>
          <p:nvPr/>
        </p:nvSpPr>
        <p:spPr>
          <a:xfrm>
            <a:off x="6341364" y="5797296"/>
            <a:ext cx="1828800" cy="237744"/>
          </a:xfrm>
          <a:prstGeom prst="roundRect">
            <a:avLst>
              <a:gd name="adj" fmla="val 50000"/>
            </a:avLst>
          </a:prstGeom>
          <a:solidFill>
            <a:srgbClr val="5145C7"/>
          </a:solidFill>
          <a:ln w="12700">
            <a:solidFill>
              <a:srgbClr val="5145C7"/>
            </a:solidFill>
            <a:prstDash val="solid"/>
          </a:ln>
        </p:spPr>
      </p:sp>
      <p:sp>
        <p:nvSpPr>
          <p:cNvPr id="17" name="Text 15"/>
          <p:cNvSpPr/>
          <p:nvPr/>
        </p:nvSpPr>
        <p:spPr>
          <a:xfrm>
            <a:off x="6341364" y="579729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18" name="Text 16"/>
          <p:cNvSpPr/>
          <p:nvPr/>
        </p:nvSpPr>
        <p:spPr>
          <a:xfrm>
            <a:off x="6341364" y="2194560"/>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 team of agents runs an end-to-end process</a:t>
            </a:r>
            <a:endParaRPr lang="en-US" sz="860" dirty="0"/>
          </a:p>
        </p:txBody>
      </p:sp>
      <p:sp>
        <p:nvSpPr>
          <p:cNvPr id="19" name="Text 17"/>
          <p:cNvSpPr/>
          <p:nvPr/>
        </p:nvSpPr>
        <p:spPr>
          <a:xfrm>
            <a:off x="6341364" y="2898648"/>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AI Agent Orchestrator / Autonomous Workforce</a:t>
            </a:r>
            <a:endParaRPr lang="en-US" sz="860" dirty="0"/>
          </a:p>
        </p:txBody>
      </p:sp>
      <p:sp>
        <p:nvSpPr>
          <p:cNvPr id="20" name="Text 18"/>
          <p:cNvSpPr/>
          <p:nvPr/>
        </p:nvSpPr>
        <p:spPr>
          <a:xfrm>
            <a:off x="6341364" y="3602736"/>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Least-privilege team plan granting nothing; per-action authorization + sequence risk</a:t>
            </a:r>
            <a:endParaRPr lang="en-US" sz="860" dirty="0"/>
          </a:p>
        </p:txBody>
      </p:sp>
      <p:sp>
        <p:nvSpPr>
          <p:cNvPr id="21" name="Text 19"/>
          <p:cNvSpPr/>
          <p:nvPr/>
        </p:nvSpPr>
        <p:spPr>
          <a:xfrm>
            <a:off x="6341364" y="4306824"/>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Composition grants no authority</a:t>
            </a:r>
            <a:endParaRPr lang="en-US" sz="860" dirty="0"/>
          </a:p>
        </p:txBody>
      </p:sp>
      <p:sp>
        <p:nvSpPr>
          <p:cNvPr id="22" name="Text 20"/>
          <p:cNvSpPr/>
          <p:nvPr/>
        </p:nvSpPr>
        <p:spPr>
          <a:xfrm>
            <a:off x="6341364" y="5010912"/>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multi-agent process to bound first?</a:t>
            </a:r>
            <a:endParaRPr lang="en-US" sz="860" dirty="0"/>
          </a:p>
        </p:txBody>
      </p:sp>
      <p:sp>
        <p:nvSpPr>
          <p:cNvPr id="23" name="Text 21"/>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Enterprise workflow scenarios grounded in actual ServiceNow products, with proposed Ugence governance extensions. Not proven deployments, production customer use cases, or existing integrations.</a:t>
            </a:r>
            <a:endParaRPr lang="en-US" sz="850" dirty="0"/>
          </a:p>
        </p:txBody>
      </p:sp>
      <p:sp>
        <p:nvSpPr>
          <p:cNvPr id="25" name="Text 22"/>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44</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VII</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Honest overlap &amp; differentiation</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Name the overlaps first — then the narrow, artifact-level differentiation</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HONEST OVERLAP</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Confirmed overlap zones — discussed as overlaps, not gaps</a:t>
            </a:r>
            <a:endParaRPr lang="en-US" sz="2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108960"/>
                <a:gridCol w="3840480"/>
                <a:gridCol w="4114800"/>
              </a:tblGrid>
              <a:tr h="8229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Zone</a:t>
                      </a:r>
                      <a:endParaRPr lang="en-US" sz="11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ServiceNow capability</a:t>
                      </a:r>
                      <a:endParaRPr lang="en-US" sz="11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Ugence proposed edge (narrow)</a:t>
                      </a:r>
                      <a:endParaRPr lang="en-US" sz="11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r>
              <a:tr h="822960">
                <a:tc>
                  <a:txBody>
                    <a:bodyPr/>
                    <a:lstStyle/>
                    <a:p>
                      <a:pPr indent="0" marL="0">
                        <a:buNone/>
                      </a:pPr>
                      <a:r>
                        <a:rPr lang="en-US" sz="1000" b="1" dirty="0">
                          <a:solidFill>
                            <a:srgbClr val="2A2170"/>
                          </a:solidFill>
                          <a:latin typeface="Calibri" pitchFamily="34" charset="0"/>
                          <a:ea typeface="Calibri" pitchFamily="34" charset="-122"/>
                          <a:cs typeface="Calibri" pitchFamily="34" charset="-120"/>
                        </a:rPr>
                        <a:t>ActionGate ↔ Action Fabric / AICT</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Governed, identity-verified, auditable action execution</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Per-payload/target authorization re-checked at commit (discovery hypothesis)</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822960">
                <a:tc>
                  <a:txBody>
                    <a:bodyPr/>
                    <a:lstStyle/>
                    <a:p>
                      <a:pPr indent="0" marL="0">
                        <a:buNone/>
                      </a:pPr>
                      <a:r>
                        <a:rPr lang="en-US" sz="1000" b="1" dirty="0">
                          <a:solidFill>
                            <a:srgbClr val="2A2170"/>
                          </a:solidFill>
                          <a:latin typeface="Calibri" pitchFamily="34" charset="0"/>
                          <a:ea typeface="Calibri" pitchFamily="34" charset="-122"/>
                          <a:cs typeface="Calibri" pitchFamily="34" charset="-120"/>
                        </a:rPr>
                        <a:t>RA-7 ↔ Agent Deviation Detection</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Flags when an agent strays from its role</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Independently verifiable trajectory signal into an authority lifecycle</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822960">
                <a:tc>
                  <a:txBody>
                    <a:bodyPr/>
                    <a:lstStyle/>
                    <a:p>
                      <a:pPr indent="0" marL="0">
                        <a:buNone/>
                      </a:pPr>
                      <a:r>
                        <a:rPr lang="en-US" sz="1000" b="1" dirty="0">
                          <a:solidFill>
                            <a:srgbClr val="2A2170"/>
                          </a:solidFill>
                          <a:latin typeface="Calibri" pitchFamily="34" charset="0"/>
                          <a:ea typeface="Calibri" pitchFamily="34" charset="-122"/>
                          <a:cs typeface="Calibri" pitchFamily="34" charset="-120"/>
                        </a:rPr>
                        <a:t>RA-6 ↔ real-time shutdown</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Can stop a misbehaving agent</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Authority-lifecycle revoke/epoch; enforcement stays read-only</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822960">
                <a:tc>
                  <a:txBody>
                    <a:bodyPr/>
                    <a:lstStyle/>
                    <a:p>
                      <a:pPr indent="0" marL="0">
                        <a:buNone/>
                      </a:pPr>
                      <a:r>
                        <a:rPr lang="en-US" sz="1000" b="1" dirty="0">
                          <a:solidFill>
                            <a:srgbClr val="2A2170"/>
                          </a:solidFill>
                          <a:latin typeface="Calibri" pitchFamily="34" charset="0"/>
                          <a:ea typeface="Calibri" pitchFamily="34" charset="-122"/>
                          <a:cs typeface="Calibri" pitchFamily="34" charset="-120"/>
                        </a:rPr>
                        <a:t>Model Authority ↔ Skill-Kit approval</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Restricts which models run</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Per-request binding decision with governed fallback + expiry</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822960">
                <a:tc>
                  <a:txBody>
                    <a:bodyPr/>
                    <a:lstStyle/>
                    <a:p>
                      <a:pPr indent="0" marL="0">
                        <a:buNone/>
                      </a:pPr>
                      <a:r>
                        <a:rPr lang="en-US" sz="1000" b="1" dirty="0">
                          <a:solidFill>
                            <a:srgbClr val="2A2170"/>
                          </a:solidFill>
                          <a:latin typeface="Calibri" pitchFamily="34" charset="0"/>
                          <a:ea typeface="Calibri" pitchFamily="34" charset="-122"/>
                          <a:cs typeface="Calibri" pitchFamily="34" charset="-120"/>
                        </a:rPr>
                        <a:t>AICT + NVIDIA OpenShell</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Central policy enforced at runtime across file/command/network</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Ugence does NOT claim unique cross-runtime enforcement — differentiation is the artifact</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Absence from public documentation is never treated as proof ServiceNow lacks a property — those points are questions for ServiceNow architects.</a:t>
            </a:r>
            <a:endParaRPr lang="en-US" sz="850" dirty="0"/>
          </a:p>
        </p:txBody>
      </p:sp>
      <p:sp>
        <p:nvSpPr>
          <p:cNvPr id="7" name="Text 3"/>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46</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DIFFERENTIATION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The narrow, defensible edge — properties of one authority artifact</a:t>
            </a:r>
            <a:endParaRPr lang="en-US" sz="2600" dirty="0"/>
          </a:p>
        </p:txBody>
      </p:sp>
      <p:sp>
        <p:nvSpPr>
          <p:cNvPr id="4" name="Text 2"/>
          <p:cNvSpPr/>
          <p:nvPr/>
        </p:nvSpPr>
        <p:spPr>
          <a:xfrm>
            <a:off x="548640" y="1325880"/>
            <a:ext cx="11064240" cy="640080"/>
          </a:xfrm>
          <a:prstGeom prst="rect">
            <a:avLst/>
          </a:prstGeom>
          <a:noFill/>
          <a:ln/>
        </p:spPr>
        <p:txBody>
          <a:bodyPr wrap="square" rtlCol="0" anchor="ctr"/>
          <a:lstStyle/>
          <a:p>
            <a:pPr indent="0" marL="0">
              <a:lnSpc>
                <a:spcPct val="108000"/>
              </a:lnSpc>
              <a:buNone/>
            </a:pPr>
            <a:r>
              <a:rPr lang="en-US" sz="1250" dirty="0">
                <a:solidFill>
                  <a:srgbClr val="1E2340"/>
                </a:solidFill>
                <a:latin typeface="Calibri" pitchFamily="34" charset="0"/>
                <a:ea typeface="Calibri" pitchFamily="34" charset="-122"/>
                <a:cs typeface="Calibri" pitchFamily="34" charset="-120"/>
              </a:rPr>
              <a:t>Ugence does not claim a governance gap or unique cross-runtime enforcement. The differentiation is confined to the properties of an independent, action-level authority-and-evidence artifact:</a:t>
            </a:r>
            <a:endParaRPr lang="en-US" sz="1250" dirty="0"/>
          </a:p>
        </p:txBody>
      </p:sp>
      <p:sp>
        <p:nvSpPr>
          <p:cNvPr id="5" name="Shape 3"/>
          <p:cNvSpPr/>
          <p:nvPr/>
        </p:nvSpPr>
        <p:spPr>
          <a:xfrm>
            <a:off x="548640" y="2148840"/>
            <a:ext cx="3520440" cy="1170432"/>
          </a:xfrm>
          <a:prstGeom prst="roundRect">
            <a:avLst>
              <a:gd name="adj" fmla="val 4688"/>
            </a:avLst>
          </a:prstGeom>
          <a:solidFill>
            <a:srgbClr val="ECEAFB"/>
          </a:solidFill>
          <a:ln w="12700">
            <a:solidFill>
              <a:srgbClr val="5145C7"/>
            </a:solidFill>
            <a:prstDash val="solid"/>
          </a:ln>
        </p:spPr>
      </p:sp>
      <p:sp>
        <p:nvSpPr>
          <p:cNvPr id="6" name="Shape 4"/>
          <p:cNvSpPr/>
          <p:nvPr/>
        </p:nvSpPr>
        <p:spPr>
          <a:xfrm>
            <a:off x="694944" y="2295144"/>
            <a:ext cx="310896" cy="310896"/>
          </a:xfrm>
          <a:prstGeom prst="ellipse">
            <a:avLst/>
          </a:prstGeom>
          <a:solidFill>
            <a:srgbClr val="5145C7"/>
          </a:solidFill>
          <a:ln w="12700">
            <a:solidFill>
              <a:srgbClr val="333333"/>
            </a:solidFill>
            <a:prstDash val="solid"/>
          </a:ln>
        </p:spPr>
      </p:sp>
      <p:sp>
        <p:nvSpPr>
          <p:cNvPr id="7" name="Text 5"/>
          <p:cNvSpPr/>
          <p:nvPr/>
        </p:nvSpPr>
        <p:spPr>
          <a:xfrm>
            <a:off x="694944" y="22951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097280" y="2276856"/>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Independently verifiable</a:t>
            </a:r>
            <a:endParaRPr lang="en-US" sz="1050" dirty="0"/>
          </a:p>
        </p:txBody>
      </p:sp>
      <p:sp>
        <p:nvSpPr>
          <p:cNvPr id="9" name="Text 7"/>
          <p:cNvSpPr/>
          <p:nvPr/>
        </p:nvSpPr>
        <p:spPr>
          <a:xfrm>
            <a:off x="1097280" y="2807208"/>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by a party other than the executor</a:t>
            </a:r>
            <a:endParaRPr lang="en-US" sz="950" dirty="0"/>
          </a:p>
        </p:txBody>
      </p:sp>
      <p:sp>
        <p:nvSpPr>
          <p:cNvPr id="10" name="Shape 8"/>
          <p:cNvSpPr/>
          <p:nvPr/>
        </p:nvSpPr>
        <p:spPr>
          <a:xfrm>
            <a:off x="4270248" y="2148840"/>
            <a:ext cx="3520440" cy="1170432"/>
          </a:xfrm>
          <a:prstGeom prst="roundRect">
            <a:avLst>
              <a:gd name="adj" fmla="val 4688"/>
            </a:avLst>
          </a:prstGeom>
          <a:solidFill>
            <a:srgbClr val="ECEAFB"/>
          </a:solidFill>
          <a:ln w="12700">
            <a:solidFill>
              <a:srgbClr val="5145C7"/>
            </a:solidFill>
            <a:prstDash val="solid"/>
          </a:ln>
        </p:spPr>
      </p:sp>
      <p:sp>
        <p:nvSpPr>
          <p:cNvPr id="11" name="Shape 9"/>
          <p:cNvSpPr/>
          <p:nvPr/>
        </p:nvSpPr>
        <p:spPr>
          <a:xfrm>
            <a:off x="4416552" y="2295144"/>
            <a:ext cx="310896" cy="310896"/>
          </a:xfrm>
          <a:prstGeom prst="ellipse">
            <a:avLst/>
          </a:prstGeom>
          <a:solidFill>
            <a:srgbClr val="5145C7"/>
          </a:solidFill>
          <a:ln w="12700">
            <a:solidFill>
              <a:srgbClr val="333333"/>
            </a:solidFill>
            <a:prstDash val="solid"/>
          </a:ln>
        </p:spPr>
      </p:sp>
      <p:sp>
        <p:nvSpPr>
          <p:cNvPr id="12" name="Text 10"/>
          <p:cNvSpPr/>
          <p:nvPr/>
        </p:nvSpPr>
        <p:spPr>
          <a:xfrm>
            <a:off x="4416552" y="22951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4818888" y="2276856"/>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Bound to the exact business action &amp; target</a:t>
            </a:r>
            <a:endParaRPr lang="en-US" sz="1050" dirty="0"/>
          </a:p>
        </p:txBody>
      </p:sp>
      <p:sp>
        <p:nvSpPr>
          <p:cNvPr id="14" name="Text 12"/>
          <p:cNvSpPr/>
          <p:nvPr/>
        </p:nvSpPr>
        <p:spPr>
          <a:xfrm>
            <a:off x="4818888" y="2807208"/>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not a class of action</a:t>
            </a:r>
            <a:endParaRPr lang="en-US" sz="950" dirty="0"/>
          </a:p>
        </p:txBody>
      </p:sp>
      <p:sp>
        <p:nvSpPr>
          <p:cNvPr id="15" name="Shape 13"/>
          <p:cNvSpPr/>
          <p:nvPr/>
        </p:nvSpPr>
        <p:spPr>
          <a:xfrm>
            <a:off x="7991856" y="2148840"/>
            <a:ext cx="3520440" cy="1170432"/>
          </a:xfrm>
          <a:prstGeom prst="roundRect">
            <a:avLst>
              <a:gd name="adj" fmla="val 4688"/>
            </a:avLst>
          </a:prstGeom>
          <a:solidFill>
            <a:srgbClr val="ECEAFB"/>
          </a:solidFill>
          <a:ln w="12700">
            <a:solidFill>
              <a:srgbClr val="5145C7"/>
            </a:solidFill>
            <a:prstDash val="solid"/>
          </a:ln>
        </p:spPr>
      </p:sp>
      <p:sp>
        <p:nvSpPr>
          <p:cNvPr id="16" name="Shape 14"/>
          <p:cNvSpPr/>
          <p:nvPr/>
        </p:nvSpPr>
        <p:spPr>
          <a:xfrm>
            <a:off x="8138160" y="2295144"/>
            <a:ext cx="310896" cy="310896"/>
          </a:xfrm>
          <a:prstGeom prst="ellipse">
            <a:avLst/>
          </a:prstGeom>
          <a:solidFill>
            <a:srgbClr val="5145C7"/>
          </a:solidFill>
          <a:ln w="12700">
            <a:solidFill>
              <a:srgbClr val="333333"/>
            </a:solidFill>
            <a:prstDash val="solid"/>
          </a:ln>
        </p:spPr>
      </p:sp>
      <p:sp>
        <p:nvSpPr>
          <p:cNvPr id="17" name="Text 15"/>
          <p:cNvSpPr/>
          <p:nvPr/>
        </p:nvSpPr>
        <p:spPr>
          <a:xfrm>
            <a:off x="8138160" y="22951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8540496" y="2276856"/>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Linked to trusted evidence</a:t>
            </a:r>
            <a:endParaRPr lang="en-US" sz="1050" dirty="0"/>
          </a:p>
        </p:txBody>
      </p:sp>
      <p:sp>
        <p:nvSpPr>
          <p:cNvPr id="19" name="Text 17"/>
          <p:cNvSpPr/>
          <p:nvPr/>
        </p:nvSpPr>
        <p:spPr>
          <a:xfrm>
            <a:off x="8540496" y="2807208"/>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stale or self-asserted evidence is inert</a:t>
            </a:r>
            <a:endParaRPr lang="en-US" sz="950" dirty="0"/>
          </a:p>
        </p:txBody>
      </p:sp>
      <p:sp>
        <p:nvSpPr>
          <p:cNvPr id="20" name="Shape 18"/>
          <p:cNvSpPr/>
          <p:nvPr/>
        </p:nvSpPr>
        <p:spPr>
          <a:xfrm>
            <a:off x="548640" y="3447288"/>
            <a:ext cx="3520440" cy="1170432"/>
          </a:xfrm>
          <a:prstGeom prst="roundRect">
            <a:avLst>
              <a:gd name="adj" fmla="val 4688"/>
            </a:avLst>
          </a:prstGeom>
          <a:solidFill>
            <a:srgbClr val="ECEAFB"/>
          </a:solidFill>
          <a:ln w="12700">
            <a:solidFill>
              <a:srgbClr val="5145C7"/>
            </a:solidFill>
            <a:prstDash val="solid"/>
          </a:ln>
        </p:spPr>
      </p:sp>
      <p:sp>
        <p:nvSpPr>
          <p:cNvPr id="21" name="Shape 19"/>
          <p:cNvSpPr/>
          <p:nvPr/>
        </p:nvSpPr>
        <p:spPr>
          <a:xfrm>
            <a:off x="694944" y="3593592"/>
            <a:ext cx="310896" cy="310896"/>
          </a:xfrm>
          <a:prstGeom prst="ellipse">
            <a:avLst/>
          </a:prstGeom>
          <a:solidFill>
            <a:srgbClr val="5145C7"/>
          </a:solidFill>
          <a:ln w="12700">
            <a:solidFill>
              <a:srgbClr val="333333"/>
            </a:solidFill>
            <a:prstDash val="solid"/>
          </a:ln>
        </p:spPr>
      </p:sp>
      <p:sp>
        <p:nvSpPr>
          <p:cNvPr id="22" name="Text 20"/>
          <p:cNvSpPr/>
          <p:nvPr/>
        </p:nvSpPr>
        <p:spPr>
          <a:xfrm>
            <a:off x="694944" y="35935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1097280" y="3575304"/>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Scoped &amp; time-limited</a:t>
            </a:r>
            <a:endParaRPr lang="en-US" sz="1050" dirty="0"/>
          </a:p>
        </p:txBody>
      </p:sp>
      <p:sp>
        <p:nvSpPr>
          <p:cNvPr id="24" name="Text 22"/>
          <p:cNvSpPr/>
          <p:nvPr/>
        </p:nvSpPr>
        <p:spPr>
          <a:xfrm>
            <a:off x="1097280" y="4105656"/>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scope never exceeds the decision</a:t>
            </a:r>
            <a:endParaRPr lang="en-US" sz="950" dirty="0"/>
          </a:p>
        </p:txBody>
      </p:sp>
      <p:sp>
        <p:nvSpPr>
          <p:cNvPr id="25" name="Shape 23"/>
          <p:cNvSpPr/>
          <p:nvPr/>
        </p:nvSpPr>
        <p:spPr>
          <a:xfrm>
            <a:off x="4270248" y="3447288"/>
            <a:ext cx="3520440" cy="1170432"/>
          </a:xfrm>
          <a:prstGeom prst="roundRect">
            <a:avLst>
              <a:gd name="adj" fmla="val 4688"/>
            </a:avLst>
          </a:prstGeom>
          <a:solidFill>
            <a:srgbClr val="ECEAFB"/>
          </a:solidFill>
          <a:ln w="12700">
            <a:solidFill>
              <a:srgbClr val="5145C7"/>
            </a:solidFill>
            <a:prstDash val="solid"/>
          </a:ln>
        </p:spPr>
      </p:sp>
      <p:sp>
        <p:nvSpPr>
          <p:cNvPr id="26" name="Shape 24"/>
          <p:cNvSpPr/>
          <p:nvPr/>
        </p:nvSpPr>
        <p:spPr>
          <a:xfrm>
            <a:off x="4416552" y="3593592"/>
            <a:ext cx="310896" cy="310896"/>
          </a:xfrm>
          <a:prstGeom prst="ellipse">
            <a:avLst/>
          </a:prstGeom>
          <a:solidFill>
            <a:srgbClr val="5145C7"/>
          </a:solidFill>
          <a:ln w="12700">
            <a:solidFill>
              <a:srgbClr val="333333"/>
            </a:solidFill>
            <a:prstDash val="solid"/>
          </a:ln>
        </p:spPr>
      </p:sp>
      <p:sp>
        <p:nvSpPr>
          <p:cNvPr id="27" name="Text 25"/>
          <p:cNvSpPr/>
          <p:nvPr/>
        </p:nvSpPr>
        <p:spPr>
          <a:xfrm>
            <a:off x="4416552" y="35935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4818888" y="3575304"/>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Re-checked before consequential execution</a:t>
            </a:r>
            <a:endParaRPr lang="en-US" sz="1050" dirty="0"/>
          </a:p>
        </p:txBody>
      </p:sp>
      <p:sp>
        <p:nvSpPr>
          <p:cNvPr id="29" name="Text 27"/>
          <p:cNvSpPr/>
          <p:nvPr/>
        </p:nvSpPr>
        <p:spPr>
          <a:xfrm>
            <a:off x="4818888" y="4105656"/>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at commit time</a:t>
            </a:r>
            <a:endParaRPr lang="en-US" sz="950" dirty="0"/>
          </a:p>
        </p:txBody>
      </p:sp>
      <p:sp>
        <p:nvSpPr>
          <p:cNvPr id="30" name="Shape 28"/>
          <p:cNvSpPr/>
          <p:nvPr/>
        </p:nvSpPr>
        <p:spPr>
          <a:xfrm>
            <a:off x="7991856" y="3447288"/>
            <a:ext cx="3520440" cy="1170432"/>
          </a:xfrm>
          <a:prstGeom prst="roundRect">
            <a:avLst>
              <a:gd name="adj" fmla="val 4688"/>
            </a:avLst>
          </a:prstGeom>
          <a:solidFill>
            <a:srgbClr val="ECEAFB"/>
          </a:solidFill>
          <a:ln w="12700">
            <a:solidFill>
              <a:srgbClr val="5145C7"/>
            </a:solidFill>
            <a:prstDash val="solid"/>
          </a:ln>
        </p:spPr>
      </p:sp>
      <p:sp>
        <p:nvSpPr>
          <p:cNvPr id="31" name="Shape 29"/>
          <p:cNvSpPr/>
          <p:nvPr/>
        </p:nvSpPr>
        <p:spPr>
          <a:xfrm>
            <a:off x="8138160" y="3593592"/>
            <a:ext cx="310896" cy="310896"/>
          </a:xfrm>
          <a:prstGeom prst="ellipse">
            <a:avLst/>
          </a:prstGeom>
          <a:solidFill>
            <a:srgbClr val="5145C7"/>
          </a:solidFill>
          <a:ln w="12700">
            <a:solidFill>
              <a:srgbClr val="333333"/>
            </a:solidFill>
            <a:prstDash val="solid"/>
          </a:ln>
        </p:spPr>
      </p:sp>
      <p:sp>
        <p:nvSpPr>
          <p:cNvPr id="32" name="Text 30"/>
          <p:cNvSpPr/>
          <p:nvPr/>
        </p:nvSpPr>
        <p:spPr>
          <a:xfrm>
            <a:off x="8138160" y="35935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1"/>
          <p:cNvSpPr/>
          <p:nvPr/>
        </p:nvSpPr>
        <p:spPr>
          <a:xfrm>
            <a:off x="8540496" y="3575304"/>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Separated from live operational clearance</a:t>
            </a:r>
            <a:endParaRPr lang="en-US" sz="1050" dirty="0"/>
          </a:p>
        </p:txBody>
      </p:sp>
      <p:sp>
        <p:nvSpPr>
          <p:cNvPr id="34" name="Text 32"/>
          <p:cNvSpPr/>
          <p:nvPr/>
        </p:nvSpPr>
        <p:spPr>
          <a:xfrm>
            <a:off x="8540496" y="4105656"/>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independent, subtractive veto</a:t>
            </a:r>
            <a:endParaRPr lang="en-US" sz="950" dirty="0"/>
          </a:p>
        </p:txBody>
      </p:sp>
      <p:sp>
        <p:nvSpPr>
          <p:cNvPr id="35" name="Shape 33"/>
          <p:cNvSpPr/>
          <p:nvPr/>
        </p:nvSpPr>
        <p:spPr>
          <a:xfrm>
            <a:off x="548640" y="4745736"/>
            <a:ext cx="3520440" cy="1170432"/>
          </a:xfrm>
          <a:prstGeom prst="roundRect">
            <a:avLst>
              <a:gd name="adj" fmla="val 4688"/>
            </a:avLst>
          </a:prstGeom>
          <a:solidFill>
            <a:srgbClr val="ECEAFB"/>
          </a:solidFill>
          <a:ln w="12700">
            <a:solidFill>
              <a:srgbClr val="5145C7"/>
            </a:solidFill>
            <a:prstDash val="solid"/>
          </a:ln>
        </p:spPr>
      </p:sp>
      <p:sp>
        <p:nvSpPr>
          <p:cNvPr id="36" name="Shape 34"/>
          <p:cNvSpPr/>
          <p:nvPr/>
        </p:nvSpPr>
        <p:spPr>
          <a:xfrm>
            <a:off x="694944" y="4892040"/>
            <a:ext cx="310896" cy="310896"/>
          </a:xfrm>
          <a:prstGeom prst="ellipse">
            <a:avLst/>
          </a:prstGeom>
          <a:solidFill>
            <a:srgbClr val="5145C7"/>
          </a:solidFill>
          <a:ln w="12700">
            <a:solidFill>
              <a:srgbClr val="333333"/>
            </a:solidFill>
            <a:prstDash val="solid"/>
          </a:ln>
        </p:spPr>
      </p:sp>
      <p:sp>
        <p:nvSpPr>
          <p:cNvPr id="37" name="Text 35"/>
          <p:cNvSpPr/>
          <p:nvPr/>
        </p:nvSpPr>
        <p:spPr>
          <a:xfrm>
            <a:off x="694944" y="48920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8" name="Text 36"/>
          <p:cNvSpPr/>
          <p:nvPr/>
        </p:nvSpPr>
        <p:spPr>
          <a:xfrm>
            <a:off x="1097280" y="4873752"/>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Connected to execution receipts</a:t>
            </a:r>
            <a:endParaRPr lang="en-US" sz="1050" dirty="0"/>
          </a:p>
        </p:txBody>
      </p:sp>
      <p:sp>
        <p:nvSpPr>
          <p:cNvPr id="39" name="Text 37"/>
          <p:cNvSpPr/>
          <p:nvPr/>
        </p:nvSpPr>
        <p:spPr>
          <a:xfrm>
            <a:off x="1097280" y="5404104"/>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what actually ran</a:t>
            </a:r>
            <a:endParaRPr lang="en-US" sz="950" dirty="0"/>
          </a:p>
        </p:txBody>
      </p:sp>
      <p:sp>
        <p:nvSpPr>
          <p:cNvPr id="40" name="Shape 38"/>
          <p:cNvSpPr/>
          <p:nvPr/>
        </p:nvSpPr>
        <p:spPr>
          <a:xfrm>
            <a:off x="4270248" y="4745736"/>
            <a:ext cx="3520440" cy="1170432"/>
          </a:xfrm>
          <a:prstGeom prst="roundRect">
            <a:avLst>
              <a:gd name="adj" fmla="val 4688"/>
            </a:avLst>
          </a:prstGeom>
          <a:solidFill>
            <a:srgbClr val="ECEAFB"/>
          </a:solidFill>
          <a:ln w="12700">
            <a:solidFill>
              <a:srgbClr val="5145C7"/>
            </a:solidFill>
            <a:prstDash val="solid"/>
          </a:ln>
        </p:spPr>
      </p:sp>
      <p:sp>
        <p:nvSpPr>
          <p:cNvPr id="41" name="Shape 39"/>
          <p:cNvSpPr/>
          <p:nvPr/>
        </p:nvSpPr>
        <p:spPr>
          <a:xfrm>
            <a:off x="4416552" y="4892040"/>
            <a:ext cx="310896" cy="310896"/>
          </a:xfrm>
          <a:prstGeom prst="ellipse">
            <a:avLst/>
          </a:prstGeom>
          <a:solidFill>
            <a:srgbClr val="5145C7"/>
          </a:solidFill>
          <a:ln w="12700">
            <a:solidFill>
              <a:srgbClr val="333333"/>
            </a:solidFill>
            <a:prstDash val="solid"/>
          </a:ln>
        </p:spPr>
      </p:sp>
      <p:sp>
        <p:nvSpPr>
          <p:cNvPr id="42" name="Text 40"/>
          <p:cNvSpPr/>
          <p:nvPr/>
        </p:nvSpPr>
        <p:spPr>
          <a:xfrm>
            <a:off x="4416552" y="48920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3" name="Text 41"/>
          <p:cNvSpPr/>
          <p:nvPr/>
        </p:nvSpPr>
        <p:spPr>
          <a:xfrm>
            <a:off x="4818888" y="4873752"/>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Reconciled against observed effect</a:t>
            </a:r>
            <a:endParaRPr lang="en-US" sz="1050" dirty="0"/>
          </a:p>
        </p:txBody>
      </p:sp>
      <p:sp>
        <p:nvSpPr>
          <p:cNvPr id="44" name="Text 42"/>
          <p:cNvSpPr/>
          <p:nvPr/>
        </p:nvSpPr>
        <p:spPr>
          <a:xfrm>
            <a:off x="4818888" y="5404104"/>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intent vs reality</a:t>
            </a:r>
            <a:endParaRPr lang="en-US" sz="950" dirty="0"/>
          </a:p>
        </p:txBody>
      </p:sp>
      <p:sp>
        <p:nvSpPr>
          <p:cNvPr id="45" name="Shape 43"/>
          <p:cNvSpPr/>
          <p:nvPr/>
        </p:nvSpPr>
        <p:spPr>
          <a:xfrm>
            <a:off x="7991856" y="4745736"/>
            <a:ext cx="3520440" cy="1170432"/>
          </a:xfrm>
          <a:prstGeom prst="roundRect">
            <a:avLst>
              <a:gd name="adj" fmla="val 4688"/>
            </a:avLst>
          </a:prstGeom>
          <a:solidFill>
            <a:srgbClr val="ECEAFB"/>
          </a:solidFill>
          <a:ln w="12700">
            <a:solidFill>
              <a:srgbClr val="5145C7"/>
            </a:solidFill>
            <a:prstDash val="solid"/>
          </a:ln>
        </p:spPr>
      </p:sp>
      <p:sp>
        <p:nvSpPr>
          <p:cNvPr id="46" name="Shape 44"/>
          <p:cNvSpPr/>
          <p:nvPr/>
        </p:nvSpPr>
        <p:spPr>
          <a:xfrm>
            <a:off x="8138160" y="4892040"/>
            <a:ext cx="310896" cy="310896"/>
          </a:xfrm>
          <a:prstGeom prst="ellipse">
            <a:avLst/>
          </a:prstGeom>
          <a:solidFill>
            <a:srgbClr val="5145C7"/>
          </a:solidFill>
          <a:ln w="12700">
            <a:solidFill>
              <a:srgbClr val="333333"/>
            </a:solidFill>
            <a:prstDash val="solid"/>
          </a:ln>
        </p:spPr>
      </p:sp>
      <p:sp>
        <p:nvSpPr>
          <p:cNvPr id="47" name="Text 45"/>
          <p:cNvSpPr/>
          <p:nvPr/>
        </p:nvSpPr>
        <p:spPr>
          <a:xfrm>
            <a:off x="8138160" y="48920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8" name="Text 46"/>
          <p:cNvSpPr/>
          <p:nvPr/>
        </p:nvSpPr>
        <p:spPr>
          <a:xfrm>
            <a:off x="8540496" y="4873752"/>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Usable in a cross-stage evidence lineage</a:t>
            </a:r>
            <a:endParaRPr lang="en-US" sz="1050" dirty="0"/>
          </a:p>
        </p:txBody>
      </p:sp>
      <p:sp>
        <p:nvSpPr>
          <p:cNvPr id="49" name="Text 47"/>
          <p:cNvSpPr/>
          <p:nvPr/>
        </p:nvSpPr>
        <p:spPr>
          <a:xfrm>
            <a:off x="8540496" y="5404104"/>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one story per action</a:t>
            </a:r>
            <a:endParaRPr lang="en-US" sz="950" dirty="0"/>
          </a:p>
        </p:txBody>
      </p:sp>
      <p:sp>
        <p:nvSpPr>
          <p:cNvPr id="50" name="Text 48"/>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These properties are the whole differentiation. Everything else in the deck is a variation on this one boundary.</a:t>
            </a:r>
            <a:endParaRPr lang="en-US" sz="850" dirty="0"/>
          </a:p>
        </p:txBody>
      </p:sp>
      <p:sp>
        <p:nvSpPr>
          <p:cNvPr id="52" name="Text 49"/>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47</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VIII</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Enterprise Governed Value</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A developing, cross-cutting capability — evidence-backed outcome attribution</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ENTERPRISE GOVERNED VALUE</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Developing &amp; cross-cutting — not an authorization gate</a:t>
            </a:r>
            <a:endParaRPr lang="en-US" sz="2600" dirty="0"/>
          </a:p>
        </p:txBody>
      </p:sp>
      <p:sp>
        <p:nvSpPr>
          <p:cNvPr id="4" name="Shape 2"/>
          <p:cNvSpPr/>
          <p:nvPr/>
        </p:nvSpPr>
        <p:spPr>
          <a:xfrm>
            <a:off x="9966960" y="603504"/>
            <a:ext cx="1737360" cy="237744"/>
          </a:xfrm>
          <a:prstGeom prst="roundRect">
            <a:avLst>
              <a:gd name="adj" fmla="val 50000"/>
            </a:avLst>
          </a:prstGeom>
          <a:solidFill>
            <a:srgbClr val="2B6CB0"/>
          </a:solidFill>
          <a:ln w="12700">
            <a:solidFill>
              <a:srgbClr val="2B6CB0"/>
            </a:solidFill>
            <a:prstDash val="solid"/>
          </a:ln>
        </p:spPr>
      </p:sp>
      <p:sp>
        <p:nvSpPr>
          <p:cNvPr id="5" name="Text 3"/>
          <p:cNvSpPr/>
          <p:nvPr/>
        </p:nvSpPr>
        <p:spPr>
          <a:xfrm>
            <a:off x="9966960" y="603504"/>
            <a:ext cx="173736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UNDER DEVELOPMENT</a:t>
            </a:r>
            <a:endParaRPr lang="en-US" sz="800" dirty="0"/>
          </a:p>
        </p:txBody>
      </p:sp>
      <p:sp>
        <p:nvSpPr>
          <p:cNvPr id="6" name="Shape 4"/>
          <p:cNvSpPr/>
          <p:nvPr/>
        </p:nvSpPr>
        <p:spPr>
          <a:xfrm>
            <a:off x="548640" y="1371600"/>
            <a:ext cx="5486400" cy="1828800"/>
          </a:xfrm>
          <a:prstGeom prst="roundRect">
            <a:avLst>
              <a:gd name="adj" fmla="val 3000"/>
            </a:avLst>
          </a:prstGeom>
          <a:solidFill>
            <a:srgbClr val="E7F3EC"/>
          </a:solidFill>
          <a:ln w="12700">
            <a:solidFill>
              <a:srgbClr val="2E7D5B"/>
            </a:solidFill>
            <a:prstDash val="solid"/>
          </a:ln>
        </p:spPr>
      </p:sp>
      <p:sp>
        <p:nvSpPr>
          <p:cNvPr id="7" name="Text 5"/>
          <p:cNvSpPr/>
          <p:nvPr/>
        </p:nvSpPr>
        <p:spPr>
          <a:xfrm>
            <a:off x="731520" y="1481328"/>
            <a:ext cx="5166360" cy="1645920"/>
          </a:xfrm>
          <a:prstGeom prst="rect">
            <a:avLst/>
          </a:prstGeom>
          <a:noFill/>
          <a:ln/>
        </p:spPr>
        <p:txBody>
          <a:bodyPr wrap="square" lIns="0" tIns="0" rIns="0" bIns="0" rtlCol="0" anchor="t"/>
          <a:lstStyle/>
          <a:p>
            <a:pPr indent="0" marL="0">
              <a:lnSpc>
                <a:spcPct val="110000"/>
              </a:lnSpc>
              <a:buNone/>
            </a:pPr>
            <a:r>
              <a:rPr lang="en-US" sz="1150" b="1" dirty="0">
                <a:solidFill>
                  <a:srgbClr val="14532D"/>
                </a:solidFill>
                <a:latin typeface="Calibri" pitchFamily="34" charset="0"/>
                <a:ea typeface="Calibri" pitchFamily="34" charset="-122"/>
                <a:cs typeface="Calibri" pitchFamily="34" charset="-120"/>
              </a:rPr>
              <a:t>ServiceNow already measures value.  </a:t>
            </a:r>
            <a:pPr indent="0" marL="0">
              <a:lnSpc>
                <a:spcPct val="110000"/>
              </a:lnSpc>
              <a:buNone/>
            </a:pPr>
            <a:r>
              <a:rPr lang="en-US" sz="1150" dirty="0">
                <a:solidFill>
                  <a:srgbClr val="1E2340"/>
                </a:solidFill>
                <a:latin typeface="Calibri" pitchFamily="34" charset="0"/>
                <a:ea typeface="Calibri" pitchFamily="34" charset="-122"/>
                <a:cs typeface="Calibri" pitchFamily="34" charset="-120"/>
              </a:rPr>
              <a:t>AI Control Tower measures AI adoption, business impact, realized value and ROI. This proposal does not duplicate or replace that.</a:t>
            </a:r>
            <a:endParaRPr lang="en-US" sz="1150" dirty="0"/>
          </a:p>
        </p:txBody>
      </p:sp>
      <p:sp>
        <p:nvSpPr>
          <p:cNvPr id="8" name="Shape 6"/>
          <p:cNvSpPr/>
          <p:nvPr/>
        </p:nvSpPr>
        <p:spPr>
          <a:xfrm>
            <a:off x="6172200" y="1371600"/>
            <a:ext cx="5486400" cy="1828800"/>
          </a:xfrm>
          <a:prstGeom prst="roundRect">
            <a:avLst>
              <a:gd name="adj" fmla="val 3000"/>
            </a:avLst>
          </a:prstGeom>
          <a:solidFill>
            <a:srgbClr val="ECEAFB"/>
          </a:solidFill>
          <a:ln w="12700">
            <a:solidFill>
              <a:srgbClr val="5145C7"/>
            </a:solidFill>
            <a:prstDash val="solid"/>
          </a:ln>
        </p:spPr>
      </p:sp>
      <p:sp>
        <p:nvSpPr>
          <p:cNvPr id="9" name="Text 7"/>
          <p:cNvSpPr/>
          <p:nvPr/>
        </p:nvSpPr>
        <p:spPr>
          <a:xfrm>
            <a:off x="6355080" y="1481328"/>
            <a:ext cx="5166360" cy="1645920"/>
          </a:xfrm>
          <a:prstGeom prst="rect">
            <a:avLst/>
          </a:prstGeom>
          <a:noFill/>
          <a:ln/>
        </p:spPr>
        <p:txBody>
          <a:bodyPr wrap="square" lIns="0" tIns="0" rIns="0" bIns="0" rtlCol="0" anchor="t"/>
          <a:lstStyle/>
          <a:p>
            <a:pPr indent="0" marL="0">
              <a:lnSpc>
                <a:spcPct val="110000"/>
              </a:lnSpc>
              <a:buNone/>
            </a:pPr>
            <a:r>
              <a:rPr lang="en-US" sz="1150" b="1" dirty="0">
                <a:solidFill>
                  <a:srgbClr val="2A2170"/>
                </a:solidFill>
                <a:latin typeface="Calibri" pitchFamily="34" charset="0"/>
                <a:ea typeface="Calibri" pitchFamily="34" charset="-122"/>
                <a:cs typeface="Calibri" pitchFamily="34" charset="-120"/>
              </a:rPr>
              <a:t>Ugence proposes attribution.  </a:t>
            </a:r>
            <a:pPr indent="0" marL="0">
              <a:lnSpc>
                <a:spcPct val="110000"/>
              </a:lnSpc>
              <a:buNone/>
            </a:pPr>
            <a:r>
              <a:rPr lang="en-US" sz="1150" dirty="0">
                <a:solidFill>
                  <a:srgbClr val="1E2340"/>
                </a:solidFill>
                <a:latin typeface="Calibri" pitchFamily="34" charset="0"/>
                <a:ea typeface="Calibri" pitchFamily="34" charset="-122"/>
                <a:cs typeface="Calibri" pitchFamily="34" charset="-120"/>
              </a:rPr>
              <a:t>Evidence-backed outcome attribution that connects approved objectives, governed-execution evidence, attributable cost, observed outcomes, and preserved risk, compliance, quality and service constraints.</a:t>
            </a:r>
            <a:endParaRPr lang="en-US" sz="1150" dirty="0"/>
          </a:p>
        </p:txBody>
      </p:sp>
      <p:sp>
        <p:nvSpPr>
          <p:cNvPr id="10" name="Text 8"/>
          <p:cNvSpPr/>
          <p:nvPr/>
        </p:nvSpPr>
        <p:spPr>
          <a:xfrm>
            <a:off x="548640" y="3383280"/>
            <a:ext cx="10972800" cy="292608"/>
          </a:xfrm>
          <a:prstGeom prst="rect">
            <a:avLst/>
          </a:prstGeom>
          <a:noFill/>
          <a:ln/>
        </p:spPr>
        <p:txBody>
          <a:bodyPr wrap="square" rtlCol="0" anchor="ctr"/>
          <a:lstStyle/>
          <a:p>
            <a:pPr indent="0" marL="0">
              <a:buNone/>
            </a:pPr>
            <a:r>
              <a:rPr lang="en-US" sz="1300" b="1" dirty="0">
                <a:solidFill>
                  <a:srgbClr val="1E2340"/>
                </a:solidFill>
                <a:latin typeface="Calibri" pitchFamily="34" charset="0"/>
                <a:ea typeface="Calibri" pitchFamily="34" charset="-122"/>
                <a:cs typeface="Calibri" pitchFamily="34" charset="-120"/>
              </a:rPr>
              <a:t>Concrete example — UC-5 checkout scaling</a:t>
            </a:r>
            <a:endParaRPr lang="en-US" sz="1300" dirty="0"/>
          </a:p>
        </p:txBody>
      </p:sp>
      <p:sp>
        <p:nvSpPr>
          <p:cNvPr id="11" name="Shape 9"/>
          <p:cNvSpPr/>
          <p:nvPr/>
        </p:nvSpPr>
        <p:spPr>
          <a:xfrm>
            <a:off x="548640" y="3749040"/>
            <a:ext cx="2651760" cy="1051560"/>
          </a:xfrm>
          <a:prstGeom prst="roundRect">
            <a:avLst>
              <a:gd name="adj" fmla="val 4348"/>
            </a:avLst>
          </a:prstGeom>
          <a:solidFill>
            <a:srgbClr val="FFFFFF"/>
          </a:solidFill>
          <a:ln w="12700">
            <a:solidFill>
              <a:srgbClr val="D8DEE9"/>
            </a:solidFill>
            <a:prstDash val="solid"/>
          </a:ln>
        </p:spPr>
      </p:sp>
      <p:sp>
        <p:nvSpPr>
          <p:cNvPr id="12" name="Text 10"/>
          <p:cNvSpPr/>
          <p:nvPr/>
        </p:nvSpPr>
        <p:spPr>
          <a:xfrm>
            <a:off x="676656" y="3840480"/>
            <a:ext cx="2395728" cy="310896"/>
          </a:xfrm>
          <a:prstGeom prst="rect">
            <a:avLst/>
          </a:prstGeom>
          <a:noFill/>
          <a:ln/>
        </p:spPr>
        <p:txBody>
          <a:bodyPr wrap="square" lIns="0" tIns="0" rIns="0" bIns="0" rtlCol="0" anchor="ctr"/>
          <a:lstStyle/>
          <a:p>
            <a:pPr indent="0" marL="0">
              <a:buNone/>
            </a:pPr>
            <a:r>
              <a:rPr lang="en-US" sz="950" b="1" dirty="0">
                <a:solidFill>
                  <a:srgbClr val="173A5A"/>
                </a:solidFill>
                <a:latin typeface="Calibri" pitchFamily="34" charset="0"/>
                <a:ea typeface="Calibri" pitchFamily="34" charset="-122"/>
                <a:cs typeface="Calibri" pitchFamily="34" charset="-120"/>
              </a:rPr>
              <a:t>Approved objective</a:t>
            </a:r>
            <a:endParaRPr lang="en-US" sz="950" dirty="0"/>
          </a:p>
        </p:txBody>
      </p:sp>
      <p:sp>
        <p:nvSpPr>
          <p:cNvPr id="13" name="Text 11"/>
          <p:cNvSpPr/>
          <p:nvPr/>
        </p:nvSpPr>
        <p:spPr>
          <a:xfrm>
            <a:off x="676656" y="4151376"/>
            <a:ext cx="2395728" cy="603504"/>
          </a:xfrm>
          <a:prstGeom prst="rect">
            <a:avLst/>
          </a:prstGeom>
          <a:noFill/>
          <a:ln/>
        </p:spPr>
        <p:txBody>
          <a:bodyPr wrap="square" lIns="0" tIns="0" rIns="0" bIns="0" rtlCol="0" anchor="ctr"/>
          <a:lstStyle/>
          <a:p>
            <a:pPr indent="0" marL="0">
              <a:lnSpc>
                <a:spcPct val="100000"/>
              </a:lnSpc>
              <a:buNone/>
            </a:pPr>
            <a:r>
              <a:rPr lang="en-US" sz="950" dirty="0">
                <a:solidFill>
                  <a:srgbClr val="1E2340"/>
                </a:solidFill>
                <a:latin typeface="Calibri" pitchFamily="34" charset="0"/>
                <a:ea typeface="Calibri" pitchFamily="34" charset="-122"/>
                <a:cs typeface="Calibri" pitchFamily="34" charset="-120"/>
              </a:rPr>
              <a:t>Reduce checkout latency</a:t>
            </a:r>
            <a:endParaRPr lang="en-US" sz="950" dirty="0"/>
          </a:p>
        </p:txBody>
      </p:sp>
      <p:sp>
        <p:nvSpPr>
          <p:cNvPr id="14" name="Shape 12"/>
          <p:cNvSpPr/>
          <p:nvPr/>
        </p:nvSpPr>
        <p:spPr>
          <a:xfrm>
            <a:off x="3337560" y="3749040"/>
            <a:ext cx="2651760" cy="1051560"/>
          </a:xfrm>
          <a:prstGeom prst="roundRect">
            <a:avLst>
              <a:gd name="adj" fmla="val 4348"/>
            </a:avLst>
          </a:prstGeom>
          <a:solidFill>
            <a:srgbClr val="FFFFFF"/>
          </a:solidFill>
          <a:ln w="12700">
            <a:solidFill>
              <a:srgbClr val="D8DEE9"/>
            </a:solidFill>
            <a:prstDash val="solid"/>
          </a:ln>
        </p:spPr>
      </p:sp>
      <p:sp>
        <p:nvSpPr>
          <p:cNvPr id="15" name="Text 13"/>
          <p:cNvSpPr/>
          <p:nvPr/>
        </p:nvSpPr>
        <p:spPr>
          <a:xfrm>
            <a:off x="3465576" y="3840480"/>
            <a:ext cx="2395728" cy="310896"/>
          </a:xfrm>
          <a:prstGeom prst="rect">
            <a:avLst/>
          </a:prstGeom>
          <a:noFill/>
          <a:ln/>
        </p:spPr>
        <p:txBody>
          <a:bodyPr wrap="square" lIns="0" tIns="0" rIns="0" bIns="0" rtlCol="0" anchor="ctr"/>
          <a:lstStyle/>
          <a:p>
            <a:pPr indent="0" marL="0">
              <a:buNone/>
            </a:pPr>
            <a:r>
              <a:rPr lang="en-US" sz="950" b="1" dirty="0">
                <a:solidFill>
                  <a:srgbClr val="173A5A"/>
                </a:solidFill>
                <a:latin typeface="Calibri" pitchFamily="34" charset="0"/>
                <a:ea typeface="Calibri" pitchFamily="34" charset="-122"/>
                <a:cs typeface="Calibri" pitchFamily="34" charset="-120"/>
              </a:rPr>
              <a:t>Baseline</a:t>
            </a:r>
            <a:endParaRPr lang="en-US" sz="950" dirty="0"/>
          </a:p>
        </p:txBody>
      </p:sp>
      <p:sp>
        <p:nvSpPr>
          <p:cNvPr id="16" name="Text 14"/>
          <p:cNvSpPr/>
          <p:nvPr/>
        </p:nvSpPr>
        <p:spPr>
          <a:xfrm>
            <a:off x="3465576" y="4151376"/>
            <a:ext cx="2395728" cy="603504"/>
          </a:xfrm>
          <a:prstGeom prst="rect">
            <a:avLst/>
          </a:prstGeom>
          <a:noFill/>
          <a:ln/>
        </p:spPr>
        <p:txBody>
          <a:bodyPr wrap="square" lIns="0" tIns="0" rIns="0" bIns="0" rtlCol="0" anchor="ctr"/>
          <a:lstStyle/>
          <a:p>
            <a:pPr indent="0" marL="0">
              <a:lnSpc>
                <a:spcPct val="100000"/>
              </a:lnSpc>
              <a:buNone/>
            </a:pPr>
            <a:r>
              <a:rPr lang="en-US" sz="950" dirty="0">
                <a:solidFill>
                  <a:srgbClr val="1E2340"/>
                </a:solidFill>
                <a:latin typeface="Calibri" pitchFamily="34" charset="0"/>
                <a:ea typeface="Calibri" pitchFamily="34" charset="-122"/>
                <a:cs typeface="Calibri" pitchFamily="34" charset="-120"/>
              </a:rPr>
              <a:t>Current latency, capacity, cost</a:t>
            </a:r>
            <a:endParaRPr lang="en-US" sz="950" dirty="0"/>
          </a:p>
        </p:txBody>
      </p:sp>
      <p:sp>
        <p:nvSpPr>
          <p:cNvPr id="17" name="Shape 15"/>
          <p:cNvSpPr/>
          <p:nvPr/>
        </p:nvSpPr>
        <p:spPr>
          <a:xfrm>
            <a:off x="6126480" y="3749040"/>
            <a:ext cx="2651760" cy="1051560"/>
          </a:xfrm>
          <a:prstGeom prst="roundRect">
            <a:avLst>
              <a:gd name="adj" fmla="val 4348"/>
            </a:avLst>
          </a:prstGeom>
          <a:solidFill>
            <a:srgbClr val="FFFFFF"/>
          </a:solidFill>
          <a:ln w="12700">
            <a:solidFill>
              <a:srgbClr val="D8DEE9"/>
            </a:solidFill>
            <a:prstDash val="solid"/>
          </a:ln>
        </p:spPr>
      </p:sp>
      <p:sp>
        <p:nvSpPr>
          <p:cNvPr id="18" name="Text 16"/>
          <p:cNvSpPr/>
          <p:nvPr/>
        </p:nvSpPr>
        <p:spPr>
          <a:xfrm>
            <a:off x="6254496" y="3840480"/>
            <a:ext cx="2395728" cy="310896"/>
          </a:xfrm>
          <a:prstGeom prst="rect">
            <a:avLst/>
          </a:prstGeom>
          <a:noFill/>
          <a:ln/>
        </p:spPr>
        <p:txBody>
          <a:bodyPr wrap="square" lIns="0" tIns="0" rIns="0" bIns="0" rtlCol="0" anchor="ctr"/>
          <a:lstStyle/>
          <a:p>
            <a:pPr indent="0" marL="0">
              <a:buNone/>
            </a:pPr>
            <a:r>
              <a:rPr lang="en-US" sz="950" b="1" dirty="0">
                <a:solidFill>
                  <a:srgbClr val="173A5A"/>
                </a:solidFill>
                <a:latin typeface="Calibri" pitchFamily="34" charset="0"/>
                <a:ea typeface="Calibri" pitchFamily="34" charset="-122"/>
                <a:cs typeface="Calibri" pitchFamily="34" charset="-120"/>
              </a:rPr>
              <a:t>Governed action</a:t>
            </a:r>
            <a:endParaRPr lang="en-US" sz="950" dirty="0"/>
          </a:p>
        </p:txBody>
      </p:sp>
      <p:sp>
        <p:nvSpPr>
          <p:cNvPr id="19" name="Text 17"/>
          <p:cNvSpPr/>
          <p:nvPr/>
        </p:nvSpPr>
        <p:spPr>
          <a:xfrm>
            <a:off x="6254496" y="4151376"/>
            <a:ext cx="2395728" cy="603504"/>
          </a:xfrm>
          <a:prstGeom prst="rect">
            <a:avLst/>
          </a:prstGeom>
          <a:noFill/>
          <a:ln/>
        </p:spPr>
        <p:txBody>
          <a:bodyPr wrap="square" lIns="0" tIns="0" rIns="0" bIns="0" rtlCol="0" anchor="ctr"/>
          <a:lstStyle/>
          <a:p>
            <a:pPr indent="0" marL="0">
              <a:lnSpc>
                <a:spcPct val="100000"/>
              </a:lnSpc>
              <a:buNone/>
            </a:pPr>
            <a:r>
              <a:rPr lang="en-US" sz="950" dirty="0">
                <a:solidFill>
                  <a:srgbClr val="1E2340"/>
                </a:solidFill>
                <a:latin typeface="Calibri" pitchFamily="34" charset="0"/>
                <a:ea typeface="Calibri" pitchFamily="34" charset="-122"/>
                <a:cs typeface="Calibri" pitchFamily="34" charset="-120"/>
              </a:rPr>
              <a:t>Scale 12 → 18 instances</a:t>
            </a:r>
            <a:endParaRPr lang="en-US" sz="950" dirty="0"/>
          </a:p>
        </p:txBody>
      </p:sp>
      <p:sp>
        <p:nvSpPr>
          <p:cNvPr id="20" name="Shape 18"/>
          <p:cNvSpPr/>
          <p:nvPr/>
        </p:nvSpPr>
        <p:spPr>
          <a:xfrm>
            <a:off x="8915400" y="3749040"/>
            <a:ext cx="2651760" cy="1051560"/>
          </a:xfrm>
          <a:prstGeom prst="roundRect">
            <a:avLst>
              <a:gd name="adj" fmla="val 4348"/>
            </a:avLst>
          </a:prstGeom>
          <a:solidFill>
            <a:srgbClr val="FFFFFF"/>
          </a:solidFill>
          <a:ln w="12700">
            <a:solidFill>
              <a:srgbClr val="D8DEE9"/>
            </a:solidFill>
            <a:prstDash val="solid"/>
          </a:ln>
        </p:spPr>
      </p:sp>
      <p:sp>
        <p:nvSpPr>
          <p:cNvPr id="21" name="Text 19"/>
          <p:cNvSpPr/>
          <p:nvPr/>
        </p:nvSpPr>
        <p:spPr>
          <a:xfrm>
            <a:off x="9043416" y="3840480"/>
            <a:ext cx="2395728" cy="310896"/>
          </a:xfrm>
          <a:prstGeom prst="rect">
            <a:avLst/>
          </a:prstGeom>
          <a:noFill/>
          <a:ln/>
        </p:spPr>
        <p:txBody>
          <a:bodyPr wrap="square" lIns="0" tIns="0" rIns="0" bIns="0" rtlCol="0" anchor="ctr"/>
          <a:lstStyle/>
          <a:p>
            <a:pPr indent="0" marL="0">
              <a:buNone/>
            </a:pPr>
            <a:r>
              <a:rPr lang="en-US" sz="950" b="1" dirty="0">
                <a:solidFill>
                  <a:srgbClr val="173A5A"/>
                </a:solidFill>
                <a:latin typeface="Calibri" pitchFamily="34" charset="0"/>
                <a:ea typeface="Calibri" pitchFamily="34" charset="-122"/>
                <a:cs typeface="Calibri" pitchFamily="34" charset="-120"/>
              </a:rPr>
              <a:t>Execution evidence</a:t>
            </a:r>
            <a:endParaRPr lang="en-US" sz="950" dirty="0"/>
          </a:p>
        </p:txBody>
      </p:sp>
      <p:sp>
        <p:nvSpPr>
          <p:cNvPr id="22" name="Text 20"/>
          <p:cNvSpPr/>
          <p:nvPr/>
        </p:nvSpPr>
        <p:spPr>
          <a:xfrm>
            <a:off x="9043416" y="4151376"/>
            <a:ext cx="2395728" cy="603504"/>
          </a:xfrm>
          <a:prstGeom prst="rect">
            <a:avLst/>
          </a:prstGeom>
          <a:noFill/>
          <a:ln/>
        </p:spPr>
        <p:txBody>
          <a:bodyPr wrap="square" lIns="0" tIns="0" rIns="0" bIns="0" rtlCol="0" anchor="ctr"/>
          <a:lstStyle/>
          <a:p>
            <a:pPr indent="0" marL="0">
              <a:lnSpc>
                <a:spcPct val="100000"/>
              </a:lnSpc>
              <a:buNone/>
            </a:pPr>
            <a:r>
              <a:rPr lang="en-US" sz="950" dirty="0">
                <a:solidFill>
                  <a:srgbClr val="1E2340"/>
                </a:solidFill>
                <a:latin typeface="Calibri" pitchFamily="34" charset="0"/>
                <a:ea typeface="Calibri" pitchFamily="34" charset="-122"/>
                <a:cs typeface="Calibri" pitchFamily="34" charset="-120"/>
              </a:rPr>
              <a:t>Authorization · clearance · receipt</a:t>
            </a:r>
            <a:endParaRPr lang="en-US" sz="950" dirty="0"/>
          </a:p>
        </p:txBody>
      </p:sp>
      <p:sp>
        <p:nvSpPr>
          <p:cNvPr id="23" name="Shape 21"/>
          <p:cNvSpPr/>
          <p:nvPr/>
        </p:nvSpPr>
        <p:spPr>
          <a:xfrm>
            <a:off x="548640" y="4919472"/>
            <a:ext cx="2651760" cy="1051560"/>
          </a:xfrm>
          <a:prstGeom prst="roundRect">
            <a:avLst>
              <a:gd name="adj" fmla="val 4348"/>
            </a:avLst>
          </a:prstGeom>
          <a:solidFill>
            <a:srgbClr val="FFFFFF"/>
          </a:solidFill>
          <a:ln w="12700">
            <a:solidFill>
              <a:srgbClr val="D8DEE9"/>
            </a:solidFill>
            <a:prstDash val="solid"/>
          </a:ln>
        </p:spPr>
      </p:sp>
      <p:sp>
        <p:nvSpPr>
          <p:cNvPr id="24" name="Text 22"/>
          <p:cNvSpPr/>
          <p:nvPr/>
        </p:nvSpPr>
        <p:spPr>
          <a:xfrm>
            <a:off x="676656" y="5010912"/>
            <a:ext cx="2395728" cy="310896"/>
          </a:xfrm>
          <a:prstGeom prst="rect">
            <a:avLst/>
          </a:prstGeom>
          <a:noFill/>
          <a:ln/>
        </p:spPr>
        <p:txBody>
          <a:bodyPr wrap="square" lIns="0" tIns="0" rIns="0" bIns="0" rtlCol="0" anchor="ctr"/>
          <a:lstStyle/>
          <a:p>
            <a:pPr indent="0" marL="0">
              <a:buNone/>
            </a:pPr>
            <a:r>
              <a:rPr lang="en-US" sz="950" b="1" dirty="0">
                <a:solidFill>
                  <a:srgbClr val="173A5A"/>
                </a:solidFill>
                <a:latin typeface="Calibri" pitchFamily="34" charset="0"/>
                <a:ea typeface="Calibri" pitchFamily="34" charset="-122"/>
                <a:cs typeface="Calibri" pitchFamily="34" charset="-120"/>
              </a:rPr>
              <a:t>Observed outcome</a:t>
            </a:r>
            <a:endParaRPr lang="en-US" sz="950" dirty="0"/>
          </a:p>
        </p:txBody>
      </p:sp>
      <p:sp>
        <p:nvSpPr>
          <p:cNvPr id="25" name="Text 23"/>
          <p:cNvSpPr/>
          <p:nvPr/>
        </p:nvSpPr>
        <p:spPr>
          <a:xfrm>
            <a:off x="676656" y="5321808"/>
            <a:ext cx="2395728" cy="603504"/>
          </a:xfrm>
          <a:prstGeom prst="rect">
            <a:avLst/>
          </a:prstGeom>
          <a:noFill/>
          <a:ln/>
        </p:spPr>
        <p:txBody>
          <a:bodyPr wrap="square" lIns="0" tIns="0" rIns="0" bIns="0" rtlCol="0" anchor="ctr"/>
          <a:lstStyle/>
          <a:p>
            <a:pPr indent="0" marL="0">
              <a:lnSpc>
                <a:spcPct val="100000"/>
              </a:lnSpc>
              <a:buNone/>
            </a:pPr>
            <a:r>
              <a:rPr lang="en-US" sz="950" dirty="0">
                <a:solidFill>
                  <a:srgbClr val="1E2340"/>
                </a:solidFill>
                <a:latin typeface="Calibri" pitchFamily="34" charset="0"/>
                <a:ea typeface="Calibri" pitchFamily="34" charset="-122"/>
                <a:cs typeface="Calibri" pitchFamily="34" charset="-120"/>
              </a:rPr>
              <a:t>Latency improved; service healthy</a:t>
            </a:r>
            <a:endParaRPr lang="en-US" sz="950" dirty="0"/>
          </a:p>
        </p:txBody>
      </p:sp>
      <p:sp>
        <p:nvSpPr>
          <p:cNvPr id="26" name="Shape 24"/>
          <p:cNvSpPr/>
          <p:nvPr/>
        </p:nvSpPr>
        <p:spPr>
          <a:xfrm>
            <a:off x="3337560" y="4919472"/>
            <a:ext cx="2651760" cy="1051560"/>
          </a:xfrm>
          <a:prstGeom prst="roundRect">
            <a:avLst>
              <a:gd name="adj" fmla="val 4348"/>
            </a:avLst>
          </a:prstGeom>
          <a:solidFill>
            <a:srgbClr val="FFFFFF"/>
          </a:solidFill>
          <a:ln w="12700">
            <a:solidFill>
              <a:srgbClr val="D8DEE9"/>
            </a:solidFill>
            <a:prstDash val="solid"/>
          </a:ln>
        </p:spPr>
      </p:sp>
      <p:sp>
        <p:nvSpPr>
          <p:cNvPr id="27" name="Text 25"/>
          <p:cNvSpPr/>
          <p:nvPr/>
        </p:nvSpPr>
        <p:spPr>
          <a:xfrm>
            <a:off x="3465576" y="5010912"/>
            <a:ext cx="2395728" cy="310896"/>
          </a:xfrm>
          <a:prstGeom prst="rect">
            <a:avLst/>
          </a:prstGeom>
          <a:noFill/>
          <a:ln/>
        </p:spPr>
        <p:txBody>
          <a:bodyPr wrap="square" lIns="0" tIns="0" rIns="0" bIns="0" rtlCol="0" anchor="ctr"/>
          <a:lstStyle/>
          <a:p>
            <a:pPr indent="0" marL="0">
              <a:buNone/>
            </a:pPr>
            <a:r>
              <a:rPr lang="en-US" sz="950" b="1" dirty="0">
                <a:solidFill>
                  <a:srgbClr val="173A5A"/>
                </a:solidFill>
                <a:latin typeface="Calibri" pitchFamily="34" charset="0"/>
                <a:ea typeface="Calibri" pitchFamily="34" charset="-122"/>
                <a:cs typeface="Calibri" pitchFamily="34" charset="-120"/>
              </a:rPr>
              <a:t>Attributable cost</a:t>
            </a:r>
            <a:endParaRPr lang="en-US" sz="950" dirty="0"/>
          </a:p>
        </p:txBody>
      </p:sp>
      <p:sp>
        <p:nvSpPr>
          <p:cNvPr id="28" name="Text 26"/>
          <p:cNvSpPr/>
          <p:nvPr/>
        </p:nvSpPr>
        <p:spPr>
          <a:xfrm>
            <a:off x="3465576" y="5321808"/>
            <a:ext cx="2395728" cy="603504"/>
          </a:xfrm>
          <a:prstGeom prst="rect">
            <a:avLst/>
          </a:prstGeom>
          <a:noFill/>
          <a:ln/>
        </p:spPr>
        <p:txBody>
          <a:bodyPr wrap="square" lIns="0" tIns="0" rIns="0" bIns="0" rtlCol="0" anchor="ctr"/>
          <a:lstStyle/>
          <a:p>
            <a:pPr indent="0" marL="0">
              <a:lnSpc>
                <a:spcPct val="100000"/>
              </a:lnSpc>
              <a:buNone/>
            </a:pPr>
            <a:r>
              <a:rPr lang="en-US" sz="950" dirty="0">
                <a:solidFill>
                  <a:srgbClr val="1E2340"/>
                </a:solidFill>
                <a:latin typeface="Calibri" pitchFamily="34" charset="0"/>
                <a:ea typeface="Calibri" pitchFamily="34" charset="-122"/>
                <a:cs typeface="Calibri" pitchFamily="34" charset="-120"/>
              </a:rPr>
              <a:t>Additional infrastructure expense</a:t>
            </a:r>
            <a:endParaRPr lang="en-US" sz="950" dirty="0"/>
          </a:p>
        </p:txBody>
      </p:sp>
      <p:sp>
        <p:nvSpPr>
          <p:cNvPr id="29" name="Shape 27"/>
          <p:cNvSpPr/>
          <p:nvPr/>
        </p:nvSpPr>
        <p:spPr>
          <a:xfrm>
            <a:off x="6126480" y="4919472"/>
            <a:ext cx="2651760" cy="1051560"/>
          </a:xfrm>
          <a:prstGeom prst="roundRect">
            <a:avLst>
              <a:gd name="adj" fmla="val 4348"/>
            </a:avLst>
          </a:prstGeom>
          <a:solidFill>
            <a:srgbClr val="FFFFFF"/>
          </a:solidFill>
          <a:ln w="12700">
            <a:solidFill>
              <a:srgbClr val="D8DEE9"/>
            </a:solidFill>
            <a:prstDash val="solid"/>
          </a:ln>
        </p:spPr>
      </p:sp>
      <p:sp>
        <p:nvSpPr>
          <p:cNvPr id="30" name="Text 28"/>
          <p:cNvSpPr/>
          <p:nvPr/>
        </p:nvSpPr>
        <p:spPr>
          <a:xfrm>
            <a:off x="6254496" y="5010912"/>
            <a:ext cx="2395728" cy="310896"/>
          </a:xfrm>
          <a:prstGeom prst="rect">
            <a:avLst/>
          </a:prstGeom>
          <a:noFill/>
          <a:ln/>
        </p:spPr>
        <p:txBody>
          <a:bodyPr wrap="square" lIns="0" tIns="0" rIns="0" bIns="0" rtlCol="0" anchor="ctr"/>
          <a:lstStyle/>
          <a:p>
            <a:pPr indent="0" marL="0">
              <a:buNone/>
            </a:pPr>
            <a:r>
              <a:rPr lang="en-US" sz="950" b="1" dirty="0">
                <a:solidFill>
                  <a:srgbClr val="173A5A"/>
                </a:solidFill>
                <a:latin typeface="Calibri" pitchFamily="34" charset="0"/>
                <a:ea typeface="Calibri" pitchFamily="34" charset="-122"/>
                <a:cs typeface="Calibri" pitchFamily="34" charset="-120"/>
              </a:rPr>
              <a:t>Preserved constraints</a:t>
            </a:r>
            <a:endParaRPr lang="en-US" sz="950" dirty="0"/>
          </a:p>
        </p:txBody>
      </p:sp>
      <p:sp>
        <p:nvSpPr>
          <p:cNvPr id="31" name="Text 29"/>
          <p:cNvSpPr/>
          <p:nvPr/>
        </p:nvSpPr>
        <p:spPr>
          <a:xfrm>
            <a:off x="6254496" y="5321808"/>
            <a:ext cx="2395728" cy="603504"/>
          </a:xfrm>
          <a:prstGeom prst="rect">
            <a:avLst/>
          </a:prstGeom>
          <a:noFill/>
          <a:ln/>
        </p:spPr>
        <p:txBody>
          <a:bodyPr wrap="square" lIns="0" tIns="0" rIns="0" bIns="0" rtlCol="0" anchor="ctr"/>
          <a:lstStyle/>
          <a:p>
            <a:pPr indent="0" marL="0">
              <a:lnSpc>
                <a:spcPct val="100000"/>
              </a:lnSpc>
              <a:buNone/>
            </a:pPr>
            <a:r>
              <a:rPr lang="en-US" sz="950" dirty="0">
                <a:solidFill>
                  <a:srgbClr val="1E2340"/>
                </a:solidFill>
                <a:latin typeface="Calibri" pitchFamily="34" charset="0"/>
                <a:ea typeface="Calibri" pitchFamily="34" charset="-122"/>
                <a:cs typeface="Calibri" pitchFamily="34" charset="-120"/>
              </a:rPr>
              <a:t>No window / risk / availability violation</a:t>
            </a:r>
            <a:endParaRPr lang="en-US" sz="950" dirty="0"/>
          </a:p>
        </p:txBody>
      </p:sp>
      <p:sp>
        <p:nvSpPr>
          <p:cNvPr id="32" name="Shape 30"/>
          <p:cNvSpPr/>
          <p:nvPr/>
        </p:nvSpPr>
        <p:spPr>
          <a:xfrm>
            <a:off x="8915400" y="4919472"/>
            <a:ext cx="2651760" cy="1051560"/>
          </a:xfrm>
          <a:prstGeom prst="roundRect">
            <a:avLst>
              <a:gd name="adj" fmla="val 4348"/>
            </a:avLst>
          </a:prstGeom>
          <a:solidFill>
            <a:srgbClr val="FFFFFF"/>
          </a:solidFill>
          <a:ln w="12700">
            <a:solidFill>
              <a:srgbClr val="D8DEE9"/>
            </a:solidFill>
            <a:prstDash val="solid"/>
          </a:ln>
        </p:spPr>
      </p:sp>
      <p:sp>
        <p:nvSpPr>
          <p:cNvPr id="33" name="Text 31"/>
          <p:cNvSpPr/>
          <p:nvPr/>
        </p:nvSpPr>
        <p:spPr>
          <a:xfrm>
            <a:off x="9043416" y="5010912"/>
            <a:ext cx="2395728" cy="310896"/>
          </a:xfrm>
          <a:prstGeom prst="rect">
            <a:avLst/>
          </a:prstGeom>
          <a:noFill/>
          <a:ln/>
        </p:spPr>
        <p:txBody>
          <a:bodyPr wrap="square" lIns="0" tIns="0" rIns="0" bIns="0" rtlCol="0" anchor="ctr"/>
          <a:lstStyle/>
          <a:p>
            <a:pPr indent="0" marL="0">
              <a:buNone/>
            </a:pPr>
            <a:r>
              <a:rPr lang="en-US" sz="950" b="1" dirty="0">
                <a:solidFill>
                  <a:srgbClr val="173A5A"/>
                </a:solidFill>
                <a:latin typeface="Calibri" pitchFamily="34" charset="0"/>
                <a:ea typeface="Calibri" pitchFamily="34" charset="-122"/>
                <a:cs typeface="Calibri" pitchFamily="34" charset="-120"/>
              </a:rPr>
              <a:t>Governed-value question</a:t>
            </a:r>
            <a:endParaRPr lang="en-US" sz="950" dirty="0"/>
          </a:p>
        </p:txBody>
      </p:sp>
      <p:sp>
        <p:nvSpPr>
          <p:cNvPr id="34" name="Text 32"/>
          <p:cNvSpPr/>
          <p:nvPr/>
        </p:nvSpPr>
        <p:spPr>
          <a:xfrm>
            <a:off x="9043416" y="5321808"/>
            <a:ext cx="2395728" cy="603504"/>
          </a:xfrm>
          <a:prstGeom prst="rect">
            <a:avLst/>
          </a:prstGeom>
          <a:noFill/>
          <a:ln/>
        </p:spPr>
        <p:txBody>
          <a:bodyPr wrap="square" lIns="0" tIns="0" rIns="0" bIns="0" rtlCol="0" anchor="ctr"/>
          <a:lstStyle/>
          <a:p>
            <a:pPr indent="0" marL="0">
              <a:lnSpc>
                <a:spcPct val="100000"/>
              </a:lnSpc>
              <a:buNone/>
            </a:pPr>
            <a:r>
              <a:rPr lang="en-US" sz="950" dirty="0">
                <a:solidFill>
                  <a:srgbClr val="1E2340"/>
                </a:solidFill>
                <a:latin typeface="Calibri" pitchFamily="34" charset="0"/>
                <a:ea typeface="Calibri" pitchFamily="34" charset="-122"/>
                <a:cs typeface="Calibri" pitchFamily="34" charset="-120"/>
              </a:rPr>
              <a:t>Enough attributable value without unacceptable trade-offs?</a:t>
            </a:r>
            <a:endParaRPr lang="en-US" sz="950" dirty="0"/>
          </a:p>
        </p:txBody>
      </p:sp>
      <p:sp>
        <p:nvSpPr>
          <p:cNvPr id="35" name="Text 33"/>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Clearly under development. It reuses the governance evidence the pipelines already emit — it adds attribution, not a new gate.</a:t>
            </a:r>
            <a:endParaRPr lang="en-US" sz="850" dirty="0"/>
          </a:p>
        </p:txBody>
      </p:sp>
      <p:sp>
        <p:nvSpPr>
          <p:cNvPr id="37" name="Text 34"/>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49</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IX</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Pilot proposal</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One bounded technical pilot around UC-5 — no broad production autonomy</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PILOT PROPOSAL</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A bounded progression — earn autonomy step by step</a:t>
            </a:r>
            <a:endParaRPr lang="en-US" sz="2600" dirty="0"/>
          </a:p>
        </p:txBody>
      </p:sp>
      <p:sp>
        <p:nvSpPr>
          <p:cNvPr id="4" name="Shape 2"/>
          <p:cNvSpPr/>
          <p:nvPr/>
        </p:nvSpPr>
        <p:spPr>
          <a:xfrm>
            <a:off x="548640" y="1554480"/>
            <a:ext cx="2048256" cy="1417320"/>
          </a:xfrm>
          <a:prstGeom prst="roundRect">
            <a:avLst>
              <a:gd name="adj" fmla="val 3871"/>
            </a:avLst>
          </a:prstGeom>
          <a:solidFill>
            <a:srgbClr val="ECEAFB"/>
          </a:solidFill>
          <a:ln w="15875">
            <a:solidFill>
              <a:srgbClr val="5145C7"/>
            </a:solidFill>
            <a:prstDash val="solid"/>
          </a:ln>
          <a:effectLst>
            <a:outerShdw sx="100000" sy="100000" kx="0" ky="0" algn="bl" rotWithShape="0" blurRad="50800" dist="19050" dir="5400000">
              <a:srgbClr val="8A94A6">
                <a:alpha val="28000"/>
              </a:srgbClr>
            </a:outerShdw>
          </a:effectLst>
        </p:spPr>
      </p:sp>
      <p:sp>
        <p:nvSpPr>
          <p:cNvPr id="5" name="Shape 3"/>
          <p:cNvSpPr/>
          <p:nvPr/>
        </p:nvSpPr>
        <p:spPr>
          <a:xfrm>
            <a:off x="676656" y="1682496"/>
            <a:ext cx="402336" cy="402336"/>
          </a:xfrm>
          <a:prstGeom prst="ellipse">
            <a:avLst/>
          </a:prstGeom>
          <a:solidFill>
            <a:srgbClr val="5145C7"/>
          </a:solidFill>
          <a:ln w="12700">
            <a:solidFill>
              <a:srgbClr val="333333"/>
            </a:solidFill>
            <a:prstDash val="solid"/>
          </a:ln>
        </p:spPr>
      </p:sp>
      <p:sp>
        <p:nvSpPr>
          <p:cNvPr id="6" name="Text 4"/>
          <p:cNvSpPr/>
          <p:nvPr/>
        </p:nvSpPr>
        <p:spPr>
          <a:xfrm>
            <a:off x="676656" y="1682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658368" y="215798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2A2170"/>
                </a:solidFill>
                <a:latin typeface="Calibri" pitchFamily="34" charset="0"/>
                <a:ea typeface="Calibri" pitchFamily="34" charset="-122"/>
                <a:cs typeface="Calibri" pitchFamily="34" charset="-120"/>
              </a:rPr>
              <a:t>Technical discovery</a:t>
            </a:r>
            <a:endParaRPr lang="en-US" sz="1050" dirty="0"/>
          </a:p>
        </p:txBody>
      </p:sp>
      <p:sp>
        <p:nvSpPr>
          <p:cNvPr id="8" name="Shape 6"/>
          <p:cNvSpPr/>
          <p:nvPr/>
        </p:nvSpPr>
        <p:spPr>
          <a:xfrm>
            <a:off x="2596896" y="2267712"/>
            <a:ext cx="164592" cy="914"/>
          </a:xfrm>
          <a:prstGeom prst="line">
            <a:avLst/>
          </a:prstGeom>
          <a:noFill/>
          <a:ln w="19050">
            <a:solidFill>
              <a:srgbClr val="4B5563"/>
            </a:solidFill>
            <a:prstDash val="solid"/>
            <a:tailEnd type="triangle"/>
          </a:ln>
        </p:spPr>
      </p:sp>
      <p:sp>
        <p:nvSpPr>
          <p:cNvPr id="9" name="Shape 7"/>
          <p:cNvSpPr/>
          <p:nvPr/>
        </p:nvSpPr>
        <p:spPr>
          <a:xfrm>
            <a:off x="2761488" y="1554480"/>
            <a:ext cx="2048256" cy="1417320"/>
          </a:xfrm>
          <a:prstGeom prst="roundRect">
            <a:avLst>
              <a:gd name="adj" fmla="val 3871"/>
            </a:avLst>
          </a:prstGeom>
          <a:solidFill>
            <a:srgbClr val="ECEAFB"/>
          </a:solidFill>
          <a:ln w="15875">
            <a:solidFill>
              <a:srgbClr val="5145C7"/>
            </a:solidFill>
            <a:prstDash val="solid"/>
          </a:ln>
          <a:effectLst>
            <a:outerShdw sx="100000" sy="100000" kx="0" ky="0" algn="bl" rotWithShape="0" blurRad="50800" dist="19050" dir="5400000">
              <a:srgbClr val="8A94A6">
                <a:alpha val="28000"/>
              </a:srgbClr>
            </a:outerShdw>
          </a:effectLst>
        </p:spPr>
      </p:sp>
      <p:sp>
        <p:nvSpPr>
          <p:cNvPr id="10" name="Shape 8"/>
          <p:cNvSpPr/>
          <p:nvPr/>
        </p:nvSpPr>
        <p:spPr>
          <a:xfrm>
            <a:off x="2889504" y="1682496"/>
            <a:ext cx="402336" cy="402336"/>
          </a:xfrm>
          <a:prstGeom prst="ellipse">
            <a:avLst/>
          </a:prstGeom>
          <a:solidFill>
            <a:srgbClr val="5145C7"/>
          </a:solidFill>
          <a:ln w="12700">
            <a:solidFill>
              <a:srgbClr val="333333"/>
            </a:solidFill>
            <a:prstDash val="solid"/>
          </a:ln>
        </p:spPr>
      </p:sp>
      <p:sp>
        <p:nvSpPr>
          <p:cNvPr id="11" name="Text 9"/>
          <p:cNvSpPr/>
          <p:nvPr/>
        </p:nvSpPr>
        <p:spPr>
          <a:xfrm>
            <a:off x="2889504" y="1682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2871216" y="215798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2A2170"/>
                </a:solidFill>
                <a:latin typeface="Calibri" pitchFamily="34" charset="0"/>
                <a:ea typeface="Calibri" pitchFamily="34" charset="-122"/>
                <a:cs typeface="Calibri" pitchFamily="34" charset="-120"/>
              </a:rPr>
              <a:t>Data &amp; integration mapping</a:t>
            </a:r>
            <a:endParaRPr lang="en-US" sz="1050" dirty="0"/>
          </a:p>
        </p:txBody>
      </p:sp>
      <p:sp>
        <p:nvSpPr>
          <p:cNvPr id="13" name="Shape 11"/>
          <p:cNvSpPr/>
          <p:nvPr/>
        </p:nvSpPr>
        <p:spPr>
          <a:xfrm>
            <a:off x="4809744" y="2267712"/>
            <a:ext cx="164592" cy="914"/>
          </a:xfrm>
          <a:prstGeom prst="line">
            <a:avLst/>
          </a:prstGeom>
          <a:noFill/>
          <a:ln w="19050">
            <a:solidFill>
              <a:srgbClr val="4B5563"/>
            </a:solidFill>
            <a:prstDash val="solid"/>
            <a:tailEnd type="triangle"/>
          </a:ln>
        </p:spPr>
      </p:sp>
      <p:sp>
        <p:nvSpPr>
          <p:cNvPr id="14" name="Shape 12"/>
          <p:cNvSpPr/>
          <p:nvPr/>
        </p:nvSpPr>
        <p:spPr>
          <a:xfrm>
            <a:off x="4974336" y="1554480"/>
            <a:ext cx="2048256" cy="1417320"/>
          </a:xfrm>
          <a:prstGeom prst="roundRect">
            <a:avLst>
              <a:gd name="adj" fmla="val 3871"/>
            </a:avLst>
          </a:prstGeom>
          <a:solidFill>
            <a:srgbClr val="ECEAFB"/>
          </a:solidFill>
          <a:ln w="15875">
            <a:solidFill>
              <a:srgbClr val="5145C7"/>
            </a:solidFill>
            <a:prstDash val="solid"/>
          </a:ln>
          <a:effectLst>
            <a:outerShdw sx="100000" sy="100000" kx="0" ky="0" algn="bl" rotWithShape="0" blurRad="50800" dist="19050" dir="5400000">
              <a:srgbClr val="8A94A6">
                <a:alpha val="28000"/>
              </a:srgbClr>
            </a:outerShdw>
          </a:effectLst>
        </p:spPr>
      </p:sp>
      <p:sp>
        <p:nvSpPr>
          <p:cNvPr id="15" name="Shape 13"/>
          <p:cNvSpPr/>
          <p:nvPr/>
        </p:nvSpPr>
        <p:spPr>
          <a:xfrm>
            <a:off x="5102352" y="1682496"/>
            <a:ext cx="402336" cy="402336"/>
          </a:xfrm>
          <a:prstGeom prst="ellipse">
            <a:avLst/>
          </a:prstGeom>
          <a:solidFill>
            <a:srgbClr val="5145C7"/>
          </a:solidFill>
          <a:ln w="12700">
            <a:solidFill>
              <a:srgbClr val="333333"/>
            </a:solidFill>
            <a:prstDash val="solid"/>
          </a:ln>
        </p:spPr>
      </p:sp>
      <p:sp>
        <p:nvSpPr>
          <p:cNvPr id="16" name="Text 14"/>
          <p:cNvSpPr/>
          <p:nvPr/>
        </p:nvSpPr>
        <p:spPr>
          <a:xfrm>
            <a:off x="5102352" y="1682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5084064" y="215798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2A2170"/>
                </a:solidFill>
                <a:latin typeface="Calibri" pitchFamily="34" charset="0"/>
                <a:ea typeface="Calibri" pitchFamily="34" charset="-122"/>
                <a:cs typeface="Calibri" pitchFamily="34" charset="-120"/>
              </a:rPr>
              <a:t>Offline / historical replay</a:t>
            </a:r>
            <a:endParaRPr lang="en-US" sz="1050" dirty="0"/>
          </a:p>
        </p:txBody>
      </p:sp>
      <p:sp>
        <p:nvSpPr>
          <p:cNvPr id="18" name="Shape 16"/>
          <p:cNvSpPr/>
          <p:nvPr/>
        </p:nvSpPr>
        <p:spPr>
          <a:xfrm>
            <a:off x="7022592" y="2267712"/>
            <a:ext cx="164592" cy="914"/>
          </a:xfrm>
          <a:prstGeom prst="line">
            <a:avLst/>
          </a:prstGeom>
          <a:noFill/>
          <a:ln w="19050">
            <a:solidFill>
              <a:srgbClr val="4B5563"/>
            </a:solidFill>
            <a:prstDash val="solid"/>
            <a:tailEnd type="triangle"/>
          </a:ln>
        </p:spPr>
      </p:sp>
      <p:sp>
        <p:nvSpPr>
          <p:cNvPr id="19" name="Shape 17"/>
          <p:cNvSpPr/>
          <p:nvPr/>
        </p:nvSpPr>
        <p:spPr>
          <a:xfrm>
            <a:off x="7187184" y="1554480"/>
            <a:ext cx="2048256" cy="1417320"/>
          </a:xfrm>
          <a:prstGeom prst="roundRect">
            <a:avLst>
              <a:gd name="adj" fmla="val 3871"/>
            </a:avLst>
          </a:prstGeom>
          <a:solidFill>
            <a:srgbClr val="ECEAFB"/>
          </a:solidFill>
          <a:ln w="15875">
            <a:solidFill>
              <a:srgbClr val="5145C7"/>
            </a:solidFill>
            <a:prstDash val="solid"/>
          </a:ln>
          <a:effectLst>
            <a:outerShdw sx="100000" sy="100000" kx="0" ky="0" algn="bl" rotWithShape="0" blurRad="50800" dist="19050" dir="5400000">
              <a:srgbClr val="8A94A6">
                <a:alpha val="28000"/>
              </a:srgbClr>
            </a:outerShdw>
          </a:effectLst>
        </p:spPr>
      </p:sp>
      <p:sp>
        <p:nvSpPr>
          <p:cNvPr id="20" name="Shape 18"/>
          <p:cNvSpPr/>
          <p:nvPr/>
        </p:nvSpPr>
        <p:spPr>
          <a:xfrm>
            <a:off x="7315200" y="1682496"/>
            <a:ext cx="402336" cy="402336"/>
          </a:xfrm>
          <a:prstGeom prst="ellipse">
            <a:avLst/>
          </a:prstGeom>
          <a:solidFill>
            <a:srgbClr val="5145C7"/>
          </a:solidFill>
          <a:ln w="12700">
            <a:solidFill>
              <a:srgbClr val="333333"/>
            </a:solidFill>
            <a:prstDash val="solid"/>
          </a:ln>
        </p:spPr>
      </p:sp>
      <p:sp>
        <p:nvSpPr>
          <p:cNvPr id="21" name="Text 19"/>
          <p:cNvSpPr/>
          <p:nvPr/>
        </p:nvSpPr>
        <p:spPr>
          <a:xfrm>
            <a:off x="7315200" y="1682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296912" y="215798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2A2170"/>
                </a:solidFill>
                <a:latin typeface="Calibri" pitchFamily="34" charset="0"/>
                <a:ea typeface="Calibri" pitchFamily="34" charset="-122"/>
                <a:cs typeface="Calibri" pitchFamily="34" charset="-120"/>
              </a:rPr>
              <a:t>Dry-run / shadow evaluation</a:t>
            </a:r>
            <a:endParaRPr lang="en-US" sz="1050" dirty="0"/>
          </a:p>
        </p:txBody>
      </p:sp>
      <p:sp>
        <p:nvSpPr>
          <p:cNvPr id="23" name="Shape 21"/>
          <p:cNvSpPr/>
          <p:nvPr/>
        </p:nvSpPr>
        <p:spPr>
          <a:xfrm>
            <a:off x="9235440" y="2267712"/>
            <a:ext cx="164592" cy="914"/>
          </a:xfrm>
          <a:prstGeom prst="line">
            <a:avLst/>
          </a:prstGeom>
          <a:noFill/>
          <a:ln w="19050">
            <a:solidFill>
              <a:srgbClr val="4B5563"/>
            </a:solidFill>
            <a:prstDash val="solid"/>
            <a:tailEnd type="triangle"/>
          </a:ln>
        </p:spPr>
      </p:sp>
      <p:sp>
        <p:nvSpPr>
          <p:cNvPr id="24" name="Shape 22"/>
          <p:cNvSpPr/>
          <p:nvPr/>
        </p:nvSpPr>
        <p:spPr>
          <a:xfrm>
            <a:off x="9400032" y="1554480"/>
            <a:ext cx="2048256" cy="1417320"/>
          </a:xfrm>
          <a:prstGeom prst="roundRect">
            <a:avLst>
              <a:gd name="adj" fmla="val 3871"/>
            </a:avLst>
          </a:prstGeom>
          <a:solidFill>
            <a:srgbClr val="ECEAFB"/>
          </a:solidFill>
          <a:ln w="15875">
            <a:solidFill>
              <a:srgbClr val="5145C7"/>
            </a:solidFill>
            <a:prstDash val="solid"/>
          </a:ln>
          <a:effectLst>
            <a:outerShdw sx="100000" sy="100000" kx="0" ky="0" algn="bl" rotWithShape="0" blurRad="50800" dist="19050" dir="5400000">
              <a:srgbClr val="8A94A6">
                <a:alpha val="28000"/>
              </a:srgbClr>
            </a:outerShdw>
          </a:effectLst>
        </p:spPr>
      </p:sp>
      <p:sp>
        <p:nvSpPr>
          <p:cNvPr id="25" name="Shape 23"/>
          <p:cNvSpPr/>
          <p:nvPr/>
        </p:nvSpPr>
        <p:spPr>
          <a:xfrm>
            <a:off x="9528048" y="1682496"/>
            <a:ext cx="402336" cy="402336"/>
          </a:xfrm>
          <a:prstGeom prst="ellipse">
            <a:avLst/>
          </a:prstGeom>
          <a:solidFill>
            <a:srgbClr val="5145C7"/>
          </a:solidFill>
          <a:ln w="12700">
            <a:solidFill>
              <a:srgbClr val="333333"/>
            </a:solidFill>
            <a:prstDash val="solid"/>
          </a:ln>
        </p:spPr>
      </p:sp>
      <p:sp>
        <p:nvSpPr>
          <p:cNvPr id="26" name="Text 24"/>
          <p:cNvSpPr/>
          <p:nvPr/>
        </p:nvSpPr>
        <p:spPr>
          <a:xfrm>
            <a:off x="9528048" y="1682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9509760" y="215798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2A2170"/>
                </a:solidFill>
                <a:latin typeface="Calibri" pitchFamily="34" charset="0"/>
                <a:ea typeface="Calibri" pitchFamily="34" charset="-122"/>
                <a:cs typeface="Calibri" pitchFamily="34" charset="-120"/>
              </a:rPr>
              <a:t>HOLD / BLOCK / ESCALATE testing</a:t>
            </a:r>
            <a:endParaRPr lang="en-US" sz="1050" dirty="0"/>
          </a:p>
        </p:txBody>
      </p:sp>
      <p:sp>
        <p:nvSpPr>
          <p:cNvPr id="28" name="Shape 26"/>
          <p:cNvSpPr/>
          <p:nvPr/>
        </p:nvSpPr>
        <p:spPr>
          <a:xfrm>
            <a:off x="548640" y="3291840"/>
            <a:ext cx="2048256" cy="1417320"/>
          </a:xfrm>
          <a:prstGeom prst="roundRect">
            <a:avLst>
              <a:gd name="adj" fmla="val 3871"/>
            </a:avLst>
          </a:prstGeom>
          <a:solidFill>
            <a:srgbClr val="E4EFF7"/>
          </a:solidFill>
          <a:ln w="15875">
            <a:solidFill>
              <a:srgbClr val="2B6CB0"/>
            </a:solidFill>
            <a:prstDash val="solid"/>
          </a:ln>
          <a:effectLst>
            <a:outerShdw sx="100000" sy="100000" kx="0" ky="0" algn="bl" rotWithShape="0" blurRad="50800" dist="19050" dir="5400000">
              <a:srgbClr val="8A94A6">
                <a:alpha val="28000"/>
              </a:srgbClr>
            </a:outerShdw>
          </a:effectLst>
        </p:spPr>
      </p:sp>
      <p:sp>
        <p:nvSpPr>
          <p:cNvPr id="29" name="Shape 27"/>
          <p:cNvSpPr/>
          <p:nvPr/>
        </p:nvSpPr>
        <p:spPr>
          <a:xfrm>
            <a:off x="676656" y="3419856"/>
            <a:ext cx="402336" cy="402336"/>
          </a:xfrm>
          <a:prstGeom prst="ellipse">
            <a:avLst/>
          </a:prstGeom>
          <a:solidFill>
            <a:srgbClr val="2B6CB0"/>
          </a:solidFill>
          <a:ln w="12700">
            <a:solidFill>
              <a:srgbClr val="333333"/>
            </a:solidFill>
            <a:prstDash val="solid"/>
          </a:ln>
        </p:spPr>
      </p:sp>
      <p:sp>
        <p:nvSpPr>
          <p:cNvPr id="30" name="Text 28"/>
          <p:cNvSpPr/>
          <p:nvPr/>
        </p:nvSpPr>
        <p:spPr>
          <a:xfrm>
            <a:off x="676656" y="3419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9"/>
          <p:cNvSpPr/>
          <p:nvPr/>
        </p:nvSpPr>
        <p:spPr>
          <a:xfrm>
            <a:off x="658368" y="389534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173A5A"/>
                </a:solidFill>
                <a:latin typeface="Calibri" pitchFamily="34" charset="0"/>
                <a:ea typeface="Calibri" pitchFamily="34" charset="-122"/>
                <a:cs typeface="Calibri" pitchFamily="34" charset="-120"/>
              </a:rPr>
              <a:t>Limited controlled execution</a:t>
            </a:r>
            <a:endParaRPr lang="en-US" sz="1050" dirty="0"/>
          </a:p>
        </p:txBody>
      </p:sp>
      <p:sp>
        <p:nvSpPr>
          <p:cNvPr id="32" name="Shape 30"/>
          <p:cNvSpPr/>
          <p:nvPr/>
        </p:nvSpPr>
        <p:spPr>
          <a:xfrm>
            <a:off x="2596896" y="4005072"/>
            <a:ext cx="164592" cy="914"/>
          </a:xfrm>
          <a:prstGeom prst="line">
            <a:avLst/>
          </a:prstGeom>
          <a:noFill/>
          <a:ln w="19050">
            <a:solidFill>
              <a:srgbClr val="4B5563"/>
            </a:solidFill>
            <a:prstDash val="solid"/>
            <a:tailEnd type="triangle"/>
          </a:ln>
        </p:spPr>
      </p:sp>
      <p:sp>
        <p:nvSpPr>
          <p:cNvPr id="33" name="Shape 31"/>
          <p:cNvSpPr/>
          <p:nvPr/>
        </p:nvSpPr>
        <p:spPr>
          <a:xfrm>
            <a:off x="2761488" y="3291840"/>
            <a:ext cx="2048256" cy="1417320"/>
          </a:xfrm>
          <a:prstGeom prst="roundRect">
            <a:avLst>
              <a:gd name="adj" fmla="val 3871"/>
            </a:avLst>
          </a:prstGeom>
          <a:solidFill>
            <a:srgbClr val="E4EFF7"/>
          </a:solidFill>
          <a:ln w="15875">
            <a:solidFill>
              <a:srgbClr val="2B6CB0"/>
            </a:solidFill>
            <a:prstDash val="solid"/>
          </a:ln>
          <a:effectLst>
            <a:outerShdw sx="100000" sy="100000" kx="0" ky="0" algn="bl" rotWithShape="0" blurRad="50800" dist="19050" dir="5400000">
              <a:srgbClr val="8A94A6">
                <a:alpha val="28000"/>
              </a:srgbClr>
            </a:outerShdw>
          </a:effectLst>
        </p:spPr>
      </p:sp>
      <p:sp>
        <p:nvSpPr>
          <p:cNvPr id="34" name="Shape 32"/>
          <p:cNvSpPr/>
          <p:nvPr/>
        </p:nvSpPr>
        <p:spPr>
          <a:xfrm>
            <a:off x="2889504" y="3419856"/>
            <a:ext cx="402336" cy="402336"/>
          </a:xfrm>
          <a:prstGeom prst="ellipse">
            <a:avLst/>
          </a:prstGeom>
          <a:solidFill>
            <a:srgbClr val="2B6CB0"/>
          </a:solidFill>
          <a:ln w="12700">
            <a:solidFill>
              <a:srgbClr val="333333"/>
            </a:solidFill>
            <a:prstDash val="solid"/>
          </a:ln>
        </p:spPr>
      </p:sp>
      <p:sp>
        <p:nvSpPr>
          <p:cNvPr id="35" name="Text 33"/>
          <p:cNvSpPr/>
          <p:nvPr/>
        </p:nvSpPr>
        <p:spPr>
          <a:xfrm>
            <a:off x="2889504" y="3419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6" name="Text 34"/>
          <p:cNvSpPr/>
          <p:nvPr/>
        </p:nvSpPr>
        <p:spPr>
          <a:xfrm>
            <a:off x="2871216" y="389534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173A5A"/>
                </a:solidFill>
                <a:latin typeface="Calibri" pitchFamily="34" charset="0"/>
                <a:ea typeface="Calibri" pitchFamily="34" charset="-122"/>
                <a:cs typeface="Calibri" pitchFamily="34" charset="-120"/>
              </a:rPr>
              <a:t>Execution-receipt verification</a:t>
            </a:r>
            <a:endParaRPr lang="en-US" sz="1050" dirty="0"/>
          </a:p>
        </p:txBody>
      </p:sp>
      <p:sp>
        <p:nvSpPr>
          <p:cNvPr id="37" name="Shape 35"/>
          <p:cNvSpPr/>
          <p:nvPr/>
        </p:nvSpPr>
        <p:spPr>
          <a:xfrm>
            <a:off x="4809744" y="4005072"/>
            <a:ext cx="164592" cy="914"/>
          </a:xfrm>
          <a:prstGeom prst="line">
            <a:avLst/>
          </a:prstGeom>
          <a:noFill/>
          <a:ln w="19050">
            <a:solidFill>
              <a:srgbClr val="4B5563"/>
            </a:solidFill>
            <a:prstDash val="solid"/>
            <a:tailEnd type="triangle"/>
          </a:ln>
        </p:spPr>
      </p:sp>
      <p:sp>
        <p:nvSpPr>
          <p:cNvPr id="38" name="Shape 36"/>
          <p:cNvSpPr/>
          <p:nvPr/>
        </p:nvSpPr>
        <p:spPr>
          <a:xfrm>
            <a:off x="4974336" y="3291840"/>
            <a:ext cx="2048256" cy="1417320"/>
          </a:xfrm>
          <a:prstGeom prst="roundRect">
            <a:avLst>
              <a:gd name="adj" fmla="val 3871"/>
            </a:avLst>
          </a:prstGeom>
          <a:solidFill>
            <a:srgbClr val="E4EFF7"/>
          </a:solidFill>
          <a:ln w="15875">
            <a:solidFill>
              <a:srgbClr val="2B6CB0"/>
            </a:solidFill>
            <a:prstDash val="solid"/>
          </a:ln>
          <a:effectLst>
            <a:outerShdw sx="100000" sy="100000" kx="0" ky="0" algn="bl" rotWithShape="0" blurRad="50800" dist="19050" dir="5400000">
              <a:srgbClr val="8A94A6">
                <a:alpha val="28000"/>
              </a:srgbClr>
            </a:outerShdw>
          </a:effectLst>
        </p:spPr>
      </p:sp>
      <p:sp>
        <p:nvSpPr>
          <p:cNvPr id="39" name="Shape 37"/>
          <p:cNvSpPr/>
          <p:nvPr/>
        </p:nvSpPr>
        <p:spPr>
          <a:xfrm>
            <a:off x="5102352" y="3419856"/>
            <a:ext cx="402336" cy="402336"/>
          </a:xfrm>
          <a:prstGeom prst="ellipse">
            <a:avLst/>
          </a:prstGeom>
          <a:solidFill>
            <a:srgbClr val="2B6CB0"/>
          </a:solidFill>
          <a:ln w="12700">
            <a:solidFill>
              <a:srgbClr val="333333"/>
            </a:solidFill>
            <a:prstDash val="solid"/>
          </a:ln>
        </p:spPr>
      </p:sp>
      <p:sp>
        <p:nvSpPr>
          <p:cNvPr id="40" name="Text 38"/>
          <p:cNvSpPr/>
          <p:nvPr/>
        </p:nvSpPr>
        <p:spPr>
          <a:xfrm>
            <a:off x="5102352" y="3419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1" name="Text 39"/>
          <p:cNvSpPr/>
          <p:nvPr/>
        </p:nvSpPr>
        <p:spPr>
          <a:xfrm>
            <a:off x="5084064" y="389534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173A5A"/>
                </a:solidFill>
                <a:latin typeface="Calibri" pitchFamily="34" charset="0"/>
                <a:ea typeface="Calibri" pitchFamily="34" charset="-122"/>
                <a:cs typeface="Calibri" pitchFamily="34" charset="-120"/>
              </a:rPr>
              <a:t>Observed-effect reconciliation</a:t>
            </a:r>
            <a:endParaRPr lang="en-US" sz="1050" dirty="0"/>
          </a:p>
        </p:txBody>
      </p:sp>
      <p:sp>
        <p:nvSpPr>
          <p:cNvPr id="42" name="Shape 40"/>
          <p:cNvSpPr/>
          <p:nvPr/>
        </p:nvSpPr>
        <p:spPr>
          <a:xfrm>
            <a:off x="7022592" y="4005072"/>
            <a:ext cx="164592" cy="914"/>
          </a:xfrm>
          <a:prstGeom prst="line">
            <a:avLst/>
          </a:prstGeom>
          <a:noFill/>
          <a:ln w="19050">
            <a:solidFill>
              <a:srgbClr val="4B5563"/>
            </a:solidFill>
            <a:prstDash val="solid"/>
            <a:tailEnd type="triangle"/>
          </a:ln>
        </p:spPr>
      </p:sp>
      <p:sp>
        <p:nvSpPr>
          <p:cNvPr id="43" name="Shape 41"/>
          <p:cNvSpPr/>
          <p:nvPr/>
        </p:nvSpPr>
        <p:spPr>
          <a:xfrm>
            <a:off x="7187184" y="3291840"/>
            <a:ext cx="2048256" cy="1417320"/>
          </a:xfrm>
          <a:prstGeom prst="roundRect">
            <a:avLst>
              <a:gd name="adj" fmla="val 3871"/>
            </a:avLst>
          </a:prstGeom>
          <a:solidFill>
            <a:srgbClr val="E4EFF7"/>
          </a:solidFill>
          <a:ln w="15875">
            <a:solidFill>
              <a:srgbClr val="2B6CB0"/>
            </a:solidFill>
            <a:prstDash val="solid"/>
          </a:ln>
          <a:effectLst>
            <a:outerShdw sx="100000" sy="100000" kx="0" ky="0" algn="bl" rotWithShape="0" blurRad="50800" dist="19050" dir="5400000">
              <a:srgbClr val="8A94A6">
                <a:alpha val="28000"/>
              </a:srgbClr>
            </a:outerShdw>
          </a:effectLst>
        </p:spPr>
      </p:sp>
      <p:sp>
        <p:nvSpPr>
          <p:cNvPr id="44" name="Shape 42"/>
          <p:cNvSpPr/>
          <p:nvPr/>
        </p:nvSpPr>
        <p:spPr>
          <a:xfrm>
            <a:off x="7315200" y="3419856"/>
            <a:ext cx="402336" cy="402336"/>
          </a:xfrm>
          <a:prstGeom prst="ellipse">
            <a:avLst/>
          </a:prstGeom>
          <a:solidFill>
            <a:srgbClr val="2B6CB0"/>
          </a:solidFill>
          <a:ln w="12700">
            <a:solidFill>
              <a:srgbClr val="333333"/>
            </a:solidFill>
            <a:prstDash val="solid"/>
          </a:ln>
        </p:spPr>
      </p:sp>
      <p:sp>
        <p:nvSpPr>
          <p:cNvPr id="45" name="Text 43"/>
          <p:cNvSpPr/>
          <p:nvPr/>
        </p:nvSpPr>
        <p:spPr>
          <a:xfrm>
            <a:off x="7315200" y="3419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6" name="Text 44"/>
          <p:cNvSpPr/>
          <p:nvPr/>
        </p:nvSpPr>
        <p:spPr>
          <a:xfrm>
            <a:off x="7296912" y="389534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173A5A"/>
                </a:solidFill>
                <a:latin typeface="Calibri" pitchFamily="34" charset="0"/>
                <a:ea typeface="Calibri" pitchFamily="34" charset="-122"/>
                <a:cs typeface="Calibri" pitchFamily="34" charset="-120"/>
              </a:rPr>
              <a:t>Pilot evaluation</a:t>
            </a:r>
            <a:endParaRPr lang="en-US" sz="1050" dirty="0"/>
          </a:p>
        </p:txBody>
      </p:sp>
      <p:sp>
        <p:nvSpPr>
          <p:cNvPr id="47" name="Shape 45"/>
          <p:cNvSpPr/>
          <p:nvPr/>
        </p:nvSpPr>
        <p:spPr>
          <a:xfrm>
            <a:off x="9235440" y="4005072"/>
            <a:ext cx="164592" cy="914"/>
          </a:xfrm>
          <a:prstGeom prst="line">
            <a:avLst/>
          </a:prstGeom>
          <a:noFill/>
          <a:ln w="19050">
            <a:solidFill>
              <a:srgbClr val="4B5563"/>
            </a:solidFill>
            <a:prstDash val="solid"/>
            <a:tailEnd type="triangle"/>
          </a:ln>
        </p:spPr>
      </p:sp>
      <p:sp>
        <p:nvSpPr>
          <p:cNvPr id="48" name="Shape 46"/>
          <p:cNvSpPr/>
          <p:nvPr/>
        </p:nvSpPr>
        <p:spPr>
          <a:xfrm>
            <a:off x="9400032" y="3291840"/>
            <a:ext cx="2048256" cy="1417320"/>
          </a:xfrm>
          <a:prstGeom prst="roundRect">
            <a:avLst>
              <a:gd name="adj" fmla="val 3871"/>
            </a:avLst>
          </a:prstGeom>
          <a:solidFill>
            <a:srgbClr val="E4EFF7"/>
          </a:solidFill>
          <a:ln w="15875">
            <a:solidFill>
              <a:srgbClr val="2B6CB0"/>
            </a:solidFill>
            <a:prstDash val="solid"/>
          </a:ln>
          <a:effectLst>
            <a:outerShdw sx="100000" sy="100000" kx="0" ky="0" algn="bl" rotWithShape="0" blurRad="50800" dist="19050" dir="5400000">
              <a:srgbClr val="8A94A6">
                <a:alpha val="28000"/>
              </a:srgbClr>
            </a:outerShdw>
          </a:effectLst>
        </p:spPr>
      </p:sp>
      <p:sp>
        <p:nvSpPr>
          <p:cNvPr id="49" name="Shape 47"/>
          <p:cNvSpPr/>
          <p:nvPr/>
        </p:nvSpPr>
        <p:spPr>
          <a:xfrm>
            <a:off x="9528048" y="3419856"/>
            <a:ext cx="402336" cy="402336"/>
          </a:xfrm>
          <a:prstGeom prst="ellipse">
            <a:avLst/>
          </a:prstGeom>
          <a:solidFill>
            <a:srgbClr val="2B6CB0"/>
          </a:solidFill>
          <a:ln w="12700">
            <a:solidFill>
              <a:srgbClr val="333333"/>
            </a:solidFill>
            <a:prstDash val="solid"/>
          </a:ln>
        </p:spPr>
      </p:sp>
      <p:sp>
        <p:nvSpPr>
          <p:cNvPr id="50" name="Text 48"/>
          <p:cNvSpPr/>
          <p:nvPr/>
        </p:nvSpPr>
        <p:spPr>
          <a:xfrm>
            <a:off x="9528048" y="3419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51" name="Text 49"/>
          <p:cNvSpPr/>
          <p:nvPr/>
        </p:nvSpPr>
        <p:spPr>
          <a:xfrm>
            <a:off x="9509760" y="389534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173A5A"/>
                </a:solidFill>
                <a:latin typeface="Calibri" pitchFamily="34" charset="0"/>
                <a:ea typeface="Calibri" pitchFamily="34" charset="-122"/>
                <a:cs typeface="Calibri" pitchFamily="34" charset="-120"/>
              </a:rPr>
              <a:t>Jointly agreed next phase</a:t>
            </a:r>
            <a:endParaRPr lang="en-US" sz="1050" dirty="0"/>
          </a:p>
        </p:txBody>
      </p:sp>
      <p:sp>
        <p:nvSpPr>
          <p:cNvPr id="52" name="Shape 50"/>
          <p:cNvSpPr/>
          <p:nvPr/>
        </p:nvSpPr>
        <p:spPr>
          <a:xfrm flipH="1">
            <a:off x="1572768" y="2971800"/>
            <a:ext cx="8851392" cy="320040"/>
          </a:xfrm>
          <a:prstGeom prst="line">
            <a:avLst/>
          </a:prstGeom>
          <a:noFill/>
          <a:ln w="15875">
            <a:solidFill>
              <a:srgbClr val="4B5563"/>
            </a:solidFill>
            <a:prstDash val="dash"/>
            <a:tailEnd type="triangle"/>
          </a:ln>
        </p:spPr>
      </p:sp>
      <p:sp>
        <p:nvSpPr>
          <p:cNvPr id="53" name="Text 51"/>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Live controlled execution is not enabled until dry-run, exception-path and receipt checks pass. No broad production autonomy at pilot start.</a:t>
            </a:r>
            <a:endParaRPr lang="en-US" sz="850" dirty="0"/>
          </a:p>
        </p:txBody>
      </p:sp>
      <p:sp>
        <p:nvSpPr>
          <p:cNvPr id="55" name="Text 52"/>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51</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PILOT PROPOSAL</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Boundary and measurements</a:t>
            </a:r>
            <a:endParaRPr lang="en-US" sz="2600" dirty="0"/>
          </a:p>
        </p:txBody>
      </p:sp>
      <p:sp>
        <p:nvSpPr>
          <p:cNvPr id="4" name="Shape 2"/>
          <p:cNvSpPr/>
          <p:nvPr/>
        </p:nvSpPr>
        <p:spPr>
          <a:xfrm>
            <a:off x="548640" y="1371600"/>
            <a:ext cx="5486400" cy="4663440"/>
          </a:xfrm>
          <a:prstGeom prst="roundRect">
            <a:avLst>
              <a:gd name="adj" fmla="val 1176"/>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713232" y="1481328"/>
            <a:ext cx="5157216" cy="310896"/>
          </a:xfrm>
          <a:prstGeom prst="rect">
            <a:avLst/>
          </a:prstGeom>
          <a:noFill/>
          <a:ln/>
        </p:spPr>
        <p:txBody>
          <a:bodyPr wrap="square" lIns="0" tIns="0" rIns="0" bIns="0" rtlCol="0" anchor="ctr"/>
          <a:lstStyle/>
          <a:p>
            <a:pPr algn="l" indent="0" marL="0">
              <a:buNone/>
            </a:pPr>
            <a:r>
              <a:rPr lang="en-US" sz="1250" b="1" dirty="0">
                <a:solidFill>
                  <a:srgbClr val="2A2170"/>
                </a:solidFill>
                <a:latin typeface="Calibri" pitchFamily="34" charset="0"/>
                <a:ea typeface="Calibri" pitchFamily="34" charset="-122"/>
                <a:cs typeface="Calibri" pitchFamily="34" charset="-120"/>
              </a:rPr>
              <a:t>Possible pilot boundary</a:t>
            </a:r>
            <a:endParaRPr lang="en-US" sz="1250" dirty="0"/>
          </a:p>
        </p:txBody>
      </p:sp>
      <p:sp>
        <p:nvSpPr>
          <p:cNvPr id="6" name="Text 4"/>
          <p:cNvSpPr/>
          <p:nvPr/>
        </p:nvSpPr>
        <p:spPr>
          <a:xfrm>
            <a:off x="713232" y="1828800"/>
            <a:ext cx="5157216" cy="4096512"/>
          </a:xfrm>
          <a:prstGeom prst="rect">
            <a:avLst/>
          </a:prstGeom>
          <a:noFill/>
          <a:ln/>
        </p:spPr>
        <p:txBody>
          <a:bodyPr wrap="square" lIns="0" tIns="0" rIns="0" bIns="0" rtlCol="0" anchor="t"/>
          <a:lstStyle/>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One controlled scaling workflow (UC-5)</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A limited set of noncritical or carefully selected CIs / clusters</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Restricted action types</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Explicit authority and cost limits</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Defined rollback requirements</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No broad production autonomy at pilot start</a:t>
            </a:r>
            <a:endParaRPr lang="en-US" sz="1150" dirty="0"/>
          </a:p>
          <a:p>
            <a:pPr algn="l" indent="0" marL="0">
              <a:lnSpc>
                <a:spcPct val="102000"/>
              </a:lnSpc>
              <a:buNone/>
            </a:pP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The pilot proves the authorization → clearance → execution → reconciliation chain on a small, reversible footprint before any scope increase.</a:t>
            </a:r>
            <a:endParaRPr lang="en-US" sz="1150" dirty="0"/>
          </a:p>
        </p:txBody>
      </p:sp>
      <p:sp>
        <p:nvSpPr>
          <p:cNvPr id="7" name="Shape 5"/>
          <p:cNvSpPr/>
          <p:nvPr/>
        </p:nvSpPr>
        <p:spPr>
          <a:xfrm>
            <a:off x="6172200" y="1371600"/>
            <a:ext cx="5486400" cy="4663440"/>
          </a:xfrm>
          <a:prstGeom prst="roundRect">
            <a:avLst>
              <a:gd name="adj" fmla="val 1176"/>
            </a:avLst>
          </a:prstGeom>
          <a:solidFill>
            <a:srgbClr val="FFFFFF"/>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8" name="Text 6"/>
          <p:cNvSpPr/>
          <p:nvPr/>
        </p:nvSpPr>
        <p:spPr>
          <a:xfrm>
            <a:off x="6336792" y="1481328"/>
            <a:ext cx="5157216" cy="310896"/>
          </a:xfrm>
          <a:prstGeom prst="rect">
            <a:avLst/>
          </a:prstGeom>
          <a:noFill/>
          <a:ln/>
        </p:spPr>
        <p:txBody>
          <a:bodyPr wrap="square" lIns="0" tIns="0" rIns="0" bIns="0" rtlCol="0" anchor="ctr"/>
          <a:lstStyle/>
          <a:p>
            <a:pPr algn="l" indent="0" marL="0">
              <a:buNone/>
            </a:pPr>
            <a:r>
              <a:rPr lang="en-US" sz="1250" b="1" dirty="0">
                <a:solidFill>
                  <a:srgbClr val="173A5A"/>
                </a:solidFill>
                <a:latin typeface="Calibri" pitchFamily="34" charset="0"/>
                <a:ea typeface="Calibri" pitchFamily="34" charset="-122"/>
                <a:cs typeface="Calibri" pitchFamily="34" charset="-120"/>
              </a:rPr>
              <a:t>Possible measurements</a:t>
            </a:r>
            <a:endParaRPr lang="en-US" sz="1250" dirty="0"/>
          </a:p>
        </p:txBody>
      </p:sp>
      <p:sp>
        <p:nvSpPr>
          <p:cNvPr id="9" name="Text 7"/>
          <p:cNvSpPr/>
          <p:nvPr/>
        </p:nvSpPr>
        <p:spPr>
          <a:xfrm>
            <a:off x="6336792" y="1828800"/>
            <a:ext cx="5157216" cy="4096512"/>
          </a:xfrm>
          <a:prstGeom prst="rect">
            <a:avLst/>
          </a:prstGeom>
          <a:noFill/>
          <a:ln/>
        </p:spPr>
        <p:txBody>
          <a:bodyPr wrap="square" lIns="0" tIns="0" rIns="0" bIns="0" rtlCol="0" anchor="t"/>
          <a:lstStyle/>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 of actions bound to the exact approved target</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Authorization mismatches blocked</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Unsafe live conditions detected</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HOLD / BLOCK / ESCALATE accuracy</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Execution-to-effect match rate</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Change success rate</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Rollback rate</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Service availability</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Time saved</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Infrastructure cost</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Attributable governed value (developing)</a:t>
            </a:r>
            <a:endParaRPr lang="en-US" sz="1150" dirty="0"/>
          </a:p>
        </p:txBody>
      </p:sp>
      <p:sp>
        <p:nvSpPr>
          <p:cNvPr id="10" name="Text 8"/>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Success is measured on safety and fidelity first (exact-target binding, mismatch blocks, effect-match), then on operational benefit.</a:t>
            </a:r>
            <a:endParaRPr lang="en-US" sz="850" dirty="0"/>
          </a:p>
        </p:txBody>
      </p:sp>
      <p:sp>
        <p:nvSpPr>
          <p:cNvPr id="12" name="Text 9"/>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52</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X</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Discovery &amp; next step</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Constructive questions, and a request for one joint technical session</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DISCOVERY QUESTIONS FOR SERVICENOW</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Constructive questions to work through together</a:t>
            </a:r>
            <a:endParaRPr lang="en-US" sz="2600" dirty="0"/>
          </a:p>
        </p:txBody>
      </p:sp>
      <p:sp>
        <p:nvSpPr>
          <p:cNvPr id="4" name="Shape 2"/>
          <p:cNvSpPr/>
          <p:nvPr/>
        </p:nvSpPr>
        <p:spPr>
          <a:xfrm>
            <a:off x="548640" y="1371600"/>
            <a:ext cx="5440680" cy="822960"/>
          </a:xfrm>
          <a:prstGeom prst="roundRect">
            <a:avLst>
              <a:gd name="adj" fmla="val 5556"/>
            </a:avLst>
          </a:prstGeom>
          <a:solidFill>
            <a:srgbClr val="ECEAFB"/>
          </a:solidFill>
          <a:ln w="12700">
            <a:solidFill>
              <a:srgbClr val="5145C7"/>
            </a:solidFill>
            <a:prstDash val="solid"/>
          </a:ln>
        </p:spPr>
      </p:sp>
      <p:sp>
        <p:nvSpPr>
          <p:cNvPr id="5" name="Text 3"/>
          <p:cNvSpPr/>
          <p:nvPr/>
        </p:nvSpPr>
        <p:spPr>
          <a:xfrm>
            <a:off x="676656" y="1499616"/>
            <a:ext cx="457200" cy="566928"/>
          </a:xfrm>
          <a:prstGeom prst="rect">
            <a:avLst/>
          </a:prstGeom>
          <a:noFill/>
          <a:ln/>
        </p:spPr>
        <p:txBody>
          <a:bodyPr wrap="square" lIns="0" tIns="0" rIns="0" bIns="0" rtlCol="0" anchor="ctr"/>
          <a:lstStyle/>
          <a:p>
            <a:pPr algn="ctr" indent="0" marL="0">
              <a:buNone/>
            </a:pPr>
            <a:r>
              <a:rPr lang="en-US" sz="1800" b="1" dirty="0">
                <a:solidFill>
                  <a:srgbClr val="5145C7"/>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207008" y="1426464"/>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Which ServiceNow records are authoritative for each scenario?</a:t>
            </a:r>
            <a:endParaRPr lang="en-US" sz="1050" dirty="0"/>
          </a:p>
        </p:txBody>
      </p:sp>
      <p:sp>
        <p:nvSpPr>
          <p:cNvPr id="7" name="Shape 5"/>
          <p:cNvSpPr/>
          <p:nvPr/>
        </p:nvSpPr>
        <p:spPr>
          <a:xfrm>
            <a:off x="6172200" y="1371600"/>
            <a:ext cx="5440680" cy="822960"/>
          </a:xfrm>
          <a:prstGeom prst="roundRect">
            <a:avLst>
              <a:gd name="adj" fmla="val 5556"/>
            </a:avLst>
          </a:prstGeom>
          <a:solidFill>
            <a:srgbClr val="E4EFF7"/>
          </a:solidFill>
          <a:ln w="12700">
            <a:solidFill>
              <a:srgbClr val="2B6CB0"/>
            </a:solidFill>
            <a:prstDash val="solid"/>
          </a:ln>
        </p:spPr>
      </p:sp>
      <p:sp>
        <p:nvSpPr>
          <p:cNvPr id="8" name="Text 6"/>
          <p:cNvSpPr/>
          <p:nvPr/>
        </p:nvSpPr>
        <p:spPr>
          <a:xfrm>
            <a:off x="6300216" y="1499616"/>
            <a:ext cx="457200" cy="566928"/>
          </a:xfrm>
          <a:prstGeom prst="rect">
            <a:avLst/>
          </a:prstGeom>
          <a:noFill/>
          <a:ln/>
        </p:spPr>
        <p:txBody>
          <a:bodyPr wrap="square" lIns="0" tIns="0" rIns="0" bIns="0" rtlCol="0" anchor="ctr"/>
          <a:lstStyle/>
          <a:p>
            <a:pPr algn="ctr" indent="0" marL="0">
              <a:buNone/>
            </a:pPr>
            <a:r>
              <a:rPr lang="en-US" sz="1800" b="1" dirty="0">
                <a:solidFill>
                  <a:srgbClr val="2B6CB0"/>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6830568" y="1426464"/>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What events expose the approval, target and execution context?</a:t>
            </a:r>
            <a:endParaRPr lang="en-US" sz="1050" dirty="0"/>
          </a:p>
        </p:txBody>
      </p:sp>
      <p:sp>
        <p:nvSpPr>
          <p:cNvPr id="10" name="Shape 8"/>
          <p:cNvSpPr/>
          <p:nvPr/>
        </p:nvSpPr>
        <p:spPr>
          <a:xfrm>
            <a:off x="548640" y="2304288"/>
            <a:ext cx="5440680" cy="822960"/>
          </a:xfrm>
          <a:prstGeom prst="roundRect">
            <a:avLst>
              <a:gd name="adj" fmla="val 5556"/>
            </a:avLst>
          </a:prstGeom>
          <a:solidFill>
            <a:srgbClr val="ECEAFB"/>
          </a:solidFill>
          <a:ln w="12700">
            <a:solidFill>
              <a:srgbClr val="5145C7"/>
            </a:solidFill>
            <a:prstDash val="solid"/>
          </a:ln>
        </p:spPr>
      </p:sp>
      <p:sp>
        <p:nvSpPr>
          <p:cNvPr id="11" name="Text 9"/>
          <p:cNvSpPr/>
          <p:nvPr/>
        </p:nvSpPr>
        <p:spPr>
          <a:xfrm>
            <a:off x="676656" y="2432304"/>
            <a:ext cx="457200" cy="566928"/>
          </a:xfrm>
          <a:prstGeom prst="rect">
            <a:avLst/>
          </a:prstGeom>
          <a:noFill/>
          <a:ln/>
        </p:spPr>
        <p:txBody>
          <a:bodyPr wrap="square" lIns="0" tIns="0" rIns="0" bIns="0" rtlCol="0" anchor="ctr"/>
          <a:lstStyle/>
          <a:p>
            <a:pPr algn="ctr" indent="0" marL="0">
              <a:buNone/>
            </a:pPr>
            <a:r>
              <a:rPr lang="en-US" sz="1800" b="1" dirty="0">
                <a:solidFill>
                  <a:srgbClr val="5145C7"/>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207008" y="2359152"/>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Where could an independent action-level authorization be evaluated?</a:t>
            </a:r>
            <a:endParaRPr lang="en-US" sz="1050" dirty="0"/>
          </a:p>
        </p:txBody>
      </p:sp>
      <p:sp>
        <p:nvSpPr>
          <p:cNvPr id="13" name="Shape 11"/>
          <p:cNvSpPr/>
          <p:nvPr/>
        </p:nvSpPr>
        <p:spPr>
          <a:xfrm>
            <a:off x="6172200" y="2304288"/>
            <a:ext cx="5440680" cy="822960"/>
          </a:xfrm>
          <a:prstGeom prst="roundRect">
            <a:avLst>
              <a:gd name="adj" fmla="val 5556"/>
            </a:avLst>
          </a:prstGeom>
          <a:solidFill>
            <a:srgbClr val="E4EFF7"/>
          </a:solidFill>
          <a:ln w="12700">
            <a:solidFill>
              <a:srgbClr val="2B6CB0"/>
            </a:solidFill>
            <a:prstDash val="solid"/>
          </a:ln>
        </p:spPr>
      </p:sp>
      <p:sp>
        <p:nvSpPr>
          <p:cNvPr id="14" name="Text 12"/>
          <p:cNvSpPr/>
          <p:nvPr/>
        </p:nvSpPr>
        <p:spPr>
          <a:xfrm>
            <a:off x="6300216" y="2432304"/>
            <a:ext cx="457200" cy="566928"/>
          </a:xfrm>
          <a:prstGeom prst="rect">
            <a:avLst/>
          </a:prstGeom>
          <a:noFill/>
          <a:ln/>
        </p:spPr>
        <p:txBody>
          <a:bodyPr wrap="square" lIns="0" tIns="0" rIns="0" bIns="0" rtlCol="0" anchor="ctr"/>
          <a:lstStyle/>
          <a:p>
            <a:pPr algn="ctr" indent="0" marL="0">
              <a:buNone/>
            </a:pPr>
            <a:r>
              <a:rPr lang="en-US" sz="1800" b="1" dirty="0">
                <a:solidFill>
                  <a:srgbClr val="2B6CB0"/>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6830568" y="2359152"/>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Where could a live operational clearance verdict be consumed?</a:t>
            </a:r>
            <a:endParaRPr lang="en-US" sz="1050" dirty="0"/>
          </a:p>
        </p:txBody>
      </p:sp>
      <p:sp>
        <p:nvSpPr>
          <p:cNvPr id="16" name="Shape 14"/>
          <p:cNvSpPr/>
          <p:nvPr/>
        </p:nvSpPr>
        <p:spPr>
          <a:xfrm>
            <a:off x="548640" y="3236976"/>
            <a:ext cx="5440680" cy="822960"/>
          </a:xfrm>
          <a:prstGeom prst="roundRect">
            <a:avLst>
              <a:gd name="adj" fmla="val 5556"/>
            </a:avLst>
          </a:prstGeom>
          <a:solidFill>
            <a:srgbClr val="ECEAFB"/>
          </a:solidFill>
          <a:ln w="12700">
            <a:solidFill>
              <a:srgbClr val="5145C7"/>
            </a:solidFill>
            <a:prstDash val="solid"/>
          </a:ln>
        </p:spPr>
      </p:sp>
      <p:sp>
        <p:nvSpPr>
          <p:cNvPr id="17" name="Text 15"/>
          <p:cNvSpPr/>
          <p:nvPr/>
        </p:nvSpPr>
        <p:spPr>
          <a:xfrm>
            <a:off x="676656" y="3364992"/>
            <a:ext cx="457200" cy="566928"/>
          </a:xfrm>
          <a:prstGeom prst="rect">
            <a:avLst/>
          </a:prstGeom>
          <a:noFill/>
          <a:ln/>
        </p:spPr>
        <p:txBody>
          <a:bodyPr wrap="square" lIns="0" tIns="0" rIns="0" bIns="0" rtlCol="0" anchor="ctr"/>
          <a:lstStyle/>
          <a:p>
            <a:pPr algn="ctr" indent="0" marL="0">
              <a:buNone/>
            </a:pPr>
            <a:r>
              <a:rPr lang="en-US" sz="1800" b="1" dirty="0">
                <a:solidFill>
                  <a:srgbClr val="5145C7"/>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1207008" y="3291840"/>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How should execution receipts and effect results be associated with the originating record?</a:t>
            </a:r>
            <a:endParaRPr lang="en-US" sz="1050" dirty="0"/>
          </a:p>
        </p:txBody>
      </p:sp>
      <p:sp>
        <p:nvSpPr>
          <p:cNvPr id="19" name="Shape 17"/>
          <p:cNvSpPr/>
          <p:nvPr/>
        </p:nvSpPr>
        <p:spPr>
          <a:xfrm>
            <a:off x="6172200" y="3236976"/>
            <a:ext cx="5440680" cy="822960"/>
          </a:xfrm>
          <a:prstGeom prst="roundRect">
            <a:avLst>
              <a:gd name="adj" fmla="val 5556"/>
            </a:avLst>
          </a:prstGeom>
          <a:solidFill>
            <a:srgbClr val="E4EFF7"/>
          </a:solidFill>
          <a:ln w="12700">
            <a:solidFill>
              <a:srgbClr val="2B6CB0"/>
            </a:solidFill>
            <a:prstDash val="solid"/>
          </a:ln>
        </p:spPr>
      </p:sp>
      <p:sp>
        <p:nvSpPr>
          <p:cNvPr id="20" name="Text 18"/>
          <p:cNvSpPr/>
          <p:nvPr/>
        </p:nvSpPr>
        <p:spPr>
          <a:xfrm>
            <a:off x="6300216" y="3364992"/>
            <a:ext cx="457200" cy="566928"/>
          </a:xfrm>
          <a:prstGeom prst="rect">
            <a:avLst/>
          </a:prstGeom>
          <a:noFill/>
          <a:ln/>
        </p:spPr>
        <p:txBody>
          <a:bodyPr wrap="square" lIns="0" tIns="0" rIns="0" bIns="0" rtlCol="0" anchor="ctr"/>
          <a:lstStyle/>
          <a:p>
            <a:pPr algn="ctr" indent="0" marL="0">
              <a:buNone/>
            </a:pPr>
            <a:r>
              <a:rPr lang="en-US" sz="1800" b="1" dirty="0">
                <a:solidFill>
                  <a:srgbClr val="2B6CB0"/>
                </a:solidFill>
                <a:latin typeface="Cambria" pitchFamily="34" charset="0"/>
                <a:ea typeface="Cambria" pitchFamily="34" charset="-122"/>
                <a:cs typeface="Cambria" pitchFamily="34" charset="-120"/>
              </a:rPr>
              <a:t>6</a:t>
            </a:r>
            <a:endParaRPr lang="en-US" sz="1800" dirty="0"/>
          </a:p>
        </p:txBody>
      </p:sp>
      <p:sp>
        <p:nvSpPr>
          <p:cNvPr id="21" name="Text 19"/>
          <p:cNvSpPr/>
          <p:nvPr/>
        </p:nvSpPr>
        <p:spPr>
          <a:xfrm>
            <a:off x="6830568" y="3291840"/>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Which controls already provide equivalent granularity?</a:t>
            </a:r>
            <a:endParaRPr lang="en-US" sz="1050" dirty="0"/>
          </a:p>
        </p:txBody>
      </p:sp>
      <p:sp>
        <p:nvSpPr>
          <p:cNvPr id="22" name="Shape 20"/>
          <p:cNvSpPr/>
          <p:nvPr/>
        </p:nvSpPr>
        <p:spPr>
          <a:xfrm>
            <a:off x="548640" y="4169664"/>
            <a:ext cx="5440680" cy="822960"/>
          </a:xfrm>
          <a:prstGeom prst="roundRect">
            <a:avLst>
              <a:gd name="adj" fmla="val 5556"/>
            </a:avLst>
          </a:prstGeom>
          <a:solidFill>
            <a:srgbClr val="ECEAFB"/>
          </a:solidFill>
          <a:ln w="12700">
            <a:solidFill>
              <a:srgbClr val="5145C7"/>
            </a:solidFill>
            <a:prstDash val="solid"/>
          </a:ln>
        </p:spPr>
      </p:sp>
      <p:sp>
        <p:nvSpPr>
          <p:cNvPr id="23" name="Text 21"/>
          <p:cNvSpPr/>
          <p:nvPr/>
        </p:nvSpPr>
        <p:spPr>
          <a:xfrm>
            <a:off x="676656" y="4297680"/>
            <a:ext cx="457200" cy="566928"/>
          </a:xfrm>
          <a:prstGeom prst="rect">
            <a:avLst/>
          </a:prstGeom>
          <a:noFill/>
          <a:ln/>
        </p:spPr>
        <p:txBody>
          <a:bodyPr wrap="square" lIns="0" tIns="0" rIns="0" bIns="0" rtlCol="0" anchor="ctr"/>
          <a:lstStyle/>
          <a:p>
            <a:pPr algn="ctr" indent="0" marL="0">
              <a:buNone/>
            </a:pPr>
            <a:r>
              <a:rPr lang="en-US" sz="1800" b="1" dirty="0">
                <a:solidFill>
                  <a:srgbClr val="5145C7"/>
                </a:solidFill>
                <a:latin typeface="Cambria" pitchFamily="34" charset="0"/>
                <a:ea typeface="Cambria" pitchFamily="34" charset="-122"/>
                <a:cs typeface="Cambria" pitchFamily="34" charset="-120"/>
              </a:rPr>
              <a:t>7</a:t>
            </a:r>
            <a:endParaRPr lang="en-US" sz="1800" dirty="0"/>
          </a:p>
        </p:txBody>
      </p:sp>
      <p:sp>
        <p:nvSpPr>
          <p:cNvPr id="24" name="Text 22"/>
          <p:cNvSpPr/>
          <p:nvPr/>
        </p:nvSpPr>
        <p:spPr>
          <a:xfrm>
            <a:off x="1207008" y="4224528"/>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Which use case is most suitable for a bounded pilot?</a:t>
            </a:r>
            <a:endParaRPr lang="en-US" sz="1050" dirty="0"/>
          </a:p>
        </p:txBody>
      </p:sp>
      <p:sp>
        <p:nvSpPr>
          <p:cNvPr id="25" name="Shape 23"/>
          <p:cNvSpPr/>
          <p:nvPr/>
        </p:nvSpPr>
        <p:spPr>
          <a:xfrm>
            <a:off x="6172200" y="4169664"/>
            <a:ext cx="5440680" cy="822960"/>
          </a:xfrm>
          <a:prstGeom prst="roundRect">
            <a:avLst>
              <a:gd name="adj" fmla="val 5556"/>
            </a:avLst>
          </a:prstGeom>
          <a:solidFill>
            <a:srgbClr val="E4EFF7"/>
          </a:solidFill>
          <a:ln w="12700">
            <a:solidFill>
              <a:srgbClr val="2B6CB0"/>
            </a:solidFill>
            <a:prstDash val="solid"/>
          </a:ln>
        </p:spPr>
      </p:sp>
      <p:sp>
        <p:nvSpPr>
          <p:cNvPr id="26" name="Text 24"/>
          <p:cNvSpPr/>
          <p:nvPr/>
        </p:nvSpPr>
        <p:spPr>
          <a:xfrm>
            <a:off x="6300216" y="4297680"/>
            <a:ext cx="457200" cy="566928"/>
          </a:xfrm>
          <a:prstGeom prst="rect">
            <a:avLst/>
          </a:prstGeom>
          <a:noFill/>
          <a:ln/>
        </p:spPr>
        <p:txBody>
          <a:bodyPr wrap="square" lIns="0" tIns="0" rIns="0" bIns="0" rtlCol="0" anchor="ctr"/>
          <a:lstStyle/>
          <a:p>
            <a:pPr algn="ctr" indent="0" marL="0">
              <a:buNone/>
            </a:pPr>
            <a:r>
              <a:rPr lang="en-US" sz="1800" b="1" dirty="0">
                <a:solidFill>
                  <a:srgbClr val="2B6CB0"/>
                </a:solidFill>
                <a:latin typeface="Cambria" pitchFamily="34" charset="0"/>
                <a:ea typeface="Cambria" pitchFamily="34" charset="-122"/>
                <a:cs typeface="Cambria" pitchFamily="34" charset="-120"/>
              </a:rPr>
              <a:t>8</a:t>
            </a:r>
            <a:endParaRPr lang="en-US" sz="1800" dirty="0"/>
          </a:p>
        </p:txBody>
      </p:sp>
      <p:sp>
        <p:nvSpPr>
          <p:cNvPr id="27" name="Text 25"/>
          <p:cNvSpPr/>
          <p:nvPr/>
        </p:nvSpPr>
        <p:spPr>
          <a:xfrm>
            <a:off x="6830568" y="4224528"/>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What should remain human-binding?</a:t>
            </a:r>
            <a:endParaRPr lang="en-US" sz="1050" dirty="0"/>
          </a:p>
        </p:txBody>
      </p:sp>
      <p:sp>
        <p:nvSpPr>
          <p:cNvPr id="28" name="Shape 26"/>
          <p:cNvSpPr/>
          <p:nvPr/>
        </p:nvSpPr>
        <p:spPr>
          <a:xfrm>
            <a:off x="548640" y="5102352"/>
            <a:ext cx="5440680" cy="822960"/>
          </a:xfrm>
          <a:prstGeom prst="roundRect">
            <a:avLst>
              <a:gd name="adj" fmla="val 5556"/>
            </a:avLst>
          </a:prstGeom>
          <a:solidFill>
            <a:srgbClr val="ECEAFB"/>
          </a:solidFill>
          <a:ln w="12700">
            <a:solidFill>
              <a:srgbClr val="5145C7"/>
            </a:solidFill>
            <a:prstDash val="solid"/>
          </a:ln>
        </p:spPr>
      </p:sp>
      <p:sp>
        <p:nvSpPr>
          <p:cNvPr id="29" name="Text 27"/>
          <p:cNvSpPr/>
          <p:nvPr/>
        </p:nvSpPr>
        <p:spPr>
          <a:xfrm>
            <a:off x="676656" y="5230368"/>
            <a:ext cx="457200" cy="566928"/>
          </a:xfrm>
          <a:prstGeom prst="rect">
            <a:avLst/>
          </a:prstGeom>
          <a:noFill/>
          <a:ln/>
        </p:spPr>
        <p:txBody>
          <a:bodyPr wrap="square" lIns="0" tIns="0" rIns="0" bIns="0" rtlCol="0" anchor="ctr"/>
          <a:lstStyle/>
          <a:p>
            <a:pPr algn="ctr" indent="0" marL="0">
              <a:buNone/>
            </a:pPr>
            <a:r>
              <a:rPr lang="en-US" sz="1800" b="1" dirty="0">
                <a:solidFill>
                  <a:srgbClr val="5145C7"/>
                </a:solidFill>
                <a:latin typeface="Cambria" pitchFamily="34" charset="0"/>
                <a:ea typeface="Cambria" pitchFamily="34" charset="-122"/>
                <a:cs typeface="Cambria" pitchFamily="34" charset="-120"/>
              </a:rPr>
              <a:t>9</a:t>
            </a:r>
            <a:endParaRPr lang="en-US" sz="1800" dirty="0"/>
          </a:p>
        </p:txBody>
      </p:sp>
      <p:sp>
        <p:nvSpPr>
          <p:cNvPr id="30" name="Text 28"/>
          <p:cNvSpPr/>
          <p:nvPr/>
        </p:nvSpPr>
        <p:spPr>
          <a:xfrm>
            <a:off x="1207008" y="5157216"/>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What data may leave the ServiceNow boundary?</a:t>
            </a:r>
            <a:endParaRPr lang="en-US" sz="1050" dirty="0"/>
          </a:p>
        </p:txBody>
      </p:sp>
      <p:sp>
        <p:nvSpPr>
          <p:cNvPr id="31" name="Shape 29"/>
          <p:cNvSpPr/>
          <p:nvPr/>
        </p:nvSpPr>
        <p:spPr>
          <a:xfrm>
            <a:off x="6172200" y="5102352"/>
            <a:ext cx="5440680" cy="822960"/>
          </a:xfrm>
          <a:prstGeom prst="roundRect">
            <a:avLst>
              <a:gd name="adj" fmla="val 5556"/>
            </a:avLst>
          </a:prstGeom>
          <a:solidFill>
            <a:srgbClr val="E4EFF7"/>
          </a:solidFill>
          <a:ln w="12700">
            <a:solidFill>
              <a:srgbClr val="2B6CB0"/>
            </a:solidFill>
            <a:prstDash val="solid"/>
          </a:ln>
        </p:spPr>
      </p:sp>
      <p:sp>
        <p:nvSpPr>
          <p:cNvPr id="32" name="Text 30"/>
          <p:cNvSpPr/>
          <p:nvPr/>
        </p:nvSpPr>
        <p:spPr>
          <a:xfrm>
            <a:off x="6300216" y="5230368"/>
            <a:ext cx="457200" cy="566928"/>
          </a:xfrm>
          <a:prstGeom prst="rect">
            <a:avLst/>
          </a:prstGeom>
          <a:noFill/>
          <a:ln/>
        </p:spPr>
        <p:txBody>
          <a:bodyPr wrap="square" lIns="0" tIns="0" rIns="0" bIns="0" rtlCol="0" anchor="ctr"/>
          <a:lstStyle/>
          <a:p>
            <a:pPr algn="ctr" indent="0" marL="0">
              <a:buNone/>
            </a:pPr>
            <a:r>
              <a:rPr lang="en-US" sz="1800" b="1" dirty="0">
                <a:solidFill>
                  <a:srgbClr val="2B6CB0"/>
                </a:solidFill>
                <a:latin typeface="Cambria" pitchFamily="34" charset="0"/>
                <a:ea typeface="Cambria" pitchFamily="34" charset="-122"/>
                <a:cs typeface="Cambria" pitchFamily="34" charset="-120"/>
              </a:rPr>
              <a:t>10</a:t>
            </a:r>
            <a:endParaRPr lang="en-US" sz="1800" dirty="0"/>
          </a:p>
        </p:txBody>
      </p:sp>
      <p:sp>
        <p:nvSpPr>
          <p:cNvPr id="33" name="Text 31"/>
          <p:cNvSpPr/>
          <p:nvPr/>
        </p:nvSpPr>
        <p:spPr>
          <a:xfrm>
            <a:off x="6830568" y="5157216"/>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What evidence would be required for production acceptance?</a:t>
            </a:r>
            <a:endParaRPr lang="en-US" sz="1050" dirty="0"/>
          </a:p>
        </p:txBody>
      </p:sp>
      <p:sp>
        <p:nvSpPr>
          <p:cNvPr id="34" name="Text 32"/>
          <p:cNvSpPr/>
          <p:nvPr/>
        </p:nvSpPr>
        <p:spPr>
          <a:xfrm>
            <a:off x="548640" y="6455664"/>
            <a:ext cx="10561320" cy="274320"/>
          </a:xfrm>
          <a:prstGeom prst="rect">
            <a:avLst/>
          </a:prstGeom>
          <a:noFill/>
          <a:ln/>
        </p:spPr>
        <p:txBody>
          <a:bodyPr wrap="square" rtlCol="0" anchor="ctr"/>
          <a:lstStyle/>
          <a:p>
            <a:pPr algn="l" indent="0" marL="0">
              <a:buNone/>
            </a:pPr>
            <a:r>
              <a:rPr lang="en-US" sz="850" i="1" dirty="0">
                <a:solidFill>
                  <a:srgbClr val="6B7280"/>
                </a:solidFill>
                <a:latin typeface="Calibri" pitchFamily="34" charset="0"/>
                <a:ea typeface="Calibri" pitchFamily="34" charset="-122"/>
                <a:cs typeface="Calibri" pitchFamily="34" charset="-120"/>
              </a:rPr>
              <a:t>Every question is designed to establish technical fit before any commitment — the answers shape the pilot.</a:t>
            </a:r>
            <a:endParaRPr lang="en-US" sz="850" dirty="0"/>
          </a:p>
        </p:txBody>
      </p:sp>
      <p:sp>
        <p:nvSpPr>
          <p:cNvPr id="36" name="Text 33"/>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54</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68680" y="1371600"/>
            <a:ext cx="10058400" cy="365760"/>
          </a:xfrm>
          <a:prstGeom prst="rect">
            <a:avLst/>
          </a:prstGeom>
          <a:noFill/>
          <a:ln/>
        </p:spPr>
        <p:txBody>
          <a:bodyPr wrap="square" rtlCol="0" anchor="ctr"/>
          <a:lstStyle/>
          <a:p>
            <a:pPr indent="0" marL="0">
              <a:buNone/>
            </a:pPr>
            <a:r>
              <a:rPr lang="en-US" sz="1300" b="1" spc="200" kern="0" dirty="0">
                <a:solidFill>
                  <a:srgbClr val="9AA2D8"/>
                </a:solidFill>
                <a:latin typeface="Calibri" pitchFamily="34" charset="0"/>
                <a:ea typeface="Calibri" pitchFamily="34" charset="-122"/>
                <a:cs typeface="Calibri" pitchFamily="34" charset="-120"/>
              </a:rPr>
              <a:t>THE NEXT STEP</a:t>
            </a:r>
            <a:endParaRPr lang="en-US" sz="1300" dirty="0"/>
          </a:p>
        </p:txBody>
      </p:sp>
      <p:sp>
        <p:nvSpPr>
          <p:cNvPr id="4" name="Text 2"/>
          <p:cNvSpPr/>
          <p:nvPr/>
        </p:nvSpPr>
        <p:spPr>
          <a:xfrm>
            <a:off x="822960" y="1828800"/>
            <a:ext cx="10515600" cy="8229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One joint technical discovery session</a:t>
            </a:r>
            <a:endParaRPr lang="en-US" sz="3400" dirty="0"/>
          </a:p>
        </p:txBody>
      </p:sp>
      <p:sp>
        <p:nvSpPr>
          <p:cNvPr id="5" name="Text 3"/>
          <p:cNvSpPr/>
          <p:nvPr/>
        </p:nvSpPr>
        <p:spPr>
          <a:xfrm>
            <a:off x="868680" y="2743200"/>
            <a:ext cx="10058400" cy="640080"/>
          </a:xfrm>
          <a:prstGeom prst="rect">
            <a:avLst/>
          </a:prstGeom>
          <a:noFill/>
          <a:ln/>
        </p:spPr>
        <p:txBody>
          <a:bodyPr wrap="square" rtlCol="0" anchor="ctr"/>
          <a:lstStyle/>
          <a:p>
            <a:pPr indent="0" marL="0">
              <a:buNone/>
            </a:pPr>
            <a:r>
              <a:rPr lang="en-US" sz="1600" dirty="0">
                <a:solidFill>
                  <a:srgbClr val="C9CFEA"/>
                </a:solidFill>
                <a:latin typeface="Calibri" pitchFamily="34" charset="0"/>
                <a:ea typeface="Calibri" pitchFamily="34" charset="-122"/>
                <a:cs typeface="Calibri" pitchFamily="34" charset="-120"/>
              </a:rPr>
              <a:t>to select and define one bounded pilot — most likely UC-5, autonomous change execution.</a:t>
            </a:r>
            <a:endParaRPr lang="en-US" sz="1600" dirty="0"/>
          </a:p>
        </p:txBody>
      </p:sp>
      <p:sp>
        <p:nvSpPr>
          <p:cNvPr id="6" name="Shape 4"/>
          <p:cNvSpPr/>
          <p:nvPr/>
        </p:nvSpPr>
        <p:spPr>
          <a:xfrm>
            <a:off x="868680" y="3657600"/>
            <a:ext cx="5166360" cy="1828800"/>
          </a:xfrm>
          <a:prstGeom prst="roundRect">
            <a:avLst>
              <a:gd name="adj" fmla="val 4000"/>
            </a:avLst>
          </a:prstGeom>
          <a:solidFill>
            <a:srgbClr val="201B4C"/>
          </a:solidFill>
          <a:ln w="12700">
            <a:solidFill>
              <a:srgbClr val="3A3475"/>
            </a:solidFill>
            <a:prstDash val="solid"/>
          </a:ln>
        </p:spPr>
      </p:sp>
      <p:sp>
        <p:nvSpPr>
          <p:cNvPr id="7" name="Text 5"/>
          <p:cNvSpPr/>
          <p:nvPr/>
        </p:nvSpPr>
        <p:spPr>
          <a:xfrm>
            <a:off x="1097280" y="3840480"/>
            <a:ext cx="4754880" cy="365760"/>
          </a:xfrm>
          <a:prstGeom prst="rect">
            <a:avLst/>
          </a:prstGeom>
          <a:noFill/>
          <a:ln/>
        </p:spPr>
        <p:txBody>
          <a:bodyPr wrap="square" rtlCol="0" anchor="ctr"/>
          <a:lstStyle/>
          <a:p>
            <a:pPr indent="0" marL="0">
              <a:buNone/>
            </a:pPr>
            <a:r>
              <a:rPr lang="en-US" sz="1300" b="1" dirty="0">
                <a:solidFill>
                  <a:srgbClr val="F4B8B0"/>
                </a:solidFill>
                <a:latin typeface="Calibri" pitchFamily="34" charset="0"/>
                <a:ea typeface="Calibri" pitchFamily="34" charset="-122"/>
                <a:cs typeface="Calibri" pitchFamily="34" charset="-120"/>
              </a:rPr>
              <a:t>We are not asking for</a:t>
            </a:r>
            <a:endParaRPr lang="en-US" sz="1300" dirty="0"/>
          </a:p>
        </p:txBody>
      </p:sp>
      <p:sp>
        <p:nvSpPr>
          <p:cNvPr id="8" name="Text 6"/>
          <p:cNvSpPr/>
          <p:nvPr/>
        </p:nvSpPr>
        <p:spPr>
          <a:xfrm>
            <a:off x="1097280" y="4251960"/>
            <a:ext cx="4754880" cy="1097280"/>
          </a:xfrm>
          <a:prstGeom prst="rect">
            <a:avLst/>
          </a:prstGeom>
          <a:noFill/>
          <a:ln/>
        </p:spPr>
        <p:txBody>
          <a:bodyPr wrap="square" rtlCol="0" anchor="ctr"/>
          <a:lstStyle/>
          <a:p>
            <a:pPr indent="0" marL="0">
              <a:lnSpc>
                <a:spcPct val="112000"/>
              </a:lnSpc>
              <a:buNone/>
            </a:pPr>
            <a:r>
              <a:rPr lang="en-US" sz="1300" dirty="0">
                <a:solidFill>
                  <a:srgbClr val="E7EAF7"/>
                </a:solidFill>
                <a:latin typeface="Calibri" pitchFamily="34" charset="0"/>
                <a:ea typeface="Calibri" pitchFamily="34" charset="-122"/>
                <a:cs typeface="Calibri" pitchFamily="34" charset="-120"/>
              </a:rPr>
              <a:t>a broad partnership commitment before technical fit is established.</a:t>
            </a:r>
            <a:endParaRPr lang="en-US" sz="1300" dirty="0"/>
          </a:p>
        </p:txBody>
      </p:sp>
      <p:sp>
        <p:nvSpPr>
          <p:cNvPr id="9" name="Shape 7"/>
          <p:cNvSpPr/>
          <p:nvPr/>
        </p:nvSpPr>
        <p:spPr>
          <a:xfrm>
            <a:off x="6355080" y="3657600"/>
            <a:ext cx="5166360" cy="1828800"/>
          </a:xfrm>
          <a:prstGeom prst="roundRect">
            <a:avLst>
              <a:gd name="adj" fmla="val 4000"/>
            </a:avLst>
          </a:prstGeom>
          <a:solidFill>
            <a:srgbClr val="241F55"/>
          </a:solidFill>
          <a:ln w="12700">
            <a:solidFill>
              <a:srgbClr val="3A3475"/>
            </a:solidFill>
            <a:prstDash val="solid"/>
          </a:ln>
        </p:spPr>
      </p:sp>
      <p:sp>
        <p:nvSpPr>
          <p:cNvPr id="10" name="Text 8"/>
          <p:cNvSpPr/>
          <p:nvPr/>
        </p:nvSpPr>
        <p:spPr>
          <a:xfrm>
            <a:off x="6583680" y="3840480"/>
            <a:ext cx="4754880" cy="365760"/>
          </a:xfrm>
          <a:prstGeom prst="rect">
            <a:avLst/>
          </a:prstGeom>
          <a:noFill/>
          <a:ln/>
        </p:spPr>
        <p:txBody>
          <a:bodyPr wrap="square" rtlCol="0" anchor="ctr"/>
          <a:lstStyle/>
          <a:p>
            <a:pPr indent="0" marL="0">
              <a:buNone/>
            </a:pPr>
            <a:r>
              <a:rPr lang="en-US" sz="1300" b="1" dirty="0">
                <a:solidFill>
                  <a:srgbClr val="8FE3C2"/>
                </a:solidFill>
                <a:latin typeface="Calibri" pitchFamily="34" charset="0"/>
                <a:ea typeface="Calibri" pitchFamily="34" charset="-122"/>
                <a:cs typeface="Calibri" pitchFamily="34" charset="-120"/>
              </a:rPr>
              <a:t>We are asking for</a:t>
            </a:r>
            <a:endParaRPr lang="en-US" sz="1300" dirty="0"/>
          </a:p>
        </p:txBody>
      </p:sp>
      <p:sp>
        <p:nvSpPr>
          <p:cNvPr id="11" name="Text 9"/>
          <p:cNvSpPr/>
          <p:nvPr/>
        </p:nvSpPr>
        <p:spPr>
          <a:xfrm>
            <a:off x="6583680" y="4251960"/>
            <a:ext cx="4754880" cy="1097280"/>
          </a:xfrm>
          <a:prstGeom prst="rect">
            <a:avLst/>
          </a:prstGeom>
          <a:noFill/>
          <a:ln/>
        </p:spPr>
        <p:txBody>
          <a:bodyPr wrap="square" rtlCol="0" anchor="ctr"/>
          <a:lstStyle/>
          <a:p>
            <a:pPr indent="0" marL="0">
              <a:lnSpc>
                <a:spcPct val="112000"/>
              </a:lnSpc>
              <a:buNone/>
            </a:pPr>
            <a:r>
              <a:rPr lang="en-US" sz="1300" dirty="0">
                <a:solidFill>
                  <a:srgbClr val="E7EAF7"/>
                </a:solidFill>
                <a:latin typeface="Calibri" pitchFamily="34" charset="0"/>
                <a:ea typeface="Calibri" pitchFamily="34" charset="-122"/>
                <a:cs typeface="Calibri" pitchFamily="34" charset="-120"/>
              </a:rPr>
              <a:t>a working session with your architects to map records, events and integration points, and to agree a small, reversible pilot.</a:t>
            </a:r>
            <a:endParaRPr lang="en-US" sz="1300" dirty="0"/>
          </a:p>
        </p:txBody>
      </p:sp>
      <p:sp>
        <p:nvSpPr>
          <p:cNvPr id="12" name="Text 10"/>
          <p:cNvSpPr/>
          <p:nvPr/>
        </p:nvSpPr>
        <p:spPr>
          <a:xfrm>
            <a:off x="868680" y="5870448"/>
            <a:ext cx="10424160" cy="320040"/>
          </a:xfrm>
          <a:prstGeom prst="rect">
            <a:avLst/>
          </a:prstGeom>
          <a:noFill/>
          <a:ln/>
        </p:spPr>
        <p:txBody>
          <a:bodyPr wrap="square" rtlCol="0" anchor="ctr"/>
          <a:lstStyle/>
          <a:p>
            <a:pPr indent="0" marL="0">
              <a:buNone/>
            </a:pPr>
            <a:r>
              <a:rPr lang="en-US" sz="1100" i="1" dirty="0">
                <a:solidFill>
                  <a:srgbClr val="AEB6E0"/>
                </a:solidFill>
                <a:latin typeface="Calibri" pitchFamily="34" charset="0"/>
                <a:ea typeface="Calibri" pitchFamily="34" charset="-122"/>
                <a:cs typeface="Calibri" pitchFamily="34" charset="-120"/>
              </a:rPr>
              <a:t>All ServiceNow integrations PROPOSED · all scenarios illustrative · composition, not replacement.</a:t>
            </a:r>
            <a:endParaRPr lang="en-US" sz="1100" dirty="0"/>
          </a:p>
        </p:txBody>
      </p:sp>
      <p:sp>
        <p:nvSpPr>
          <p:cNvPr id="13" name="Text 11"/>
          <p:cNvSpPr/>
          <p:nvPr/>
        </p:nvSpPr>
        <p:spPr>
          <a:xfrm>
            <a:off x="868680" y="6291072"/>
            <a:ext cx="10424160" cy="320040"/>
          </a:xfrm>
          <a:prstGeom prst="rect">
            <a:avLst/>
          </a:prstGeom>
          <a:noFill/>
          <a:ln/>
        </p:spPr>
        <p:txBody>
          <a:bodyPr wrap="square" lIns="0" tIns="0" rIns="0" bIns="0" rtlCol="0" anchor="ctr"/>
          <a:lstStyle/>
          <a:p>
            <a:pPr algn="l" indent="0" marL="0">
              <a:buNone/>
            </a:pPr>
            <a:r>
              <a:rPr lang="en-US" sz="1250" b="1" dirty="0">
                <a:solidFill>
                  <a:srgbClr val="8FE3C2"/>
                </a:solidFill>
                <a:latin typeface="Calibri" pitchFamily="34" charset="0"/>
                <a:ea typeface="Calibri" pitchFamily="34" charset="-122"/>
                <a:cs typeface="Calibri" pitchFamily="34" charset="-120"/>
              </a:rPr>
              <a:t>Rakesh Mohan  ·  Founder, Ugence Labs  ·  ugence.ai</a:t>
            </a:r>
            <a:endParaRPr lang="en-US" sz="12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APPENDIX</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Maturity &amp; availability legend, and standing disclaimers</a:t>
            </a:r>
            <a:endParaRPr lang="en-US" sz="2600" dirty="0"/>
          </a:p>
        </p:txBody>
      </p:sp>
      <p:sp>
        <p:nvSpPr>
          <p:cNvPr id="4" name="Shape 2"/>
          <p:cNvSpPr/>
          <p:nvPr/>
        </p:nvSpPr>
        <p:spPr>
          <a:xfrm>
            <a:off x="548640" y="1417320"/>
            <a:ext cx="2011680" cy="237744"/>
          </a:xfrm>
          <a:prstGeom prst="roundRect">
            <a:avLst>
              <a:gd name="adj" fmla="val 50000"/>
            </a:avLst>
          </a:prstGeom>
          <a:solidFill>
            <a:srgbClr val="2E7D5B"/>
          </a:solidFill>
          <a:ln w="12700">
            <a:solidFill>
              <a:srgbClr val="2E7D5B"/>
            </a:solidFill>
            <a:prstDash val="solid"/>
          </a:ln>
        </p:spPr>
      </p:sp>
      <p:sp>
        <p:nvSpPr>
          <p:cNvPr id="5" name="Text 3"/>
          <p:cNvSpPr/>
          <p:nvPr/>
        </p:nvSpPr>
        <p:spPr>
          <a:xfrm>
            <a:off x="548640" y="1417320"/>
            <a:ext cx="20116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IMPLEMENTED</a:t>
            </a:r>
            <a:endParaRPr lang="en-US" sz="800" dirty="0"/>
          </a:p>
        </p:txBody>
      </p:sp>
      <p:sp>
        <p:nvSpPr>
          <p:cNvPr id="6" name="Text 4"/>
          <p:cNvSpPr/>
          <p:nvPr/>
        </p:nvSpPr>
        <p:spPr>
          <a:xfrm>
            <a:off x="2743200" y="1380744"/>
            <a:ext cx="8778240" cy="310896"/>
          </a:xfrm>
          <a:prstGeom prst="rect">
            <a:avLst/>
          </a:prstGeom>
          <a:noFill/>
          <a:ln/>
        </p:spPr>
        <p:txBody>
          <a:bodyPr wrap="square" lIns="0" tIns="0" rIns="0" bIns="0" rtlCol="0" anchor="ctr"/>
          <a:lstStyle/>
          <a:p>
            <a:pPr indent="0" marL="0">
              <a:buNone/>
            </a:pPr>
            <a:r>
              <a:rPr lang="en-US" sz="1100" dirty="0">
                <a:solidFill>
                  <a:srgbClr val="1E2340"/>
                </a:solidFill>
                <a:latin typeface="Calibri" pitchFamily="34" charset="0"/>
                <a:ea typeface="Calibri" pitchFamily="34" charset="-122"/>
                <a:cs typeface="Calibri" pitchFamily="34" charset="-120"/>
              </a:rPr>
              <a:t>Code exists and is verified at interface level.</a:t>
            </a:r>
            <a:endParaRPr lang="en-US" sz="1100" dirty="0"/>
          </a:p>
        </p:txBody>
      </p:sp>
      <p:sp>
        <p:nvSpPr>
          <p:cNvPr id="7" name="Shape 5"/>
          <p:cNvSpPr/>
          <p:nvPr/>
        </p:nvSpPr>
        <p:spPr>
          <a:xfrm>
            <a:off x="548640" y="1984248"/>
            <a:ext cx="2011680" cy="237744"/>
          </a:xfrm>
          <a:prstGeom prst="roundRect">
            <a:avLst>
              <a:gd name="adj" fmla="val 50000"/>
            </a:avLst>
          </a:prstGeom>
          <a:solidFill>
            <a:srgbClr val="6B7280"/>
          </a:solidFill>
          <a:ln w="12700">
            <a:solidFill>
              <a:srgbClr val="6B7280"/>
            </a:solidFill>
            <a:prstDash val="solid"/>
          </a:ln>
        </p:spPr>
      </p:sp>
      <p:sp>
        <p:nvSpPr>
          <p:cNvPr id="8" name="Text 6"/>
          <p:cNvSpPr/>
          <p:nvPr/>
        </p:nvSpPr>
        <p:spPr>
          <a:xfrm>
            <a:off x="548640" y="1984248"/>
            <a:ext cx="20116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REFERENCE-GRADE</a:t>
            </a:r>
            <a:endParaRPr lang="en-US" sz="800" dirty="0"/>
          </a:p>
        </p:txBody>
      </p:sp>
      <p:sp>
        <p:nvSpPr>
          <p:cNvPr id="9" name="Text 7"/>
          <p:cNvSpPr/>
          <p:nvPr/>
        </p:nvSpPr>
        <p:spPr>
          <a:xfrm>
            <a:off x="2743200" y="1947672"/>
            <a:ext cx="8778240" cy="310896"/>
          </a:xfrm>
          <a:prstGeom prst="rect">
            <a:avLst/>
          </a:prstGeom>
          <a:noFill/>
          <a:ln/>
        </p:spPr>
        <p:txBody>
          <a:bodyPr wrap="square" lIns="0" tIns="0" rIns="0" bIns="0" rtlCol="0" anchor="ctr"/>
          <a:lstStyle/>
          <a:p>
            <a:pPr indent="0" marL="0">
              <a:buNone/>
            </a:pPr>
            <a:r>
              <a:rPr lang="en-US" sz="1100" dirty="0">
                <a:solidFill>
                  <a:srgbClr val="1E2340"/>
                </a:solidFill>
                <a:latin typeface="Calibri" pitchFamily="34" charset="0"/>
                <a:ea typeface="Calibri" pitchFamily="34" charset="-122"/>
                <a:cs typeface="Calibri" pitchFamily="34" charset="-120"/>
              </a:rPr>
              <a:t>Ships reference implementations; not production-validated.</a:t>
            </a:r>
            <a:endParaRPr lang="en-US" sz="1100" dirty="0"/>
          </a:p>
        </p:txBody>
      </p:sp>
      <p:sp>
        <p:nvSpPr>
          <p:cNvPr id="10" name="Shape 8"/>
          <p:cNvSpPr/>
          <p:nvPr/>
        </p:nvSpPr>
        <p:spPr>
          <a:xfrm>
            <a:off x="548640" y="2551176"/>
            <a:ext cx="2011680" cy="237744"/>
          </a:xfrm>
          <a:prstGeom prst="roundRect">
            <a:avLst>
              <a:gd name="adj" fmla="val 50000"/>
            </a:avLst>
          </a:prstGeom>
          <a:solidFill>
            <a:srgbClr val="B7791F"/>
          </a:solidFill>
          <a:ln w="12700">
            <a:solidFill>
              <a:srgbClr val="B7791F"/>
            </a:solidFill>
            <a:prstDash val="solid"/>
          </a:ln>
        </p:spPr>
      </p:sp>
      <p:sp>
        <p:nvSpPr>
          <p:cNvPr id="11" name="Text 9"/>
          <p:cNvSpPr/>
          <p:nvPr/>
        </p:nvSpPr>
        <p:spPr>
          <a:xfrm>
            <a:off x="548640" y="2551176"/>
            <a:ext cx="20116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PILOT PENDING</a:t>
            </a:r>
            <a:endParaRPr lang="en-US" sz="800" dirty="0"/>
          </a:p>
        </p:txBody>
      </p:sp>
      <p:sp>
        <p:nvSpPr>
          <p:cNvPr id="12" name="Text 10"/>
          <p:cNvSpPr/>
          <p:nvPr/>
        </p:nvSpPr>
        <p:spPr>
          <a:xfrm>
            <a:off x="2743200" y="2514600"/>
            <a:ext cx="8778240" cy="310896"/>
          </a:xfrm>
          <a:prstGeom prst="rect">
            <a:avLst/>
          </a:prstGeom>
          <a:noFill/>
          <a:ln/>
        </p:spPr>
        <p:txBody>
          <a:bodyPr wrap="square" lIns="0" tIns="0" rIns="0" bIns="0" rtlCol="0" anchor="ctr"/>
          <a:lstStyle/>
          <a:p>
            <a:pPr indent="0" marL="0">
              <a:buNone/>
            </a:pPr>
            <a:r>
              <a:rPr lang="en-US" sz="1100" dirty="0">
                <a:solidFill>
                  <a:srgbClr val="1E2340"/>
                </a:solidFill>
                <a:latin typeface="Calibri" pitchFamily="34" charset="0"/>
                <a:ea typeface="Calibri" pitchFamily="34" charset="-122"/>
                <a:cs typeface="Calibri" pitchFamily="34" charset="-120"/>
              </a:rPr>
              <a:t>Awaiting production / pilot validation.</a:t>
            </a:r>
            <a:endParaRPr lang="en-US" sz="1100" dirty="0"/>
          </a:p>
        </p:txBody>
      </p:sp>
      <p:sp>
        <p:nvSpPr>
          <p:cNvPr id="13" name="Shape 11"/>
          <p:cNvSpPr/>
          <p:nvPr/>
        </p:nvSpPr>
        <p:spPr>
          <a:xfrm>
            <a:off x="548640" y="3118104"/>
            <a:ext cx="2011680" cy="237744"/>
          </a:xfrm>
          <a:prstGeom prst="roundRect">
            <a:avLst>
              <a:gd name="adj" fmla="val 50000"/>
            </a:avLst>
          </a:prstGeom>
          <a:solidFill>
            <a:srgbClr val="2B6CB0"/>
          </a:solidFill>
          <a:ln w="12700">
            <a:solidFill>
              <a:srgbClr val="2B6CB0"/>
            </a:solidFill>
            <a:prstDash val="solid"/>
          </a:ln>
        </p:spPr>
      </p:sp>
      <p:sp>
        <p:nvSpPr>
          <p:cNvPr id="14" name="Text 12"/>
          <p:cNvSpPr/>
          <p:nvPr/>
        </p:nvSpPr>
        <p:spPr>
          <a:xfrm>
            <a:off x="548640" y="3118104"/>
            <a:ext cx="20116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UNDER DEVELOPMENT</a:t>
            </a:r>
            <a:endParaRPr lang="en-US" sz="800" dirty="0"/>
          </a:p>
        </p:txBody>
      </p:sp>
      <p:sp>
        <p:nvSpPr>
          <p:cNvPr id="15" name="Text 13"/>
          <p:cNvSpPr/>
          <p:nvPr/>
        </p:nvSpPr>
        <p:spPr>
          <a:xfrm>
            <a:off x="2743200" y="3081528"/>
            <a:ext cx="8778240" cy="310896"/>
          </a:xfrm>
          <a:prstGeom prst="rect">
            <a:avLst/>
          </a:prstGeom>
          <a:noFill/>
          <a:ln/>
        </p:spPr>
        <p:txBody>
          <a:bodyPr wrap="square" lIns="0" tIns="0" rIns="0" bIns="0" rtlCol="0" anchor="ctr"/>
          <a:lstStyle/>
          <a:p>
            <a:pPr indent="0" marL="0">
              <a:buNone/>
            </a:pPr>
            <a:r>
              <a:rPr lang="en-US" sz="1100" dirty="0">
                <a:solidFill>
                  <a:srgbClr val="1E2340"/>
                </a:solidFill>
                <a:latin typeface="Calibri" pitchFamily="34" charset="0"/>
                <a:ea typeface="Calibri" pitchFamily="34" charset="-122"/>
                <a:cs typeface="Calibri" pitchFamily="34" charset="-120"/>
              </a:rPr>
              <a:t>Additional capabilities actively being built.</a:t>
            </a:r>
            <a:endParaRPr lang="en-US" sz="1100" dirty="0"/>
          </a:p>
        </p:txBody>
      </p:sp>
      <p:sp>
        <p:nvSpPr>
          <p:cNvPr id="16" name="Shape 14"/>
          <p:cNvSpPr/>
          <p:nvPr/>
        </p:nvSpPr>
        <p:spPr>
          <a:xfrm>
            <a:off x="548640" y="3685032"/>
            <a:ext cx="2011680" cy="237744"/>
          </a:xfrm>
          <a:prstGeom prst="roundRect">
            <a:avLst>
              <a:gd name="adj" fmla="val 50000"/>
            </a:avLst>
          </a:prstGeom>
          <a:solidFill>
            <a:srgbClr val="5145C7"/>
          </a:solidFill>
          <a:ln w="12700">
            <a:solidFill>
              <a:srgbClr val="5145C7"/>
            </a:solidFill>
            <a:prstDash val="solid"/>
          </a:ln>
        </p:spPr>
      </p:sp>
      <p:sp>
        <p:nvSpPr>
          <p:cNvPr id="17" name="Text 15"/>
          <p:cNvSpPr/>
          <p:nvPr/>
        </p:nvSpPr>
        <p:spPr>
          <a:xfrm>
            <a:off x="548640" y="3685032"/>
            <a:ext cx="20116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18" name="Text 16"/>
          <p:cNvSpPr/>
          <p:nvPr/>
        </p:nvSpPr>
        <p:spPr>
          <a:xfrm>
            <a:off x="2743200" y="3648456"/>
            <a:ext cx="8778240" cy="310896"/>
          </a:xfrm>
          <a:prstGeom prst="rect">
            <a:avLst/>
          </a:prstGeom>
          <a:noFill/>
          <a:ln/>
        </p:spPr>
        <p:txBody>
          <a:bodyPr wrap="square" lIns="0" tIns="0" rIns="0" bIns="0" rtlCol="0" anchor="ctr"/>
          <a:lstStyle/>
          <a:p>
            <a:pPr indent="0" marL="0">
              <a:buNone/>
            </a:pPr>
            <a:r>
              <a:rPr lang="en-US" sz="1100" dirty="0">
                <a:solidFill>
                  <a:srgbClr val="1E2340"/>
                </a:solidFill>
                <a:latin typeface="Calibri" pitchFamily="34" charset="0"/>
                <a:ea typeface="Calibri" pitchFamily="34" charset="-122"/>
                <a:cs typeface="Calibri" pitchFamily="34" charset="-120"/>
              </a:rPr>
              <a:t>A ServiceNow integration adapter is design intent; no connector ships.</a:t>
            </a:r>
            <a:endParaRPr lang="en-US" sz="1100" dirty="0"/>
          </a:p>
        </p:txBody>
      </p:sp>
      <p:sp>
        <p:nvSpPr>
          <p:cNvPr id="19" name="Shape 17"/>
          <p:cNvSpPr/>
          <p:nvPr/>
        </p:nvSpPr>
        <p:spPr>
          <a:xfrm>
            <a:off x="548640" y="4251960"/>
            <a:ext cx="2011680" cy="237744"/>
          </a:xfrm>
          <a:prstGeom prst="roundRect">
            <a:avLst>
              <a:gd name="adj" fmla="val 50000"/>
            </a:avLst>
          </a:prstGeom>
          <a:solidFill>
            <a:srgbClr val="D97706"/>
          </a:solidFill>
          <a:ln w="12700">
            <a:solidFill>
              <a:srgbClr val="D97706"/>
            </a:solidFill>
            <a:prstDash val="solid"/>
          </a:ln>
        </p:spPr>
      </p:sp>
      <p:sp>
        <p:nvSpPr>
          <p:cNvPr id="20" name="Text 18"/>
          <p:cNvSpPr/>
          <p:nvPr/>
        </p:nvSpPr>
        <p:spPr>
          <a:xfrm>
            <a:off x="548640" y="4251960"/>
            <a:ext cx="20116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ANNOUNCED / FUTURE</a:t>
            </a:r>
            <a:endParaRPr lang="en-US" sz="800" dirty="0"/>
          </a:p>
        </p:txBody>
      </p:sp>
      <p:sp>
        <p:nvSpPr>
          <p:cNvPr id="21" name="Text 19"/>
          <p:cNvSpPr/>
          <p:nvPr/>
        </p:nvSpPr>
        <p:spPr>
          <a:xfrm>
            <a:off x="2743200" y="4215384"/>
            <a:ext cx="8778240" cy="310896"/>
          </a:xfrm>
          <a:prstGeom prst="rect">
            <a:avLst/>
          </a:prstGeom>
          <a:noFill/>
          <a:ln/>
        </p:spPr>
        <p:txBody>
          <a:bodyPr wrap="square" lIns="0" tIns="0" rIns="0" bIns="0" rtlCol="0" anchor="ctr"/>
          <a:lstStyle/>
          <a:p>
            <a:pPr indent="0" marL="0">
              <a:buNone/>
            </a:pPr>
            <a:r>
              <a:rPr lang="en-US" sz="1100" dirty="0">
                <a:solidFill>
                  <a:srgbClr val="1E2340"/>
                </a:solidFill>
                <a:latin typeface="Calibri" pitchFamily="34" charset="0"/>
                <a:ea typeface="Calibri" pitchFamily="34" charset="-122"/>
                <a:cs typeface="Calibri" pitchFamily="34" charset="-120"/>
              </a:rPr>
              <a:t>A named future capability; not yet shipped.</a:t>
            </a:r>
            <a:endParaRPr lang="en-US" sz="1100" dirty="0"/>
          </a:p>
        </p:txBody>
      </p:sp>
      <p:sp>
        <p:nvSpPr>
          <p:cNvPr id="22" name="Shape 20"/>
          <p:cNvSpPr/>
          <p:nvPr/>
        </p:nvSpPr>
        <p:spPr>
          <a:xfrm>
            <a:off x="548640" y="4818888"/>
            <a:ext cx="2011680" cy="237744"/>
          </a:xfrm>
          <a:prstGeom prst="roundRect">
            <a:avLst>
              <a:gd name="adj" fmla="val 50000"/>
            </a:avLst>
          </a:prstGeom>
          <a:solidFill>
            <a:srgbClr val="6B7280"/>
          </a:solidFill>
          <a:ln w="12700">
            <a:solidFill>
              <a:srgbClr val="6B7280"/>
            </a:solidFill>
            <a:prstDash val="solid"/>
          </a:ln>
        </p:spPr>
      </p:sp>
      <p:sp>
        <p:nvSpPr>
          <p:cNvPr id="23" name="Text 21"/>
          <p:cNvSpPr/>
          <p:nvPr/>
        </p:nvSpPr>
        <p:spPr>
          <a:xfrm>
            <a:off x="548640" y="4818888"/>
            <a:ext cx="20116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DESIGN-ONLY</a:t>
            </a:r>
            <a:endParaRPr lang="en-US" sz="800" dirty="0"/>
          </a:p>
        </p:txBody>
      </p:sp>
      <p:sp>
        <p:nvSpPr>
          <p:cNvPr id="24" name="Text 22"/>
          <p:cNvSpPr/>
          <p:nvPr/>
        </p:nvSpPr>
        <p:spPr>
          <a:xfrm>
            <a:off x="2743200" y="4782312"/>
            <a:ext cx="8778240" cy="310896"/>
          </a:xfrm>
          <a:prstGeom prst="rect">
            <a:avLst/>
          </a:prstGeom>
          <a:noFill/>
          <a:ln/>
        </p:spPr>
        <p:txBody>
          <a:bodyPr wrap="square" lIns="0" tIns="0" rIns="0" bIns="0" rtlCol="0" anchor="ctr"/>
          <a:lstStyle/>
          <a:p>
            <a:pPr indent="0" marL="0">
              <a:buNone/>
            </a:pPr>
            <a:r>
              <a:rPr lang="en-US" sz="1100" dirty="0">
                <a:solidFill>
                  <a:srgbClr val="1E2340"/>
                </a:solidFill>
                <a:latin typeface="Calibri" pitchFamily="34" charset="0"/>
                <a:ea typeface="Calibri" pitchFamily="34" charset="-122"/>
                <a:cs typeface="Calibri" pitchFamily="34" charset="-120"/>
              </a:rPr>
              <a:t>Architecture / design; not a package.</a:t>
            </a:r>
            <a:endParaRPr lang="en-US" sz="1100" dirty="0"/>
          </a:p>
        </p:txBody>
      </p:sp>
      <p:sp>
        <p:nvSpPr>
          <p:cNvPr id="25" name="Shape 23"/>
          <p:cNvSpPr/>
          <p:nvPr/>
        </p:nvSpPr>
        <p:spPr>
          <a:xfrm>
            <a:off x="548640" y="5532120"/>
            <a:ext cx="11064240" cy="777240"/>
          </a:xfrm>
          <a:prstGeom prst="roundRect">
            <a:avLst>
              <a:gd name="adj" fmla="val 7059"/>
            </a:avLst>
          </a:prstGeom>
          <a:solidFill>
            <a:srgbClr val="1E2340"/>
          </a:solidFill>
          <a:ln w="12700">
            <a:solidFill>
              <a:srgbClr val="333333"/>
            </a:solidFill>
            <a:prstDash val="solid"/>
          </a:ln>
        </p:spPr>
      </p:sp>
      <p:sp>
        <p:nvSpPr>
          <p:cNvPr id="26" name="Text 24"/>
          <p:cNvSpPr/>
          <p:nvPr/>
        </p:nvSpPr>
        <p:spPr>
          <a:xfrm>
            <a:off x="731520" y="5577840"/>
            <a:ext cx="10698480" cy="685800"/>
          </a:xfrm>
          <a:prstGeom prst="rect">
            <a:avLst/>
          </a:prstGeom>
          <a:noFill/>
          <a:ln/>
        </p:spPr>
        <p:txBody>
          <a:bodyPr wrap="square" lIns="0" tIns="0" rIns="0" bIns="0" rtlCol="0" anchor="ctr"/>
          <a:lstStyle/>
          <a:p>
            <a:pPr indent="0" marL="0">
              <a:lnSpc>
                <a:spcPct val="103000"/>
              </a:lnSpc>
              <a:buNone/>
            </a:pPr>
            <a:r>
              <a:rPr lang="en-US" sz="1000" b="1" dirty="0">
                <a:solidFill>
                  <a:srgbClr val="FFFFFF"/>
                </a:solidFill>
                <a:latin typeface="Calibri" pitchFamily="34" charset="0"/>
                <a:ea typeface="Calibri" pitchFamily="34" charset="-122"/>
                <a:cs typeface="Calibri" pitchFamily="34" charset="-120"/>
              </a:rPr>
              <a:t>Standing disclaimers.  </a:t>
            </a:r>
            <a:pPr indent="0" marL="0">
              <a:lnSpc>
                <a:spcPct val="103000"/>
              </a:lnSpc>
              <a:buNone/>
            </a:pPr>
            <a:r>
              <a:rPr lang="en-US" sz="1000" dirty="0">
                <a:solidFill>
                  <a:srgbClr val="E7EAF7"/>
                </a:solidFill>
                <a:latin typeface="Calibri" pitchFamily="34" charset="0"/>
                <a:ea typeface="Calibri" pitchFamily="34" charset="-122"/>
                <a:cs typeface="Calibri" pitchFamily="34" charset="-120"/>
              </a:rPr>
              <a:t>All ServiceNow integrations are PROPOSED — no connector ships. All scenarios are illustrative, not customer deployments. Maturity dimensions are not conflated: a multi-module workflow carries per-module maturity. Unverified differentiation is a discovery hypothesis, never a claim that ServiceNow lacks a capability.</a:t>
            </a:r>
            <a:endParaRPr lang="en-US" sz="1000" dirty="0"/>
          </a:p>
        </p:txBody>
      </p:sp>
      <p:sp>
        <p:nvSpPr>
          <p:cNvPr id="28" name="Text 25"/>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56</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APPENDIX</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Source hierarchy &amp; citations</a:t>
            </a:r>
            <a:endParaRPr lang="en-US" sz="2600" dirty="0"/>
          </a:p>
        </p:txBody>
      </p:sp>
      <p:sp>
        <p:nvSpPr>
          <p:cNvPr id="4" name="Shape 2"/>
          <p:cNvSpPr/>
          <p:nvPr/>
        </p:nvSpPr>
        <p:spPr>
          <a:xfrm>
            <a:off x="548640" y="1417320"/>
            <a:ext cx="11064240" cy="512064"/>
          </a:xfrm>
          <a:prstGeom prst="roundRect">
            <a:avLst>
              <a:gd name="adj" fmla="val 8929"/>
            </a:avLst>
          </a:prstGeom>
          <a:solidFill>
            <a:srgbClr val="FFFFFF"/>
          </a:solidFill>
          <a:ln w="12700">
            <a:solidFill>
              <a:srgbClr val="D8DEE9"/>
            </a:solidFill>
            <a:prstDash val="solid"/>
          </a:ln>
        </p:spPr>
      </p:sp>
      <p:sp>
        <p:nvSpPr>
          <p:cNvPr id="5" name="Text 3"/>
          <p:cNvSpPr/>
          <p:nvPr/>
        </p:nvSpPr>
        <p:spPr>
          <a:xfrm>
            <a:off x="731520" y="1435608"/>
            <a:ext cx="3017520" cy="475488"/>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1 · ServiceNow Docs</a:t>
            </a:r>
            <a:endParaRPr lang="en-US" sz="1150" dirty="0"/>
          </a:p>
        </p:txBody>
      </p:sp>
      <p:sp>
        <p:nvSpPr>
          <p:cNvPr id="6" name="Text 4"/>
          <p:cNvSpPr/>
          <p:nvPr/>
        </p:nvSpPr>
        <p:spPr>
          <a:xfrm>
            <a:off x="3840480" y="1435608"/>
            <a:ext cx="7589520" cy="475488"/>
          </a:xfrm>
          <a:prstGeom prst="rect">
            <a:avLst/>
          </a:prstGeom>
          <a:noFill/>
          <a:ln/>
        </p:spPr>
        <p:txBody>
          <a:bodyPr wrap="square" lIns="0" tIns="0" rIns="0" bIns="0" rtlCol="0" anchor="ctr"/>
          <a:lstStyle/>
          <a:p>
            <a:pPr indent="0" marL="0">
              <a:buNone/>
            </a:pPr>
            <a:r>
              <a:rPr lang="en-US" sz="1050" dirty="0">
                <a:solidFill>
                  <a:srgbClr val="1E2340"/>
                </a:solidFill>
                <a:latin typeface="Calibri" pitchFamily="34" charset="0"/>
                <a:ea typeface="Calibri" pitchFamily="34" charset="-122"/>
                <a:cs typeface="Calibri" pitchFamily="34" charset="-120"/>
              </a:rPr>
              <a:t>Existing product behavior and workflow mechanics (docs.servicenow.com)</a:t>
            </a:r>
            <a:endParaRPr lang="en-US" sz="1050" dirty="0"/>
          </a:p>
        </p:txBody>
      </p:sp>
      <p:sp>
        <p:nvSpPr>
          <p:cNvPr id="7" name="Shape 5"/>
          <p:cNvSpPr/>
          <p:nvPr/>
        </p:nvSpPr>
        <p:spPr>
          <a:xfrm>
            <a:off x="548640" y="2020824"/>
            <a:ext cx="11064240" cy="512064"/>
          </a:xfrm>
          <a:prstGeom prst="roundRect">
            <a:avLst>
              <a:gd name="adj" fmla="val 8929"/>
            </a:avLst>
          </a:prstGeom>
          <a:solidFill>
            <a:srgbClr val="F4F6FA"/>
          </a:solidFill>
          <a:ln w="12700">
            <a:solidFill>
              <a:srgbClr val="D8DEE9"/>
            </a:solidFill>
            <a:prstDash val="solid"/>
          </a:ln>
        </p:spPr>
      </p:sp>
      <p:sp>
        <p:nvSpPr>
          <p:cNvPr id="8" name="Text 6"/>
          <p:cNvSpPr/>
          <p:nvPr/>
        </p:nvSpPr>
        <p:spPr>
          <a:xfrm>
            <a:off x="731520" y="2039112"/>
            <a:ext cx="3017520" cy="475488"/>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2 · ServiceNow release notes</a:t>
            </a:r>
            <a:endParaRPr lang="en-US" sz="1150" dirty="0"/>
          </a:p>
        </p:txBody>
      </p:sp>
      <p:sp>
        <p:nvSpPr>
          <p:cNvPr id="9" name="Text 7"/>
          <p:cNvSpPr/>
          <p:nvPr/>
        </p:nvSpPr>
        <p:spPr>
          <a:xfrm>
            <a:off x="3840480" y="2039112"/>
            <a:ext cx="7589520" cy="475488"/>
          </a:xfrm>
          <a:prstGeom prst="rect">
            <a:avLst/>
          </a:prstGeom>
          <a:noFill/>
          <a:ln/>
        </p:spPr>
        <p:txBody>
          <a:bodyPr wrap="square" lIns="0" tIns="0" rIns="0" bIns="0" rtlCol="0" anchor="ctr"/>
          <a:lstStyle/>
          <a:p>
            <a:pPr indent="0" marL="0">
              <a:buNone/>
            </a:pPr>
            <a:r>
              <a:rPr lang="en-US" sz="1050" dirty="0">
                <a:solidFill>
                  <a:srgbClr val="1E2340"/>
                </a:solidFill>
                <a:latin typeface="Calibri" pitchFamily="34" charset="0"/>
                <a:ea typeface="Calibri" pitchFamily="34" charset="-122"/>
                <a:cs typeface="Calibri" pitchFamily="34" charset="-120"/>
              </a:rPr>
              <a:t>Versions and availability (what ships when)</a:t>
            </a:r>
            <a:endParaRPr lang="en-US" sz="1050" dirty="0"/>
          </a:p>
        </p:txBody>
      </p:sp>
      <p:sp>
        <p:nvSpPr>
          <p:cNvPr id="10" name="Shape 8"/>
          <p:cNvSpPr/>
          <p:nvPr/>
        </p:nvSpPr>
        <p:spPr>
          <a:xfrm>
            <a:off x="548640" y="2624328"/>
            <a:ext cx="11064240" cy="512064"/>
          </a:xfrm>
          <a:prstGeom prst="roundRect">
            <a:avLst>
              <a:gd name="adj" fmla="val 8929"/>
            </a:avLst>
          </a:prstGeom>
          <a:solidFill>
            <a:srgbClr val="FFFFFF"/>
          </a:solidFill>
          <a:ln w="12700">
            <a:solidFill>
              <a:srgbClr val="D8DEE9"/>
            </a:solidFill>
            <a:prstDash val="solid"/>
          </a:ln>
        </p:spPr>
      </p:sp>
      <p:sp>
        <p:nvSpPr>
          <p:cNvPr id="11" name="Text 9"/>
          <p:cNvSpPr/>
          <p:nvPr/>
        </p:nvSpPr>
        <p:spPr>
          <a:xfrm>
            <a:off x="731520" y="2642616"/>
            <a:ext cx="3017520" cy="475488"/>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3 · ServiceNow Newsroom</a:t>
            </a:r>
            <a:endParaRPr lang="en-US" sz="1150" dirty="0"/>
          </a:p>
        </p:txBody>
      </p:sp>
      <p:sp>
        <p:nvSpPr>
          <p:cNvPr id="12" name="Text 10"/>
          <p:cNvSpPr/>
          <p:nvPr/>
        </p:nvSpPr>
        <p:spPr>
          <a:xfrm>
            <a:off x="3840480" y="2642616"/>
            <a:ext cx="7589520" cy="475488"/>
          </a:xfrm>
          <a:prstGeom prst="rect">
            <a:avLst/>
          </a:prstGeom>
          <a:noFill/>
          <a:ln/>
        </p:spPr>
        <p:txBody>
          <a:bodyPr wrap="square" lIns="0" tIns="0" rIns="0" bIns="0" rtlCol="0" anchor="ctr"/>
          <a:lstStyle/>
          <a:p>
            <a:pPr indent="0" marL="0">
              <a:buNone/>
            </a:pPr>
            <a:r>
              <a:rPr lang="en-US" sz="1050" dirty="0">
                <a:solidFill>
                  <a:srgbClr val="1E2340"/>
                </a:solidFill>
                <a:latin typeface="Calibri" pitchFamily="34" charset="0"/>
                <a:ea typeface="Calibri" pitchFamily="34" charset="-122"/>
                <a:cs typeface="Calibri" pitchFamily="34" charset="-120"/>
              </a:rPr>
              <a:t>Announcements, partnerships and future availability</a:t>
            </a:r>
            <a:endParaRPr lang="en-US" sz="1050" dirty="0"/>
          </a:p>
        </p:txBody>
      </p:sp>
      <p:sp>
        <p:nvSpPr>
          <p:cNvPr id="13" name="Shape 11"/>
          <p:cNvSpPr/>
          <p:nvPr/>
        </p:nvSpPr>
        <p:spPr>
          <a:xfrm>
            <a:off x="548640" y="3227832"/>
            <a:ext cx="11064240" cy="512064"/>
          </a:xfrm>
          <a:prstGeom prst="roundRect">
            <a:avLst>
              <a:gd name="adj" fmla="val 8929"/>
            </a:avLst>
          </a:prstGeom>
          <a:solidFill>
            <a:srgbClr val="F4F6FA"/>
          </a:solidFill>
          <a:ln w="12700">
            <a:solidFill>
              <a:srgbClr val="D8DEE9"/>
            </a:solidFill>
            <a:prstDash val="solid"/>
          </a:ln>
        </p:spPr>
      </p:sp>
      <p:sp>
        <p:nvSpPr>
          <p:cNvPr id="14" name="Text 12"/>
          <p:cNvSpPr/>
          <p:nvPr/>
        </p:nvSpPr>
        <p:spPr>
          <a:xfrm>
            <a:off x="731520" y="3246120"/>
            <a:ext cx="3017520" cy="475488"/>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4 · ServiceNow Community</a:t>
            </a:r>
            <a:endParaRPr lang="en-US" sz="1150" dirty="0"/>
          </a:p>
        </p:txBody>
      </p:sp>
      <p:sp>
        <p:nvSpPr>
          <p:cNvPr id="15" name="Text 13"/>
          <p:cNvSpPr/>
          <p:nvPr/>
        </p:nvSpPr>
        <p:spPr>
          <a:xfrm>
            <a:off x="3840480" y="3246120"/>
            <a:ext cx="7589520" cy="475488"/>
          </a:xfrm>
          <a:prstGeom prst="rect">
            <a:avLst/>
          </a:prstGeom>
          <a:noFill/>
          <a:ln/>
        </p:spPr>
        <p:txBody>
          <a:bodyPr wrap="square" lIns="0" tIns="0" rIns="0" bIns="0" rtlCol="0" anchor="ctr"/>
          <a:lstStyle/>
          <a:p>
            <a:pPr indent="0" marL="0">
              <a:buNone/>
            </a:pPr>
            <a:r>
              <a:rPr lang="en-US" sz="1050" dirty="0">
                <a:solidFill>
                  <a:srgbClr val="1E2340"/>
                </a:solidFill>
                <a:latin typeface="Calibri" pitchFamily="34" charset="0"/>
                <a:ea typeface="Calibri" pitchFamily="34" charset="-122"/>
                <a:cs typeface="Calibri" pitchFamily="34" charset="-120"/>
              </a:rPr>
              <a:t>Supporting or explanatory material</a:t>
            </a:r>
            <a:endParaRPr lang="en-US" sz="1050" dirty="0"/>
          </a:p>
        </p:txBody>
      </p:sp>
      <p:sp>
        <p:nvSpPr>
          <p:cNvPr id="16" name="Shape 14"/>
          <p:cNvSpPr/>
          <p:nvPr/>
        </p:nvSpPr>
        <p:spPr>
          <a:xfrm>
            <a:off x="548640" y="3831336"/>
            <a:ext cx="11064240" cy="512064"/>
          </a:xfrm>
          <a:prstGeom prst="roundRect">
            <a:avLst>
              <a:gd name="adj" fmla="val 8929"/>
            </a:avLst>
          </a:prstGeom>
          <a:solidFill>
            <a:srgbClr val="FFFFFF"/>
          </a:solidFill>
          <a:ln w="12700">
            <a:solidFill>
              <a:srgbClr val="D8DEE9"/>
            </a:solidFill>
            <a:prstDash val="solid"/>
          </a:ln>
        </p:spPr>
      </p:sp>
      <p:sp>
        <p:nvSpPr>
          <p:cNvPr id="17" name="Text 15"/>
          <p:cNvSpPr/>
          <p:nvPr/>
        </p:nvSpPr>
        <p:spPr>
          <a:xfrm>
            <a:off x="731520" y="3849624"/>
            <a:ext cx="3017520" cy="475488"/>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5 · NVIDIA documentation</a:t>
            </a:r>
            <a:endParaRPr lang="en-US" sz="1150" dirty="0"/>
          </a:p>
        </p:txBody>
      </p:sp>
      <p:sp>
        <p:nvSpPr>
          <p:cNvPr id="18" name="Text 16"/>
          <p:cNvSpPr/>
          <p:nvPr/>
        </p:nvSpPr>
        <p:spPr>
          <a:xfrm>
            <a:off x="3840480" y="3849624"/>
            <a:ext cx="7589520" cy="475488"/>
          </a:xfrm>
          <a:prstGeom prst="rect">
            <a:avLst/>
          </a:prstGeom>
          <a:noFill/>
          <a:ln/>
        </p:spPr>
        <p:txBody>
          <a:bodyPr wrap="square" lIns="0" tIns="0" rIns="0" bIns="0" rtlCol="0" anchor="ctr"/>
          <a:lstStyle/>
          <a:p>
            <a:pPr indent="0" marL="0">
              <a:buNone/>
            </a:pPr>
            <a:r>
              <a:rPr lang="en-US" sz="1050" dirty="0">
                <a:solidFill>
                  <a:srgbClr val="1E2340"/>
                </a:solidFill>
                <a:latin typeface="Calibri" pitchFamily="34" charset="0"/>
                <a:ea typeface="Calibri" pitchFamily="34" charset="-122"/>
                <a:cs typeface="Calibri" pitchFamily="34" charset="-120"/>
              </a:rPr>
              <a:t>OpenShell technical behavior (seccomp + Landlock LSM + network namespaces; not eBPF)</a:t>
            </a:r>
            <a:endParaRPr lang="en-US" sz="1050" dirty="0"/>
          </a:p>
        </p:txBody>
      </p:sp>
      <p:sp>
        <p:nvSpPr>
          <p:cNvPr id="19" name="Shape 17"/>
          <p:cNvSpPr/>
          <p:nvPr/>
        </p:nvSpPr>
        <p:spPr>
          <a:xfrm>
            <a:off x="548640" y="4434840"/>
            <a:ext cx="11064240" cy="512064"/>
          </a:xfrm>
          <a:prstGeom prst="roundRect">
            <a:avLst>
              <a:gd name="adj" fmla="val 8929"/>
            </a:avLst>
          </a:prstGeom>
          <a:solidFill>
            <a:srgbClr val="F4F6FA"/>
          </a:solidFill>
          <a:ln w="12700">
            <a:solidFill>
              <a:srgbClr val="D8DEE9"/>
            </a:solidFill>
            <a:prstDash val="solid"/>
          </a:ln>
        </p:spPr>
      </p:sp>
      <p:sp>
        <p:nvSpPr>
          <p:cNvPr id="20" name="Text 18"/>
          <p:cNvSpPr/>
          <p:nvPr/>
        </p:nvSpPr>
        <p:spPr>
          <a:xfrm>
            <a:off x="731520" y="4453128"/>
            <a:ext cx="3017520" cy="475488"/>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6 · Third-party press</a:t>
            </a:r>
            <a:endParaRPr lang="en-US" sz="1150" dirty="0"/>
          </a:p>
        </p:txBody>
      </p:sp>
      <p:sp>
        <p:nvSpPr>
          <p:cNvPr id="21" name="Text 19"/>
          <p:cNvSpPr/>
          <p:nvPr/>
        </p:nvSpPr>
        <p:spPr>
          <a:xfrm>
            <a:off x="3840480" y="4453128"/>
            <a:ext cx="7589520" cy="475488"/>
          </a:xfrm>
          <a:prstGeom prst="rect">
            <a:avLst/>
          </a:prstGeom>
          <a:noFill/>
          <a:ln/>
        </p:spPr>
        <p:txBody>
          <a:bodyPr wrap="square" lIns="0" tIns="0" rIns="0" bIns="0" rtlCol="0" anchor="ctr"/>
          <a:lstStyle/>
          <a:p>
            <a:pPr indent="0" marL="0">
              <a:buNone/>
            </a:pPr>
            <a:r>
              <a:rPr lang="en-US" sz="1050" dirty="0">
                <a:solidFill>
                  <a:srgbClr val="1E2340"/>
                </a:solidFill>
                <a:latin typeface="Calibri" pitchFamily="34" charset="0"/>
                <a:ea typeface="Calibri" pitchFamily="34" charset="-122"/>
                <a:cs typeface="Calibri" pitchFamily="34" charset="-120"/>
              </a:rPr>
              <a:t>Corroboration of announcement facts only (e.g. Dec-2026 SOC availability)</a:t>
            </a:r>
            <a:endParaRPr lang="en-US" sz="1050" dirty="0"/>
          </a:p>
        </p:txBody>
      </p:sp>
      <p:sp>
        <p:nvSpPr>
          <p:cNvPr id="22" name="Text 20"/>
          <p:cNvSpPr/>
          <p:nvPr/>
        </p:nvSpPr>
        <p:spPr>
          <a:xfrm>
            <a:off x="548640" y="5212080"/>
            <a:ext cx="11064240" cy="640080"/>
          </a:xfrm>
          <a:prstGeom prst="rect">
            <a:avLst/>
          </a:prstGeom>
          <a:noFill/>
          <a:ln/>
        </p:spPr>
        <p:txBody>
          <a:bodyPr wrap="square" rtlCol="0" anchor="ctr"/>
          <a:lstStyle/>
          <a:p>
            <a:pPr indent="0" marL="0">
              <a:lnSpc>
                <a:spcPct val="110000"/>
              </a:lnSpc>
              <a:buNone/>
            </a:pPr>
            <a:r>
              <a:rPr lang="en-US" sz="1050" i="1" dirty="0">
                <a:solidFill>
                  <a:srgbClr val="6B7280"/>
                </a:solidFill>
                <a:latin typeface="Calibri" pitchFamily="34" charset="0"/>
                <a:ea typeface="Calibri" pitchFamily="34" charset="-122"/>
                <a:cs typeface="Calibri" pitchFamily="34" charset="-120"/>
              </a:rPr>
              <a:t>Key anchors: AI Control Tower · Action Fabric · AI Agent Fabric · AI Risk &amp; Compliance · Change Management · Security Incident Response · Vulnerability Response · Service Catalog · HRSD · Sourcing &amp; Procurement · NVIDIA OpenShell.</a:t>
            </a:r>
            <a:endParaRPr lang="en-US" sz="1050" dirty="0"/>
          </a:p>
        </p:txBody>
      </p:sp>
      <p:sp>
        <p:nvSpPr>
          <p:cNvPr id="23" name="Text 21"/>
          <p:cNvSpPr/>
          <p:nvPr/>
        </p:nvSpPr>
        <p:spPr>
          <a:xfrm>
            <a:off x="548640" y="5897880"/>
            <a:ext cx="11064240" cy="457200"/>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Ugence module behavior is grounded in the source-of-record documents (catalog v1.2 and the walkthrough companion) at the guarantee level; no internal repository detail is exposed here.</a:t>
            </a:r>
            <a:endParaRPr lang="en-US" sz="1000" dirty="0"/>
          </a:p>
        </p:txBody>
      </p:sp>
      <p:sp>
        <p:nvSpPr>
          <p:cNvPr id="25" name="Text 22"/>
          <p:cNvSpPr/>
          <p:nvPr/>
        </p:nvSpPr>
        <p:spPr>
          <a:xfrm>
            <a:off x="11292840" y="6455664"/>
            <a:ext cx="45720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57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Ugence 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Ugence + ServiceNow — Detailed Architecture and Use-Case Briefing</dc:title>
  <dc:subject>Proposed independent action-level authority for governed ServiceNow agentic workflows</dc:subject>
  <dc:creator>Rakesh Mohan, Founder, Ugence Labs</dc:creator>
  <cp:lastModifiedBy>Rakesh Mohan</cp:lastModifiedBy>
  <cp:revision>2</cp:revision>
  <dcterms:created xsi:type="dcterms:W3CDTF">2026-08-13T17:50:35Z</dcterms:created>
  <dcterms:modified xsi:type="dcterms:W3CDTF">2026-08-13T17:50:35Z</dcterms:modified>
  <cp:keywords>Ugence, ServiceNow, agentic AI, AI governance, ActionGate, runtime assurance, cloud scaling, governed value</cp:keywords>
  <cp:category>Architecture briefing</cp:category>
</cp:coreProperties>
</file>